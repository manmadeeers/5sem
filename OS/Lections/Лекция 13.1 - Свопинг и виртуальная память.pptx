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322" r:id="rId3"/>
    <p:sldId id="2435" r:id="rId4"/>
    <p:sldId id="2537" r:id="rId5"/>
    <p:sldId id="2538" r:id="rId6"/>
    <p:sldId id="2539" r:id="rId7"/>
    <p:sldId id="2540" r:id="rId8"/>
    <p:sldId id="2541" r:id="rId9"/>
    <p:sldId id="2544" r:id="rId10"/>
    <p:sldId id="2542" r:id="rId11"/>
    <p:sldId id="2545" r:id="rId12"/>
    <p:sldId id="2546" r:id="rId13"/>
    <p:sldId id="2547" r:id="rId14"/>
    <p:sldId id="2543" r:id="rId15"/>
    <p:sldId id="2549" r:id="rId16"/>
    <p:sldId id="2548" r:id="rId17"/>
    <p:sldId id="2550" r:id="rId18"/>
    <p:sldId id="2551" r:id="rId19"/>
    <p:sldId id="2552" r:id="rId20"/>
    <p:sldId id="2553" r:id="rId21"/>
    <p:sldId id="2555" r:id="rId22"/>
    <p:sldId id="2556" r:id="rId23"/>
    <p:sldId id="2557" r:id="rId24"/>
    <p:sldId id="2558" r:id="rId25"/>
    <p:sldId id="2559" r:id="rId26"/>
    <p:sldId id="2560" r:id="rId27"/>
    <p:sldId id="2561" r:id="rId28"/>
    <p:sldId id="2562" r:id="rId29"/>
    <p:sldId id="2563" r:id="rId30"/>
    <p:sldId id="2564" r:id="rId31"/>
    <p:sldId id="2565" r:id="rId32"/>
    <p:sldId id="2566" r:id="rId33"/>
    <p:sldId id="2567" r:id="rId34"/>
    <p:sldId id="2568" r:id="rId35"/>
    <p:sldId id="2569" r:id="rId36"/>
    <p:sldId id="2570" r:id="rId37"/>
    <p:sldId id="2571" r:id="rId38"/>
    <p:sldId id="2572" r:id="rId39"/>
    <p:sldId id="2573" r:id="rId40"/>
    <p:sldId id="2574" r:id="rId41"/>
    <p:sldId id="2575" r:id="rId42"/>
    <p:sldId id="2576" r:id="rId43"/>
    <p:sldId id="2577" r:id="rId44"/>
    <p:sldId id="2536" r:id="rId45"/>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465B88BE-7067-4E01-A3DC-10AFCF848BC8}">
          <p14:sldIdLst>
            <p14:sldId id="256"/>
            <p14:sldId id="322"/>
            <p14:sldId id="2435"/>
            <p14:sldId id="2537"/>
            <p14:sldId id="2538"/>
            <p14:sldId id="2539"/>
            <p14:sldId id="2540"/>
            <p14:sldId id="2541"/>
            <p14:sldId id="2544"/>
            <p14:sldId id="2542"/>
            <p14:sldId id="2545"/>
            <p14:sldId id="2546"/>
            <p14:sldId id="2547"/>
            <p14:sldId id="2543"/>
            <p14:sldId id="2549"/>
            <p14:sldId id="2548"/>
            <p14:sldId id="2550"/>
            <p14:sldId id="2551"/>
            <p14:sldId id="2552"/>
            <p14:sldId id="2553"/>
            <p14:sldId id="2555"/>
            <p14:sldId id="2556"/>
            <p14:sldId id="2557"/>
            <p14:sldId id="2558"/>
            <p14:sldId id="2559"/>
            <p14:sldId id="2560"/>
            <p14:sldId id="2561"/>
            <p14:sldId id="2562"/>
            <p14:sldId id="2563"/>
            <p14:sldId id="2564"/>
            <p14:sldId id="2565"/>
            <p14:sldId id="2566"/>
            <p14:sldId id="2567"/>
            <p14:sldId id="2568"/>
            <p14:sldId id="2569"/>
            <p14:sldId id="2570"/>
            <p14:sldId id="2571"/>
            <p14:sldId id="2572"/>
            <p14:sldId id="2573"/>
            <p14:sldId id="2574"/>
            <p14:sldId id="2575"/>
            <p14:sldId id="2576"/>
            <p14:sldId id="2577"/>
            <p14:sldId id="2536"/>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vel Bernatsky" initials="PB" lastIdx="1" clrIdx="0">
    <p:extLst>
      <p:ext uri="{19B8F6BF-5375-455C-9EA6-DF929625EA0E}">
        <p15:presenceInfo xmlns:p15="http://schemas.microsoft.com/office/powerpoint/2012/main" userId="ccc84f90653f6d9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31" autoAdjust="0"/>
    <p:restoredTop sz="94660"/>
  </p:normalViewPr>
  <p:slideViewPr>
    <p:cSldViewPr snapToGrid="0">
      <p:cViewPr varScale="1">
        <p:scale>
          <a:sx n="107" d="100"/>
          <a:sy n="107" d="100"/>
        </p:scale>
        <p:origin x="70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E1C54A-6947-426C-B525-F25AAC6D8000}" type="datetimeFigureOut">
              <a:rPr lang="LID4096" smtClean="0"/>
              <a:t>12/16/2025</a:t>
            </a:fld>
            <a:endParaRPr lang="LID4096"/>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5E16E5-A75C-4DD5-8B93-6FB68F18C130}" type="slidenum">
              <a:rPr lang="LID4096" smtClean="0"/>
              <a:t>‹#›</a:t>
            </a:fld>
            <a:endParaRPr lang="LID4096"/>
          </a:p>
        </p:txBody>
      </p:sp>
    </p:spTree>
    <p:extLst>
      <p:ext uri="{BB962C8B-B14F-4D97-AF65-F5344CB8AC3E}">
        <p14:creationId xmlns:p14="http://schemas.microsoft.com/office/powerpoint/2010/main" val="160975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47616F-E2AF-5AFF-C83A-FE3735AD8C68}"/>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LID4096"/>
          </a:p>
        </p:txBody>
      </p:sp>
      <p:sp>
        <p:nvSpPr>
          <p:cNvPr id="3" name="Подзаголовок 2">
            <a:extLst>
              <a:ext uri="{FF2B5EF4-FFF2-40B4-BE49-F238E27FC236}">
                <a16:creationId xmlns:a16="http://schemas.microsoft.com/office/drawing/2014/main" id="{3FF40183-988B-BA61-B91E-493895FD9C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LID4096"/>
          </a:p>
        </p:txBody>
      </p:sp>
      <p:sp>
        <p:nvSpPr>
          <p:cNvPr id="4" name="Дата 3">
            <a:extLst>
              <a:ext uri="{FF2B5EF4-FFF2-40B4-BE49-F238E27FC236}">
                <a16:creationId xmlns:a16="http://schemas.microsoft.com/office/drawing/2014/main" id="{0F93C7B4-DBE6-06CE-CFC7-F4ED4D997D4E}"/>
              </a:ext>
            </a:extLst>
          </p:cNvPr>
          <p:cNvSpPr>
            <a:spLocks noGrp="1"/>
          </p:cNvSpPr>
          <p:nvPr>
            <p:ph type="dt" sz="half" idx="10"/>
          </p:nvPr>
        </p:nvSpPr>
        <p:spPr/>
        <p:txBody>
          <a:bodyPr/>
          <a:lstStyle/>
          <a:p>
            <a:fld id="{D94700BE-7692-4207-B54B-A48E0B87749C}" type="datetimeFigureOut">
              <a:rPr lang="LID4096" smtClean="0"/>
              <a:t>12/16/2025</a:t>
            </a:fld>
            <a:endParaRPr lang="LID4096"/>
          </a:p>
        </p:txBody>
      </p:sp>
      <p:sp>
        <p:nvSpPr>
          <p:cNvPr id="5" name="Нижний колонтитул 4">
            <a:extLst>
              <a:ext uri="{FF2B5EF4-FFF2-40B4-BE49-F238E27FC236}">
                <a16:creationId xmlns:a16="http://schemas.microsoft.com/office/drawing/2014/main" id="{AB5BB8FF-A395-C430-3789-0945A5312B41}"/>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19F6F5BE-4CB2-9257-FD2E-739215DBF0C3}"/>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09546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F2D562-7427-3307-029D-4B44232FB0CA}"/>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4B8B9DD3-38AD-093A-348B-69D8AF9585B0}"/>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7F409026-C297-8D81-0690-BCF909A212D2}"/>
              </a:ext>
            </a:extLst>
          </p:cNvPr>
          <p:cNvSpPr>
            <a:spLocks noGrp="1"/>
          </p:cNvSpPr>
          <p:nvPr>
            <p:ph type="dt" sz="half" idx="10"/>
          </p:nvPr>
        </p:nvSpPr>
        <p:spPr/>
        <p:txBody>
          <a:bodyPr/>
          <a:lstStyle/>
          <a:p>
            <a:fld id="{D94700BE-7692-4207-B54B-A48E0B87749C}" type="datetimeFigureOut">
              <a:rPr lang="LID4096" smtClean="0"/>
              <a:t>12/16/2025</a:t>
            </a:fld>
            <a:endParaRPr lang="LID4096"/>
          </a:p>
        </p:txBody>
      </p:sp>
      <p:sp>
        <p:nvSpPr>
          <p:cNvPr id="5" name="Нижний колонтитул 4">
            <a:extLst>
              <a:ext uri="{FF2B5EF4-FFF2-40B4-BE49-F238E27FC236}">
                <a16:creationId xmlns:a16="http://schemas.microsoft.com/office/drawing/2014/main" id="{03B93BB5-71D6-265C-76BF-7BA55253D9BB}"/>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45B812ED-7C3E-2E99-174E-7CBA5506EBC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928364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27F112-08AD-1D83-FA9D-D723E27CAE83}"/>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LID4096"/>
          </a:p>
        </p:txBody>
      </p:sp>
      <p:sp>
        <p:nvSpPr>
          <p:cNvPr id="3" name="Текст 2">
            <a:extLst>
              <a:ext uri="{FF2B5EF4-FFF2-40B4-BE49-F238E27FC236}">
                <a16:creationId xmlns:a16="http://schemas.microsoft.com/office/drawing/2014/main" id="{C9D4462B-7C02-3784-D700-720E99BA1E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E7B8AEC1-27F7-FAA3-29A1-66B8783B85CB}"/>
              </a:ext>
            </a:extLst>
          </p:cNvPr>
          <p:cNvSpPr>
            <a:spLocks noGrp="1"/>
          </p:cNvSpPr>
          <p:nvPr>
            <p:ph type="dt" sz="half" idx="10"/>
          </p:nvPr>
        </p:nvSpPr>
        <p:spPr/>
        <p:txBody>
          <a:bodyPr/>
          <a:lstStyle/>
          <a:p>
            <a:fld id="{D94700BE-7692-4207-B54B-A48E0B87749C}" type="datetimeFigureOut">
              <a:rPr lang="LID4096" smtClean="0"/>
              <a:t>12/16/2025</a:t>
            </a:fld>
            <a:endParaRPr lang="LID4096"/>
          </a:p>
        </p:txBody>
      </p:sp>
      <p:sp>
        <p:nvSpPr>
          <p:cNvPr id="5" name="Нижний колонтитул 4">
            <a:extLst>
              <a:ext uri="{FF2B5EF4-FFF2-40B4-BE49-F238E27FC236}">
                <a16:creationId xmlns:a16="http://schemas.microsoft.com/office/drawing/2014/main" id="{359F6EE4-5AF4-CE7C-B7F4-C587BFECE7E3}"/>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C9262F68-CBA3-0915-2295-961EC87EC1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62701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EAAB05-2830-EFAE-DE4B-ACD17427AF4B}"/>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914D6307-654D-D982-4407-B8F3D79466B9}"/>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Объект 3">
            <a:extLst>
              <a:ext uri="{FF2B5EF4-FFF2-40B4-BE49-F238E27FC236}">
                <a16:creationId xmlns:a16="http://schemas.microsoft.com/office/drawing/2014/main" id="{7E186F62-1DB1-3C6F-EA13-795572FAE52A}"/>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Дата 4">
            <a:extLst>
              <a:ext uri="{FF2B5EF4-FFF2-40B4-BE49-F238E27FC236}">
                <a16:creationId xmlns:a16="http://schemas.microsoft.com/office/drawing/2014/main" id="{D7940FA2-011F-64EB-05FB-8559EF77520E}"/>
              </a:ext>
            </a:extLst>
          </p:cNvPr>
          <p:cNvSpPr>
            <a:spLocks noGrp="1"/>
          </p:cNvSpPr>
          <p:nvPr>
            <p:ph type="dt" sz="half" idx="10"/>
          </p:nvPr>
        </p:nvSpPr>
        <p:spPr/>
        <p:txBody>
          <a:bodyPr/>
          <a:lstStyle/>
          <a:p>
            <a:fld id="{D94700BE-7692-4207-B54B-A48E0B87749C}" type="datetimeFigureOut">
              <a:rPr lang="LID4096" smtClean="0"/>
              <a:t>12/16/2025</a:t>
            </a:fld>
            <a:endParaRPr lang="LID4096"/>
          </a:p>
        </p:txBody>
      </p:sp>
      <p:sp>
        <p:nvSpPr>
          <p:cNvPr id="6" name="Нижний колонтитул 5">
            <a:extLst>
              <a:ext uri="{FF2B5EF4-FFF2-40B4-BE49-F238E27FC236}">
                <a16:creationId xmlns:a16="http://schemas.microsoft.com/office/drawing/2014/main" id="{CD7AD932-F2FD-1AF1-F4D9-F5E82D0C6875}"/>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63145922-4144-9D1A-7394-C37497389C31}"/>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693752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4C79E9-E032-A699-2CFB-44AC928323F6}"/>
              </a:ext>
            </a:extLst>
          </p:cNvPr>
          <p:cNvSpPr>
            <a:spLocks noGrp="1"/>
          </p:cNvSpPr>
          <p:nvPr>
            <p:ph type="title"/>
          </p:nvPr>
        </p:nvSpPr>
        <p:spPr>
          <a:xfrm>
            <a:off x="839788" y="365125"/>
            <a:ext cx="10515600" cy="1325563"/>
          </a:xfrm>
        </p:spPr>
        <p:txBody>
          <a:bodyPr/>
          <a:lstStyle/>
          <a:p>
            <a:r>
              <a:rPr lang="ru-RU"/>
              <a:t>Образец заголовка</a:t>
            </a:r>
            <a:endParaRPr lang="LID4096"/>
          </a:p>
        </p:txBody>
      </p:sp>
      <p:sp>
        <p:nvSpPr>
          <p:cNvPr id="3" name="Текст 2">
            <a:extLst>
              <a:ext uri="{FF2B5EF4-FFF2-40B4-BE49-F238E27FC236}">
                <a16:creationId xmlns:a16="http://schemas.microsoft.com/office/drawing/2014/main" id="{4B2F1728-CD76-7149-9437-8308AF8E6C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5E31FA6F-EC02-4DE3-6650-B80F00E860A0}"/>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Текст 4">
            <a:extLst>
              <a:ext uri="{FF2B5EF4-FFF2-40B4-BE49-F238E27FC236}">
                <a16:creationId xmlns:a16="http://schemas.microsoft.com/office/drawing/2014/main" id="{B6F9C784-C313-EF39-B97C-F19B68E627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B9EC93D1-A12D-D057-6BE7-78586123AF07}"/>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7" name="Дата 6">
            <a:extLst>
              <a:ext uri="{FF2B5EF4-FFF2-40B4-BE49-F238E27FC236}">
                <a16:creationId xmlns:a16="http://schemas.microsoft.com/office/drawing/2014/main" id="{339B00CC-01F6-7087-C302-940F9C98E580}"/>
              </a:ext>
            </a:extLst>
          </p:cNvPr>
          <p:cNvSpPr>
            <a:spLocks noGrp="1"/>
          </p:cNvSpPr>
          <p:nvPr>
            <p:ph type="dt" sz="half" idx="10"/>
          </p:nvPr>
        </p:nvSpPr>
        <p:spPr/>
        <p:txBody>
          <a:bodyPr/>
          <a:lstStyle/>
          <a:p>
            <a:fld id="{D94700BE-7692-4207-B54B-A48E0B87749C}" type="datetimeFigureOut">
              <a:rPr lang="LID4096" smtClean="0"/>
              <a:t>12/16/2025</a:t>
            </a:fld>
            <a:endParaRPr lang="LID4096"/>
          </a:p>
        </p:txBody>
      </p:sp>
      <p:sp>
        <p:nvSpPr>
          <p:cNvPr id="8" name="Нижний колонтитул 7">
            <a:extLst>
              <a:ext uri="{FF2B5EF4-FFF2-40B4-BE49-F238E27FC236}">
                <a16:creationId xmlns:a16="http://schemas.microsoft.com/office/drawing/2014/main" id="{C6EBCC5B-A9F4-C18A-35F5-2949CEAAC7AC}"/>
              </a:ext>
            </a:extLst>
          </p:cNvPr>
          <p:cNvSpPr>
            <a:spLocks noGrp="1"/>
          </p:cNvSpPr>
          <p:nvPr>
            <p:ph type="ftr" sz="quarter" idx="11"/>
          </p:nvPr>
        </p:nvSpPr>
        <p:spPr/>
        <p:txBody>
          <a:bodyPr/>
          <a:lstStyle/>
          <a:p>
            <a:endParaRPr lang="LID4096"/>
          </a:p>
        </p:txBody>
      </p:sp>
      <p:sp>
        <p:nvSpPr>
          <p:cNvPr id="9" name="Номер слайда 8">
            <a:extLst>
              <a:ext uri="{FF2B5EF4-FFF2-40B4-BE49-F238E27FC236}">
                <a16:creationId xmlns:a16="http://schemas.microsoft.com/office/drawing/2014/main" id="{E3B8B959-499F-742D-E1FF-78941C4BCA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110290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1B2447-25C4-6DCF-DAD4-FEDF21FF174E}"/>
              </a:ext>
            </a:extLst>
          </p:cNvPr>
          <p:cNvSpPr>
            <a:spLocks noGrp="1"/>
          </p:cNvSpPr>
          <p:nvPr>
            <p:ph type="title"/>
          </p:nvPr>
        </p:nvSpPr>
        <p:spPr/>
        <p:txBody>
          <a:bodyPr/>
          <a:lstStyle/>
          <a:p>
            <a:r>
              <a:rPr lang="ru-RU"/>
              <a:t>Образец заголовка</a:t>
            </a:r>
            <a:endParaRPr lang="LID4096"/>
          </a:p>
        </p:txBody>
      </p:sp>
      <p:sp>
        <p:nvSpPr>
          <p:cNvPr id="3" name="Дата 2">
            <a:extLst>
              <a:ext uri="{FF2B5EF4-FFF2-40B4-BE49-F238E27FC236}">
                <a16:creationId xmlns:a16="http://schemas.microsoft.com/office/drawing/2014/main" id="{F846070A-CABC-8A01-79F7-51A84F4435BC}"/>
              </a:ext>
            </a:extLst>
          </p:cNvPr>
          <p:cNvSpPr>
            <a:spLocks noGrp="1"/>
          </p:cNvSpPr>
          <p:nvPr>
            <p:ph type="dt" sz="half" idx="10"/>
          </p:nvPr>
        </p:nvSpPr>
        <p:spPr/>
        <p:txBody>
          <a:bodyPr/>
          <a:lstStyle/>
          <a:p>
            <a:fld id="{D94700BE-7692-4207-B54B-A48E0B87749C}" type="datetimeFigureOut">
              <a:rPr lang="LID4096" smtClean="0"/>
              <a:t>12/16/2025</a:t>
            </a:fld>
            <a:endParaRPr lang="LID4096"/>
          </a:p>
        </p:txBody>
      </p:sp>
      <p:sp>
        <p:nvSpPr>
          <p:cNvPr id="4" name="Нижний колонтитул 3">
            <a:extLst>
              <a:ext uri="{FF2B5EF4-FFF2-40B4-BE49-F238E27FC236}">
                <a16:creationId xmlns:a16="http://schemas.microsoft.com/office/drawing/2014/main" id="{36485DBC-EE1F-353D-3249-9E99780A5007}"/>
              </a:ext>
            </a:extLst>
          </p:cNvPr>
          <p:cNvSpPr>
            <a:spLocks noGrp="1"/>
          </p:cNvSpPr>
          <p:nvPr>
            <p:ph type="ftr" sz="quarter" idx="11"/>
          </p:nvPr>
        </p:nvSpPr>
        <p:spPr/>
        <p:txBody>
          <a:bodyPr/>
          <a:lstStyle/>
          <a:p>
            <a:endParaRPr lang="LID4096"/>
          </a:p>
        </p:txBody>
      </p:sp>
      <p:sp>
        <p:nvSpPr>
          <p:cNvPr id="5" name="Номер слайда 4">
            <a:extLst>
              <a:ext uri="{FF2B5EF4-FFF2-40B4-BE49-F238E27FC236}">
                <a16:creationId xmlns:a16="http://schemas.microsoft.com/office/drawing/2014/main" id="{1FD416B2-2B57-8CF9-D053-EF6A7AB1FEFA}"/>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36694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AA9FDE4F-142C-5FCB-A615-EDAA13534AC7}"/>
              </a:ext>
            </a:extLst>
          </p:cNvPr>
          <p:cNvSpPr>
            <a:spLocks noGrp="1"/>
          </p:cNvSpPr>
          <p:nvPr>
            <p:ph type="dt" sz="half" idx="10"/>
          </p:nvPr>
        </p:nvSpPr>
        <p:spPr/>
        <p:txBody>
          <a:bodyPr/>
          <a:lstStyle/>
          <a:p>
            <a:fld id="{D94700BE-7692-4207-B54B-A48E0B87749C}" type="datetimeFigureOut">
              <a:rPr lang="LID4096" smtClean="0"/>
              <a:t>12/16/2025</a:t>
            </a:fld>
            <a:endParaRPr lang="LID4096"/>
          </a:p>
        </p:txBody>
      </p:sp>
      <p:sp>
        <p:nvSpPr>
          <p:cNvPr id="3" name="Нижний колонтитул 2">
            <a:extLst>
              <a:ext uri="{FF2B5EF4-FFF2-40B4-BE49-F238E27FC236}">
                <a16:creationId xmlns:a16="http://schemas.microsoft.com/office/drawing/2014/main" id="{0B6EB5D2-B75C-FB77-8F63-19FA53844E71}"/>
              </a:ext>
            </a:extLst>
          </p:cNvPr>
          <p:cNvSpPr>
            <a:spLocks noGrp="1"/>
          </p:cNvSpPr>
          <p:nvPr>
            <p:ph type="ftr" sz="quarter" idx="11"/>
          </p:nvPr>
        </p:nvSpPr>
        <p:spPr/>
        <p:txBody>
          <a:bodyPr/>
          <a:lstStyle/>
          <a:p>
            <a:endParaRPr lang="LID4096"/>
          </a:p>
        </p:txBody>
      </p:sp>
      <p:sp>
        <p:nvSpPr>
          <p:cNvPr id="4" name="Номер слайда 3">
            <a:extLst>
              <a:ext uri="{FF2B5EF4-FFF2-40B4-BE49-F238E27FC236}">
                <a16:creationId xmlns:a16="http://schemas.microsoft.com/office/drawing/2014/main" id="{DBB97733-0993-8A78-D35D-65EA8B9F81A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00051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D8FC8E-4425-CC0C-710F-98C6425E307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Объект 2">
            <a:extLst>
              <a:ext uri="{FF2B5EF4-FFF2-40B4-BE49-F238E27FC236}">
                <a16:creationId xmlns:a16="http://schemas.microsoft.com/office/drawing/2014/main" id="{E473CCAC-EA76-40D6-17B2-7C2AFD4353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Текст 3">
            <a:extLst>
              <a:ext uri="{FF2B5EF4-FFF2-40B4-BE49-F238E27FC236}">
                <a16:creationId xmlns:a16="http://schemas.microsoft.com/office/drawing/2014/main" id="{23FDA7B0-EDAC-58A1-8AED-C4E8D631B6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7C5F31B-981C-419A-6E49-3095113FB273}"/>
              </a:ext>
            </a:extLst>
          </p:cNvPr>
          <p:cNvSpPr>
            <a:spLocks noGrp="1"/>
          </p:cNvSpPr>
          <p:nvPr>
            <p:ph type="dt" sz="half" idx="10"/>
          </p:nvPr>
        </p:nvSpPr>
        <p:spPr/>
        <p:txBody>
          <a:bodyPr/>
          <a:lstStyle/>
          <a:p>
            <a:fld id="{D94700BE-7692-4207-B54B-A48E0B87749C}" type="datetimeFigureOut">
              <a:rPr lang="LID4096" smtClean="0"/>
              <a:t>12/16/2025</a:t>
            </a:fld>
            <a:endParaRPr lang="LID4096"/>
          </a:p>
        </p:txBody>
      </p:sp>
      <p:sp>
        <p:nvSpPr>
          <p:cNvPr id="6" name="Нижний колонтитул 5">
            <a:extLst>
              <a:ext uri="{FF2B5EF4-FFF2-40B4-BE49-F238E27FC236}">
                <a16:creationId xmlns:a16="http://schemas.microsoft.com/office/drawing/2014/main" id="{098C04E2-0ACD-F790-199B-7863EDE0279D}"/>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870F2067-A078-C57A-9204-3A8B2F2607FC}"/>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392116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129DED-D98F-B6A2-AD7C-772F99A3449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Рисунок 2">
            <a:extLst>
              <a:ext uri="{FF2B5EF4-FFF2-40B4-BE49-F238E27FC236}">
                <a16:creationId xmlns:a16="http://schemas.microsoft.com/office/drawing/2014/main" id="{300C5605-1482-0713-0D51-A3FAC78156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Текст 3">
            <a:extLst>
              <a:ext uri="{FF2B5EF4-FFF2-40B4-BE49-F238E27FC236}">
                <a16:creationId xmlns:a16="http://schemas.microsoft.com/office/drawing/2014/main" id="{56A60C0B-E2FB-D11A-ADBF-D996E01CFA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B4DE09DD-B690-CF21-DFC4-F02331B63D5A}"/>
              </a:ext>
            </a:extLst>
          </p:cNvPr>
          <p:cNvSpPr>
            <a:spLocks noGrp="1"/>
          </p:cNvSpPr>
          <p:nvPr>
            <p:ph type="dt" sz="half" idx="10"/>
          </p:nvPr>
        </p:nvSpPr>
        <p:spPr/>
        <p:txBody>
          <a:bodyPr/>
          <a:lstStyle/>
          <a:p>
            <a:fld id="{D94700BE-7692-4207-B54B-A48E0B87749C}" type="datetimeFigureOut">
              <a:rPr lang="LID4096" smtClean="0"/>
              <a:t>12/16/2025</a:t>
            </a:fld>
            <a:endParaRPr lang="LID4096"/>
          </a:p>
        </p:txBody>
      </p:sp>
      <p:sp>
        <p:nvSpPr>
          <p:cNvPr id="6" name="Нижний колонтитул 5">
            <a:extLst>
              <a:ext uri="{FF2B5EF4-FFF2-40B4-BE49-F238E27FC236}">
                <a16:creationId xmlns:a16="http://schemas.microsoft.com/office/drawing/2014/main" id="{0D16318B-2EDE-3598-7847-C4B423955311}"/>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097F3B72-6E6E-8853-E9C1-9458DC7C6736}"/>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11409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432ABC-7F92-53F8-6B38-14EBA795ED3A}"/>
              </a:ext>
            </a:extLst>
          </p:cNvPr>
          <p:cNvSpPr>
            <a:spLocks noGrp="1"/>
          </p:cNvSpPr>
          <p:nvPr>
            <p:ph type="title"/>
          </p:nvPr>
        </p:nvSpPr>
        <p:spPr/>
        <p:txBody>
          <a:bodyPr/>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DC74F8DD-3073-73DB-0FEC-83EE799CF0DF}"/>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D52118E-3EA2-A9A4-2BC2-E44B3237E1B2}"/>
              </a:ext>
            </a:extLst>
          </p:cNvPr>
          <p:cNvSpPr>
            <a:spLocks noGrp="1"/>
          </p:cNvSpPr>
          <p:nvPr>
            <p:ph type="dt" sz="half" idx="10"/>
          </p:nvPr>
        </p:nvSpPr>
        <p:spPr/>
        <p:txBody>
          <a:bodyPr/>
          <a:lstStyle/>
          <a:p>
            <a:fld id="{D94700BE-7692-4207-B54B-A48E0B87749C}" type="datetimeFigureOut">
              <a:rPr lang="LID4096" smtClean="0"/>
              <a:t>12/16/2025</a:t>
            </a:fld>
            <a:endParaRPr lang="LID4096"/>
          </a:p>
        </p:txBody>
      </p:sp>
      <p:sp>
        <p:nvSpPr>
          <p:cNvPr id="5" name="Нижний колонтитул 4">
            <a:extLst>
              <a:ext uri="{FF2B5EF4-FFF2-40B4-BE49-F238E27FC236}">
                <a16:creationId xmlns:a16="http://schemas.microsoft.com/office/drawing/2014/main" id="{DF9690F8-6FA6-1F50-D67E-E66228911A2A}"/>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72A8B7-B8F9-CA99-A4E2-0D1A64111FD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692678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704C6878-D0A6-5DB7-DDA4-5524F63A10D4}"/>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74290E6A-E317-C5F4-3234-CA514674E1C7}"/>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6927F236-BB3C-2C98-8A01-D57936776076}"/>
              </a:ext>
            </a:extLst>
          </p:cNvPr>
          <p:cNvSpPr>
            <a:spLocks noGrp="1"/>
          </p:cNvSpPr>
          <p:nvPr>
            <p:ph type="dt" sz="half" idx="10"/>
          </p:nvPr>
        </p:nvSpPr>
        <p:spPr/>
        <p:txBody>
          <a:bodyPr/>
          <a:lstStyle/>
          <a:p>
            <a:fld id="{D94700BE-7692-4207-B54B-A48E0B87749C}" type="datetimeFigureOut">
              <a:rPr lang="LID4096" smtClean="0"/>
              <a:t>12/16/2025</a:t>
            </a:fld>
            <a:endParaRPr lang="LID4096"/>
          </a:p>
        </p:txBody>
      </p:sp>
      <p:sp>
        <p:nvSpPr>
          <p:cNvPr id="5" name="Нижний колонтитул 4">
            <a:extLst>
              <a:ext uri="{FF2B5EF4-FFF2-40B4-BE49-F238E27FC236}">
                <a16:creationId xmlns:a16="http://schemas.microsoft.com/office/drawing/2014/main" id="{6FB6E046-C620-4F58-405E-9C0103599089}"/>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06496C-B074-7D9D-1BB6-63F00672ACE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01811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8D0170-EF02-F5B2-75D2-863D125522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LID4096"/>
          </a:p>
        </p:txBody>
      </p:sp>
      <p:sp>
        <p:nvSpPr>
          <p:cNvPr id="3" name="Текст 2">
            <a:extLst>
              <a:ext uri="{FF2B5EF4-FFF2-40B4-BE49-F238E27FC236}">
                <a16:creationId xmlns:a16="http://schemas.microsoft.com/office/drawing/2014/main" id="{117FE9A8-6239-E8DA-5893-CC54DCF5A6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5C7A97B-8B60-4C6E-4780-AF77C5AA11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4700BE-7692-4207-B54B-A48E0B87749C}" type="datetimeFigureOut">
              <a:rPr lang="LID4096" smtClean="0"/>
              <a:t>12/16/2025</a:t>
            </a:fld>
            <a:endParaRPr lang="LID4096"/>
          </a:p>
        </p:txBody>
      </p:sp>
      <p:sp>
        <p:nvSpPr>
          <p:cNvPr id="5" name="Нижний колонтитул 4">
            <a:extLst>
              <a:ext uri="{FF2B5EF4-FFF2-40B4-BE49-F238E27FC236}">
                <a16:creationId xmlns:a16="http://schemas.microsoft.com/office/drawing/2014/main" id="{F09804F4-87F9-55E6-92A8-EB0A9D1E61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LID4096"/>
          </a:p>
        </p:txBody>
      </p:sp>
      <p:sp>
        <p:nvSpPr>
          <p:cNvPr id="6" name="Номер слайда 5">
            <a:extLst>
              <a:ext uri="{FF2B5EF4-FFF2-40B4-BE49-F238E27FC236}">
                <a16:creationId xmlns:a16="http://schemas.microsoft.com/office/drawing/2014/main" id="{9E4F28E9-786F-C124-9986-B7AAB37E4D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414CC9-68D5-47AD-8438-7B4A21BFF56F}" type="slidenum">
              <a:rPr lang="LID4096" smtClean="0"/>
              <a:t>‹#›</a:t>
            </a:fld>
            <a:endParaRPr lang="LID4096"/>
          </a:p>
        </p:txBody>
      </p:sp>
    </p:spTree>
    <p:extLst>
      <p:ext uri="{BB962C8B-B14F-4D97-AF65-F5344CB8AC3E}">
        <p14:creationId xmlns:p14="http://schemas.microsoft.com/office/powerpoint/2010/main" val="3500367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2802402" y="3635620"/>
            <a:ext cx="6587197" cy="461839"/>
          </a:xfrm>
          <a:effectLst>
            <a:outerShdw blurRad="50800" dist="38100" dir="2700000" algn="tl" rotWithShape="0">
              <a:prstClr val="black">
                <a:alpha val="40000"/>
              </a:prstClr>
            </a:outerShdw>
          </a:effectLst>
        </p:spPr>
        <p:txBody>
          <a:bodyPr>
            <a:noAutofit/>
          </a:bodyPr>
          <a:lstStyle/>
          <a:p>
            <a:r>
              <a:rPr lang="ru-RU" sz="2800" b="1" dirty="0">
                <a:latin typeface="Verdana" panose="020B0604030504040204" pitchFamily="34" charset="0"/>
                <a:ea typeface="Verdana" panose="020B0604030504040204" pitchFamily="34" charset="0"/>
              </a:rPr>
              <a:t>Свопинг и виртуальная память</a:t>
            </a:r>
          </a:p>
        </p:txBody>
      </p:sp>
      <p:sp>
        <p:nvSpPr>
          <p:cNvPr id="4" name="TextBox 3">
            <a:extLst>
              <a:ext uri="{FF2B5EF4-FFF2-40B4-BE49-F238E27FC236}">
                <a16:creationId xmlns:a16="http://schemas.microsoft.com/office/drawing/2014/main" id="{6BD3AED9-28E1-DDF9-E07D-185D5DD54F4C}"/>
              </a:ext>
            </a:extLst>
          </p:cNvPr>
          <p:cNvSpPr txBox="1"/>
          <p:nvPr/>
        </p:nvSpPr>
        <p:spPr>
          <a:xfrm>
            <a:off x="3200400"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025642" y="3051019"/>
            <a:ext cx="2140717"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a:t>
            </a:r>
            <a:r>
              <a:rPr lang="en-US" sz="2800" dirty="0">
                <a:latin typeface="Cambria" panose="02040503050406030204" pitchFamily="18" charset="0"/>
                <a:ea typeface="Cambria" panose="02040503050406030204" pitchFamily="18" charset="0"/>
              </a:rPr>
              <a:t>1</a:t>
            </a:r>
            <a:r>
              <a:rPr lang="ru-RU" sz="2800" dirty="0">
                <a:latin typeface="Cambria" panose="02040503050406030204" pitchFamily="18" charset="0"/>
                <a:ea typeface="Cambria" panose="02040503050406030204" pitchFamily="18" charset="0"/>
              </a:rPr>
              <a:t>3.1</a:t>
            </a: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a:cxnSpLocks/>
          </p:cNvCxnSpPr>
          <p:nvPr/>
        </p:nvCxnSpPr>
        <p:spPr>
          <a:xfrm>
            <a:off x="4341228"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1986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a:bodyPr>
          <a:lstStyle/>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Мультипрограммирование со свопингом</a:t>
            </a: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Виртуальная память: основные концепции, страничная, сегментная и сегментно-страничная организации виртуальной памяти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Задачи управления виртуальной памятью: задача размещения, задача перемещения, задача преобразования адресов, задача замещения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Подкачка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Алгоритм замещения страниц</a:t>
            </a:r>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План лекции</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04100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Какие алгоритмы будут использованы для различных аспектов управления памятью?</a:t>
            </a:r>
          </a:p>
          <a:p>
            <a:pPr marL="0" indent="0">
              <a:buNone/>
            </a:pPr>
            <a:r>
              <a:rPr lang="ru-RU" dirty="0">
                <a:latin typeface="Cambria" panose="02040503050406030204" pitchFamily="18" charset="0"/>
                <a:ea typeface="Cambria" panose="02040503050406030204" pitchFamily="18" charset="0"/>
              </a:rPr>
              <a:t>Ответ этот вопрос связан с программным обеспечением операционной системы, и именно ему посвящена эта лекция</a:t>
            </a:r>
          </a:p>
          <a:p>
            <a:pPr marL="0" indent="0">
              <a:buNone/>
            </a:pPr>
            <a:r>
              <a:rPr lang="ru-RU" dirty="0">
                <a:latin typeface="Cambria" panose="02040503050406030204" pitchFamily="18" charset="0"/>
                <a:ea typeface="Cambria" panose="02040503050406030204" pitchFamily="18" charset="0"/>
              </a:rPr>
              <a:t>Основные рассматриваемые стратегии: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Стратегия выборки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Стратегия размещения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Стратегия замещения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Стратегия отчистки</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73706091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Виртуальная память</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18917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каждом случае ключевым вопросом становится производительность: требуется сократить количество прерываний из-за отсутствия страницы в памяти, поскольку их обработка приводит к существенным накладным расходам, которые включают как минимум принятие решения о том, какие резидентные страницы должны быть замещены, и операции ввода-вывода по замене страниц в основной памяти</a:t>
            </a:r>
          </a:p>
          <a:p>
            <a:pPr marL="0" indent="0">
              <a:buNone/>
            </a:pPr>
            <a:r>
              <a:rPr lang="ru-RU" dirty="0">
                <a:latin typeface="Cambria" panose="02040503050406030204" pitchFamily="18" charset="0"/>
                <a:ea typeface="Cambria" panose="02040503050406030204" pitchFamily="18" charset="0"/>
              </a:rPr>
              <a:t>Кроме того, операционная система должна активировать на время выполнения медленных операций ввода-вывода другой готовый к работе процесс</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Виртуальная память</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142374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Задача управления памятью чрезвычайно сложна. Кроме того, производительность каждого определенного набора стратегий зависит от размера основной памяти, относительной скорости основной и вторичной памяти, размера и количества конкурирующих за ресурсы процессов и поведения отдельных программ</a:t>
            </a:r>
          </a:p>
          <a:p>
            <a:pPr marL="0" indent="0">
              <a:buNone/>
            </a:pPr>
            <a:r>
              <a:rPr lang="ru-RU" dirty="0">
                <a:latin typeface="Cambria" panose="02040503050406030204" pitchFamily="18" charset="0"/>
                <a:ea typeface="Cambria" panose="02040503050406030204" pitchFamily="18" charset="0"/>
              </a:rPr>
              <a:t>Для малых вычислительных систем разработчик операционной системы должен попытаться выбрать такой набор стратегий, который представляется ему наиболее подходящим; в случае использования больших систем, в частности мейнфреймов, операционная система должна быть оснащена инструментами для мониторинга и управления, которые позволят администратору настроить ее таким образом, чтобы получить наивысшую производительность для данных физических параметров и решаемых на ней задач</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Виртуальная память</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932471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b="1" dirty="0">
                <a:latin typeface="Cambria" panose="02040503050406030204" pitchFamily="18" charset="0"/>
                <a:ea typeface="Cambria" panose="02040503050406030204" pitchFamily="18" charset="0"/>
              </a:rPr>
              <a:t>Стратегия выборки </a:t>
            </a:r>
            <a:r>
              <a:rPr lang="ru-RU" dirty="0">
                <a:latin typeface="Cambria" panose="02040503050406030204" pitchFamily="18" charset="0"/>
                <a:ea typeface="Cambria" panose="02040503050406030204" pitchFamily="18" charset="0"/>
              </a:rPr>
              <a:t>определяет, когда страница должна быть передана в основную память</a:t>
            </a:r>
          </a:p>
          <a:p>
            <a:pPr marL="0" indent="0">
              <a:buNone/>
            </a:pPr>
            <a:r>
              <a:rPr lang="ru-RU" dirty="0">
                <a:latin typeface="Cambria" panose="02040503050406030204" pitchFamily="18" charset="0"/>
                <a:ea typeface="Cambria" panose="02040503050406030204" pitchFamily="18" charset="0"/>
              </a:rPr>
              <a:t>Два основных варианта – </a:t>
            </a:r>
            <a:r>
              <a:rPr lang="ru-RU" b="1" dirty="0">
                <a:latin typeface="Cambria" panose="02040503050406030204" pitchFamily="18" charset="0"/>
                <a:ea typeface="Cambria" panose="02040503050406030204" pitchFamily="18" charset="0"/>
              </a:rPr>
              <a:t>по требованию </a:t>
            </a:r>
            <a:r>
              <a:rPr lang="ru-RU" dirty="0">
                <a:latin typeface="Cambria" panose="02040503050406030204" pitchFamily="18" charset="0"/>
                <a:ea typeface="Cambria" panose="02040503050406030204" pitchFamily="18" charset="0"/>
              </a:rPr>
              <a:t>и </a:t>
            </a:r>
            <a:r>
              <a:rPr lang="ru-RU" b="1" dirty="0">
                <a:latin typeface="Cambria" panose="02040503050406030204" pitchFamily="18" charset="0"/>
                <a:ea typeface="Cambria" panose="02040503050406030204" pitchFamily="18" charset="0"/>
              </a:rPr>
              <a:t>предварительно</a:t>
            </a:r>
          </a:p>
          <a:p>
            <a:pPr marL="0" indent="0">
              <a:buNone/>
            </a:pPr>
            <a:r>
              <a:rPr lang="ru-RU" b="1" dirty="0">
                <a:latin typeface="Cambria" panose="02040503050406030204" pitchFamily="18" charset="0"/>
                <a:ea typeface="Cambria" panose="02040503050406030204" pitchFamily="18" charset="0"/>
              </a:rPr>
              <a:t>При выборке по требованию </a:t>
            </a:r>
            <a:r>
              <a:rPr lang="ru-RU" dirty="0">
                <a:latin typeface="Cambria" panose="02040503050406030204" pitchFamily="18" charset="0"/>
                <a:ea typeface="Cambria" panose="02040503050406030204" pitchFamily="18" charset="0"/>
              </a:rPr>
              <a:t>страница передается в основную память только тогда, когда выполняется обращение к ячейке памяти, расположенной на этой странице</a:t>
            </a:r>
          </a:p>
          <a:p>
            <a:pPr marL="0" indent="0">
              <a:buNone/>
            </a:pPr>
            <a:r>
              <a:rPr lang="ru-RU" dirty="0">
                <a:latin typeface="Cambria" panose="02040503050406030204" pitchFamily="18" charset="0"/>
                <a:ea typeface="Cambria" panose="02040503050406030204" pitchFamily="18" charset="0"/>
              </a:rPr>
              <a:t>Если все прочие элементы системы управления памятью работают хорошо, то должно произойти следующее:</a:t>
            </a:r>
          </a:p>
          <a:p>
            <a:pPr marL="0" indent="0">
              <a:buNone/>
            </a:pPr>
            <a:r>
              <a:rPr lang="ru-RU" dirty="0">
                <a:latin typeface="Cambria" panose="02040503050406030204" pitchFamily="18" charset="0"/>
                <a:ea typeface="Cambria" panose="02040503050406030204" pitchFamily="18" charset="0"/>
              </a:rPr>
              <a:t>Когда процесс только запускается, возникает поток прерываний обращений к странице, но далее срабатывает принцип локальности, и все большее количество обращений выполняется к недавно загруженным страницам</a:t>
            </a:r>
          </a:p>
          <a:p>
            <a:pPr marL="0" indent="0">
              <a:buNone/>
            </a:pPr>
            <a:r>
              <a:rPr lang="ru-RU" dirty="0">
                <a:latin typeface="Cambria" panose="02040503050406030204" pitchFamily="18" charset="0"/>
                <a:ea typeface="Cambria" panose="02040503050406030204" pitchFamily="18" charset="0"/>
              </a:rPr>
              <a:t>Соответственно, количество прерываний из-за отсутствия страницы снижается до весьма низкого уровня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66876974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Стратегия выборки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6843100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В случае </a:t>
            </a:r>
            <a:r>
              <a:rPr lang="ru-RU" b="1" dirty="0">
                <a:latin typeface="Cambria" panose="02040503050406030204" pitchFamily="18" charset="0"/>
                <a:ea typeface="Cambria" panose="02040503050406030204" pitchFamily="18" charset="0"/>
              </a:rPr>
              <a:t>предварительной выборки </a:t>
            </a:r>
            <a:r>
              <a:rPr lang="ru-RU" dirty="0">
                <a:latin typeface="Cambria" panose="02040503050406030204" pitchFamily="18" charset="0"/>
                <a:ea typeface="Cambria" panose="02040503050406030204" pitchFamily="18" charset="0"/>
              </a:rPr>
              <a:t>загружается не только страница, вызвавшая прерывание обращения </a:t>
            </a:r>
          </a:p>
          <a:p>
            <a:pPr marL="0" indent="0">
              <a:buNone/>
            </a:pPr>
            <a:r>
              <a:rPr lang="ru-RU" dirty="0">
                <a:latin typeface="Cambria" panose="02040503050406030204" pitchFamily="18" charset="0"/>
                <a:ea typeface="Cambria" panose="02040503050406030204" pitchFamily="18" charset="0"/>
              </a:rPr>
              <a:t>Предварительная выборка использует характеристики большинства устройств вторичной памяти, таких как диски, у которых имеются время поиска и задержка, связанная с вращением диска</a:t>
            </a:r>
          </a:p>
          <a:p>
            <a:pPr marL="0" indent="0">
              <a:buNone/>
            </a:pPr>
            <a:r>
              <a:rPr lang="ru-RU" dirty="0">
                <a:latin typeface="Cambria" panose="02040503050406030204" pitchFamily="18" charset="0"/>
                <a:ea typeface="Cambria" panose="02040503050406030204" pitchFamily="18" charset="0"/>
              </a:rPr>
              <a:t>Если страницы процесса расположены во вторичной памяти последовательно, то гораздо более эффективной будет загрузка в основную память нескольких последовательных страниц за один раз, чем загрузка этих же страниц по одной в течение некоторого промежутка времени</a:t>
            </a:r>
          </a:p>
          <a:p>
            <a:pPr marL="0" indent="0">
              <a:buNone/>
            </a:pPr>
            <a:r>
              <a:rPr lang="ru-RU" dirty="0">
                <a:latin typeface="Cambria" panose="02040503050406030204" pitchFamily="18" charset="0"/>
                <a:ea typeface="Cambria" panose="02040503050406030204" pitchFamily="18" charset="0"/>
              </a:rPr>
              <a:t>Естественно, эта стратегия не дает никакого выигрыша, если обращения к дополнительно загруженным страницам не происходит</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Стратегия выборки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934087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Предварительная выборка может применяться либо при первом запуске процесса к страницам, тем или иным способом указываемым программистом, либо каждый раз при каждом прерывании обращения к странице. Последний случай кажется более предпочтительным, поскольку он прозрачен для программиста</a:t>
            </a:r>
          </a:p>
          <a:p>
            <a:pPr marL="0" indent="0">
              <a:buNone/>
            </a:pPr>
            <a:r>
              <a:rPr lang="ru-RU" dirty="0">
                <a:latin typeface="Cambria" panose="02040503050406030204" pitchFamily="18" charset="0"/>
                <a:ea typeface="Cambria" panose="02040503050406030204" pitchFamily="18" charset="0"/>
              </a:rPr>
              <a:t>Не следует путать предварительную выборку и свопинг. При выгрузке процесса из памяти и переводе его в приостановленное состояние из основной памяти удаляются все его резидентные страницы. При возобновлении выполнения процесса все его страницы, которые ранее находились в основной памяти, вновь возвращаются в нее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Стратегия выборки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116313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Стратегия размещения </a:t>
            </a:r>
            <a:r>
              <a:rPr lang="ru-RU" dirty="0">
                <a:latin typeface="Cambria" panose="02040503050406030204" pitchFamily="18" charset="0"/>
                <a:ea typeface="Cambria" panose="02040503050406030204" pitchFamily="18" charset="0"/>
              </a:rPr>
              <a:t>определяет, где именно в физической памяти будут располагаться части процесса</a:t>
            </a:r>
          </a:p>
          <a:p>
            <a:pPr marL="0" indent="0">
              <a:buNone/>
            </a:pPr>
            <a:r>
              <a:rPr lang="ru-RU" dirty="0">
                <a:latin typeface="Cambria" panose="02040503050406030204" pitchFamily="18" charset="0"/>
                <a:ea typeface="Cambria" panose="02040503050406030204" pitchFamily="18" charset="0"/>
              </a:rPr>
              <a:t>В случае «чистой» сегментации стратегия размещения является весьма важным вопросом, решениями которого являются стратегии: </a:t>
            </a:r>
            <a:r>
              <a:rPr lang="ru-RU" b="1" dirty="0">
                <a:latin typeface="Cambria" panose="02040503050406030204" pitchFamily="18" charset="0"/>
                <a:ea typeface="Cambria" panose="02040503050406030204" pitchFamily="18" charset="0"/>
              </a:rPr>
              <a:t>первого подходящего, очередного подходящего и наилучшего подходящего</a:t>
            </a:r>
          </a:p>
          <a:p>
            <a:pPr marL="0" indent="0">
              <a:buNone/>
            </a:pPr>
            <a:r>
              <a:rPr lang="ru-RU" dirty="0">
                <a:latin typeface="Cambria" panose="02040503050406030204" pitchFamily="18" charset="0"/>
                <a:ea typeface="Cambria" panose="02040503050406030204" pitchFamily="18" charset="0"/>
              </a:rPr>
              <a:t>Все они, само собой разумеется, ограничены выбором среди свободных блоков размера, достаточно большого для размещения процесса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Стратегия размещения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32778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Метод наилучшего подходящего </a:t>
            </a:r>
            <a:r>
              <a:rPr lang="ru-RU" dirty="0">
                <a:latin typeface="Cambria" panose="02040503050406030204" pitchFamily="18" charset="0"/>
                <a:ea typeface="Cambria" panose="02040503050406030204" pitchFamily="18" charset="0"/>
              </a:rPr>
              <a:t>выбирает блок, размер которого наиболее близок к требуемому</a:t>
            </a:r>
          </a:p>
          <a:p>
            <a:pPr marL="0" indent="0">
              <a:buNone/>
            </a:pPr>
            <a:r>
              <a:rPr lang="ru-RU" b="1" dirty="0">
                <a:latin typeface="Cambria" panose="02040503050406030204" pitchFamily="18" charset="0"/>
                <a:ea typeface="Cambria" panose="02040503050406030204" pitchFamily="18" charset="0"/>
              </a:rPr>
              <a:t>Метод первого подходящего </a:t>
            </a:r>
            <a:r>
              <a:rPr lang="ru-RU" dirty="0">
                <a:latin typeface="Cambria" panose="02040503050406030204" pitchFamily="18" charset="0"/>
                <a:ea typeface="Cambria" panose="02040503050406030204" pitchFamily="18" charset="0"/>
              </a:rPr>
              <a:t>проверяет все свободные блоки с начала памяти и выбирает первый достаточный по размеру для размещения процесса</a:t>
            </a:r>
          </a:p>
          <a:p>
            <a:pPr marL="0" indent="0">
              <a:buNone/>
            </a:pPr>
            <a:r>
              <a:rPr lang="ru-RU" b="1" dirty="0">
                <a:latin typeface="Cambria" panose="02040503050406030204" pitchFamily="18" charset="0"/>
                <a:ea typeface="Cambria" panose="02040503050406030204" pitchFamily="18" charset="0"/>
              </a:rPr>
              <a:t>Метод следующего подходящего </a:t>
            </a:r>
            <a:r>
              <a:rPr lang="ru-RU" dirty="0">
                <a:latin typeface="Cambria" panose="02040503050406030204" pitchFamily="18" charset="0"/>
                <a:ea typeface="Cambria" panose="02040503050406030204" pitchFamily="18" charset="0"/>
              </a:rPr>
              <a:t>работает так же, как и метод первого подходящего, однако начинает проверку с того места, где был выделен блок в последний раз (по достижении конца памяти он продолжает работу с ее начала)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6946232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Стратегия размещения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319620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837DA1B-A3AF-9002-D344-CD2B7A6F8616}"/>
              </a:ext>
            </a:extLst>
          </p:cNvPr>
          <p:cNvPicPr>
            <a:picLocks noChangeAspect="1"/>
          </p:cNvPicPr>
          <p:nvPr/>
        </p:nvPicPr>
        <p:blipFill>
          <a:blip r:embed="rId2"/>
          <a:stretch>
            <a:fillRect/>
          </a:stretch>
        </p:blipFill>
        <p:spPr>
          <a:xfrm>
            <a:off x="2521631" y="0"/>
            <a:ext cx="7148738" cy="6858000"/>
          </a:xfrm>
          <a:prstGeom prst="rect">
            <a:avLst/>
          </a:prstGeom>
        </p:spPr>
      </p:pic>
    </p:spTree>
    <p:extLst>
      <p:ext uri="{BB962C8B-B14F-4D97-AF65-F5344CB8AC3E}">
        <p14:creationId xmlns:p14="http://schemas.microsoft.com/office/powerpoint/2010/main" val="42498938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Какой из этих методов окажется наилучшим, будет зависеть от точной последовательности загрузки и выгрузки процессов и их размеров</a:t>
            </a:r>
          </a:p>
          <a:p>
            <a:pPr marL="0" indent="0">
              <a:buNone/>
            </a:pPr>
            <a:r>
              <a:rPr lang="ru-RU" dirty="0">
                <a:latin typeface="Cambria" panose="02040503050406030204" pitchFamily="18" charset="0"/>
                <a:ea typeface="Cambria" panose="02040503050406030204" pitchFamily="18" charset="0"/>
              </a:rPr>
              <a:t>Обычно алгоритм первого подходящего не только проще, но и быстрее и дает лучшие результаты</a:t>
            </a:r>
          </a:p>
          <a:p>
            <a:pPr marL="0" indent="0">
              <a:buNone/>
            </a:pPr>
            <a:r>
              <a:rPr lang="ru-RU" dirty="0">
                <a:latin typeface="Cambria" panose="02040503050406030204" pitchFamily="18" charset="0"/>
                <a:ea typeface="Cambria" panose="02040503050406030204" pitchFamily="18" charset="0"/>
              </a:rPr>
              <a:t>Алгоритм следующего подходящего, как правило, дает немного худшие результаты. Это связано с тем, что алгоритм следующего подходящего проявляет склонность к более частому выделению памяти из свободных блоков в конце памяти. В результате самые большие блоки свободной памяти (которые обычно располагаются в конце памяти) быстро разбиваются на меньшие фрагменты и, следовательно, при использовании метода следующего подходящего уплотнение должно выполняться чаще</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Стратегия размещения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399273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С другой стороны, алгоритм первого подходящего обычно засоряет начало памяти небольшими свободными блоками, что приводит к увеличению времени поиска подходящего блока в последующем</a:t>
            </a:r>
          </a:p>
          <a:p>
            <a:pPr marL="0" indent="0">
              <a:buNone/>
            </a:pPr>
            <a:r>
              <a:rPr lang="ru-RU" dirty="0">
                <a:latin typeface="Cambria" panose="02040503050406030204" pitchFamily="18" charset="0"/>
                <a:ea typeface="Cambria" panose="02040503050406030204" pitchFamily="18" charset="0"/>
              </a:rPr>
              <a:t>Метод наилучшего подходящего, вопреки своему названию, оказывается, как правило, наихудшим. Так как он ищет блоки, наиболее близкие по размеру к требуемому, он оставляет после себя множество очень маленьких блоков. В результате, хотя при каждом выделении впустую тратится наименьшее возможное количество памяти, основная память очень быстро засоряется множеством мелких блоков, неспособных удовлетворить ни один запрос (так что при этом алгоритме уплотнение памяти должно выполняться значительно чаще)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Стратегия размещения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95155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Однако для систем, использующих только страничную организацию или страничную организацию в сочетании с сегментацией, стратегия размещения обычно не так важна, поскольку аппаратная трансляция адреса и аппаратное обращение к памяти одинаково результативны при любых сочетаниях «страница-кадр»</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Стратегия размещения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4310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большинстве публикаций, посвященных операционным системам, рассмотрение управления памятью включает в себя раздел, озаглавленный «Стратегия замещения», в котором говорится о выборе страниц в основной памяти для их замещения загружаемыми из вторичной памяти страницами </a:t>
            </a:r>
          </a:p>
          <a:p>
            <a:pPr marL="0" indent="0">
              <a:buNone/>
            </a:pPr>
            <a:r>
              <a:rPr lang="ru-RU" dirty="0">
                <a:latin typeface="Cambria" panose="02040503050406030204" pitchFamily="18" charset="0"/>
                <a:ea typeface="Cambria" panose="02040503050406030204" pitchFamily="18" charset="0"/>
              </a:rPr>
              <a:t>Эта тема достаточно сложна методологически, поскольку включает ряд взаимосвязанных вопросов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Стратегия замещения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074922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Какое количество кадров должно быть выделено каждому активному процессу?</a:t>
            </a:r>
          </a:p>
          <a:p>
            <a:pPr marL="0" indent="0">
              <a:buNone/>
            </a:pPr>
            <a:r>
              <a:rPr lang="ru-RU" dirty="0">
                <a:latin typeface="Cambria" panose="02040503050406030204" pitchFamily="18" charset="0"/>
                <a:ea typeface="Cambria" panose="02040503050406030204" pitchFamily="18" charset="0"/>
              </a:rPr>
              <a:t>Должно ли множество страниц, которые потенциально могут быть замещены загружаемыми страницами, ограничиваться одним процессом или в качестве кандидатов на замещение могут рассматриваться все кадры страниц основной памяти?</a:t>
            </a:r>
          </a:p>
          <a:p>
            <a:pPr marL="0" indent="0">
              <a:buNone/>
            </a:pPr>
            <a:r>
              <a:rPr lang="ru-RU" dirty="0">
                <a:latin typeface="Cambria" panose="02040503050406030204" pitchFamily="18" charset="0"/>
                <a:ea typeface="Cambria" panose="02040503050406030204" pitchFamily="18" charset="0"/>
              </a:rPr>
              <a:t>Какие именно страницы из рассматриваемого множества следует выбрать для замещения?</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33325354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Стратегия замещения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830887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Вопросы стратегии замещения представляют собой, пожалуй, наиболее полно изученный аспект управления памятью</a:t>
            </a:r>
          </a:p>
          <a:p>
            <a:pPr marL="0" indent="0">
              <a:buNone/>
            </a:pPr>
            <a:r>
              <a:rPr lang="ru-RU" dirty="0">
                <a:latin typeface="Cambria" panose="02040503050406030204" pitchFamily="18" charset="0"/>
                <a:ea typeface="Cambria" panose="02040503050406030204" pitchFamily="18" charset="0"/>
              </a:rPr>
              <a:t>Когда все кадры основной памяти заняты и требуется разместить новую страницу в процессе обработки прерывания из-за отсутствия страницы, стратегия замещения определяет, какая из находящихся в настоящее время в основной памяти страниц должна быть выгружена, чтобы освободить кадр для загружаемой страницы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Стратегия замещения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96593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b="1" dirty="0">
                <a:latin typeface="Cambria" panose="02040503050406030204" pitchFamily="18" charset="0"/>
                <a:ea typeface="Cambria" panose="02040503050406030204" pitchFamily="18" charset="0"/>
              </a:rPr>
              <a:t>Все стратегии направлены на то, чтобы выгрузить страницу, обращений к которой в ближайшем будущем не последует</a:t>
            </a:r>
          </a:p>
          <a:p>
            <a:pPr marL="0" indent="0">
              <a:buNone/>
            </a:pPr>
            <a:r>
              <a:rPr lang="ru-RU" b="1" dirty="0">
                <a:latin typeface="Cambria" panose="02040503050406030204" pitchFamily="18" charset="0"/>
                <a:ea typeface="Cambria" panose="02040503050406030204" pitchFamily="18" charset="0"/>
              </a:rPr>
              <a:t>В соответствии с принципом локальности</a:t>
            </a:r>
            <a:r>
              <a:rPr lang="ru-RU" dirty="0">
                <a:latin typeface="Cambria" panose="02040503050406030204" pitchFamily="18" charset="0"/>
                <a:ea typeface="Cambria" panose="02040503050406030204" pitchFamily="18" charset="0"/>
              </a:rPr>
              <a:t> часто наблюдается сильная корреляция между множеством страниц, к которым в последнее время были обращения, и множеством страниц, к которым будут обращения в ближайшее время</a:t>
            </a:r>
          </a:p>
          <a:p>
            <a:pPr marL="0" indent="0">
              <a:buNone/>
            </a:pPr>
            <a:r>
              <a:rPr lang="ru-RU" dirty="0">
                <a:latin typeface="Cambria" panose="02040503050406030204" pitchFamily="18" charset="0"/>
                <a:ea typeface="Cambria" panose="02040503050406030204" pitchFamily="18" charset="0"/>
              </a:rPr>
              <a:t>Таким образом, большинство стратегий пытаются определить будущее поведение программы на основе ее прошлого поведения. </a:t>
            </a:r>
          </a:p>
          <a:p>
            <a:pPr marL="0" indent="0">
              <a:buNone/>
            </a:pPr>
            <a:r>
              <a:rPr lang="ru-RU" dirty="0">
                <a:latin typeface="Cambria" panose="02040503050406030204" pitchFamily="18" charset="0"/>
                <a:ea typeface="Cambria" panose="02040503050406030204" pitchFamily="18" charset="0"/>
              </a:rPr>
              <a:t>При рассмотрении разных стратегий следует учитывать, что чем более совершенный и интеллектуальный алгоритм использует стратегия, тем выше будут накладные расходы при его реализаций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Стратегия замещения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7936645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Перед рассмотрением различных алгоритмов следует упомянуть об одном ограничении: некоторые кадры основной памяти могут быть </a:t>
            </a:r>
            <a:r>
              <a:rPr lang="ru-RU" b="1" dirty="0">
                <a:latin typeface="Cambria" panose="02040503050406030204" pitchFamily="18" charset="0"/>
                <a:ea typeface="Cambria" panose="02040503050406030204" pitchFamily="18" charset="0"/>
              </a:rPr>
              <a:t>заблокированы</a:t>
            </a:r>
          </a:p>
          <a:p>
            <a:pPr marL="0" indent="0">
              <a:buNone/>
            </a:pPr>
            <a:r>
              <a:rPr lang="ru-RU" b="1" dirty="0">
                <a:latin typeface="Cambria" panose="02040503050406030204" pitchFamily="18" charset="0"/>
                <a:ea typeface="Cambria" panose="02040503050406030204" pitchFamily="18" charset="0"/>
              </a:rPr>
              <a:t>Блокировка кадра </a:t>
            </a:r>
            <a:r>
              <a:rPr lang="ru-RU" dirty="0">
                <a:latin typeface="Cambria" panose="02040503050406030204" pitchFamily="18" charset="0"/>
                <a:ea typeface="Cambria" panose="02040503050406030204" pitchFamily="18" charset="0"/>
              </a:rPr>
              <a:t>означает, что страница, хранящаяся в данный момент в этом кадре, не может быть замещена</a:t>
            </a:r>
          </a:p>
          <a:p>
            <a:pPr marL="0" indent="0">
              <a:buNone/>
            </a:pPr>
            <a:r>
              <a:rPr lang="ru-RU" dirty="0">
                <a:latin typeface="Cambria" panose="02040503050406030204" pitchFamily="18" charset="0"/>
                <a:ea typeface="Cambria" panose="02040503050406030204" pitchFamily="18" charset="0"/>
              </a:rPr>
              <a:t>Большинство ядер операционных систем хранятся в заблокированных кадрах, так же как и основные управляющие структуры. Кроме того, в заблокированных кадрах основной памяти могут располагаться буферы ввода-вывода и другие критические по отношению ко времени доступа данные и код. Блокировка осуществляется путем установки соответствующего бита у каждого кадра. Этот бит может находиться как в таблице кадров, так и быть включенным в текущую таблицу страниц</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76591050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Блокировка кадров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33236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Независимо от стратегии управления резидентным множеством имеется ряд основных алгоритмов, используемых для выбора замещаемой страницы: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Оптимальный алгоритм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Алгоритм дольше всех неиспользовавшегося элемента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Алгоритм «первым вошел – первым вышел»</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Часовой алгоритм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54580416"/>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Стратегия замещения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128770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Оптимальная стратегия </a:t>
            </a:r>
            <a:r>
              <a:rPr lang="ru-RU" dirty="0">
                <a:latin typeface="Cambria" panose="02040503050406030204" pitchFamily="18" charset="0"/>
                <a:ea typeface="Cambria" panose="02040503050406030204" pitchFamily="18" charset="0"/>
              </a:rPr>
              <a:t>состоит в выборе для замещения той страницы, обращение к которой будет через наибольший промежуток времени по сравнению со всеми остальными страницами</a:t>
            </a:r>
          </a:p>
          <a:p>
            <a:pPr marL="0" indent="0">
              <a:buNone/>
            </a:pPr>
            <a:r>
              <a:rPr lang="ru-RU" dirty="0">
                <a:latin typeface="Cambria" panose="02040503050406030204" pitchFamily="18" charset="0"/>
                <a:ea typeface="Cambria" panose="02040503050406030204" pitchFamily="18" charset="0"/>
              </a:rPr>
              <a:t>Можно показать, что этот алгоритм приводит к минимальному количеству прерываний из-за отсутствия страницы</a:t>
            </a:r>
          </a:p>
          <a:p>
            <a:pPr marL="0" indent="0">
              <a:buNone/>
            </a:pPr>
            <a:r>
              <a:rPr lang="ru-RU" dirty="0">
                <a:latin typeface="Cambria" panose="02040503050406030204" pitchFamily="18" charset="0"/>
                <a:ea typeface="Cambria" panose="02040503050406030204" pitchFamily="18" charset="0"/>
              </a:rPr>
              <a:t>Понятно, что реализовать такой алгоритм невозможно, поскольку для этого системе требуется знать все будущие события</a:t>
            </a:r>
          </a:p>
          <a:p>
            <a:pPr marL="0" indent="0">
              <a:buNone/>
            </a:pPr>
            <a:r>
              <a:rPr lang="ru-RU" dirty="0">
                <a:latin typeface="Cambria" panose="02040503050406030204" pitchFamily="18" charset="0"/>
                <a:ea typeface="Cambria" panose="02040503050406030204" pitchFamily="18" charset="0"/>
              </a:rPr>
              <a:t>Однако этот алгоритм является стандартом, с которым сравниваются реальные алгоритмы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170258336"/>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Стратегия замещения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493775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225855F-497D-62DE-6711-45E121DCA4A1}"/>
              </a:ext>
            </a:extLst>
          </p:cNvPr>
          <p:cNvPicPr>
            <a:picLocks noChangeAspect="1"/>
          </p:cNvPicPr>
          <p:nvPr/>
        </p:nvPicPr>
        <p:blipFill>
          <a:blip r:embed="rId2"/>
          <a:stretch>
            <a:fillRect/>
          </a:stretch>
        </p:blipFill>
        <p:spPr>
          <a:xfrm>
            <a:off x="896176" y="0"/>
            <a:ext cx="10399648" cy="6858000"/>
          </a:xfrm>
          <a:prstGeom prst="rect">
            <a:avLst/>
          </a:prstGeom>
        </p:spPr>
      </p:pic>
    </p:spTree>
    <p:extLst>
      <p:ext uri="{BB962C8B-B14F-4D97-AF65-F5344CB8AC3E}">
        <p14:creationId xmlns:p14="http://schemas.microsoft.com/office/powerpoint/2010/main" val="23287542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Предполагается, что для данного процесса используется фиксированное распределение кадров (фиксированный размер резидентного множества, состоящего из трех кадров) </a:t>
            </a:r>
          </a:p>
          <a:p>
            <a:pPr marL="0" indent="0">
              <a:buNone/>
            </a:pPr>
            <a:r>
              <a:rPr lang="ru-RU" dirty="0">
                <a:latin typeface="Cambria" panose="02040503050406030204" pitchFamily="18" charset="0"/>
                <a:ea typeface="Cambria" panose="02040503050406030204" pitchFamily="18" charset="0"/>
              </a:rPr>
              <a:t>Выполнение процесса приводит к обращениям к пяти различным страницам</a:t>
            </a:r>
          </a:p>
          <a:p>
            <a:pPr marL="0" indent="0">
              <a:buNone/>
            </a:pPr>
            <a:r>
              <a:rPr lang="ru-RU" dirty="0">
                <a:latin typeface="Cambria" panose="02040503050406030204" pitchFamily="18" charset="0"/>
                <a:ea typeface="Cambria" panose="02040503050406030204" pitchFamily="18" charset="0"/>
              </a:rPr>
              <a:t>В процессе работы обращения к страницам выполняются в следующем порядке:</a:t>
            </a:r>
          </a:p>
          <a:p>
            <a:pPr marL="0" indent="0" algn="ctr">
              <a:buNone/>
            </a:pPr>
            <a:r>
              <a:rPr lang="ru-RU" dirty="0">
                <a:latin typeface="Cambria" panose="02040503050406030204" pitchFamily="18" charset="0"/>
                <a:ea typeface="Cambria" panose="02040503050406030204" pitchFamily="18" charset="0"/>
              </a:rPr>
              <a:t>2 3 2 1 5 2 4 5 3 2 5 2</a:t>
            </a:r>
          </a:p>
          <a:p>
            <a:pPr marL="0" indent="0">
              <a:buNone/>
            </a:pPr>
            <a:r>
              <a:rPr lang="ru-RU" dirty="0">
                <a:latin typeface="Cambria" panose="02040503050406030204" pitchFamily="18" charset="0"/>
                <a:ea typeface="Cambria" panose="02040503050406030204" pitchFamily="18" charset="0"/>
              </a:rPr>
              <a:t>Это означает, что сначала выполняется обращение к странице 2, затем – к странице 3 и т.д. Оптимальная стратегия приводит после заполнения всего множества кадров к трем прерываниям обращения к странице (обозначенным на рисунке буквами «F»)</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Стратегия замещения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0860074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10000"/>
          </a:bodyPr>
          <a:lstStyle/>
          <a:p>
            <a:pPr marL="0" indent="0">
              <a:buNone/>
            </a:pPr>
            <a:r>
              <a:rPr lang="ru-RU" b="1" dirty="0">
                <a:latin typeface="Cambria" panose="02040503050406030204" pitchFamily="18" charset="0"/>
                <a:ea typeface="Cambria" panose="02040503050406030204" pitchFamily="18" charset="0"/>
              </a:rPr>
              <a:t>Стратегия дольше всех неиспользовавшегося элемента </a:t>
            </a:r>
            <a:r>
              <a:rPr lang="ru-RU" dirty="0">
                <a:latin typeface="Cambria" panose="02040503050406030204" pitchFamily="18" charset="0"/>
                <a:ea typeface="Cambria" panose="02040503050406030204" pitchFamily="18" charset="0"/>
              </a:rPr>
              <a:t>замещает в памяти ту страницу, обращений к которой не было дольше, чем к другим. Согласно принципу локальности можно ожидать, что эта страница не будет использоваться и в ближайшем будущем</a:t>
            </a:r>
          </a:p>
          <a:p>
            <a:pPr marL="0" indent="0">
              <a:buNone/>
            </a:pPr>
            <a:r>
              <a:rPr lang="ru-RU" dirty="0">
                <a:latin typeface="Cambria" panose="02040503050406030204" pitchFamily="18" charset="0"/>
                <a:ea typeface="Cambria" panose="02040503050406030204" pitchFamily="18" charset="0"/>
              </a:rPr>
              <a:t>Эта стратегия и в самом деле недалека от оптимальной. Основная проблема заключается в сложности ее реализации</a:t>
            </a:r>
          </a:p>
          <a:p>
            <a:pPr marL="0" indent="0">
              <a:buNone/>
            </a:pPr>
            <a:r>
              <a:rPr lang="ru-RU" dirty="0">
                <a:latin typeface="Cambria" panose="02040503050406030204" pitchFamily="18" charset="0"/>
                <a:ea typeface="Cambria" panose="02040503050406030204" pitchFamily="18" charset="0"/>
              </a:rPr>
              <a:t>Один из вариантов реализации предполагает отмечать время последнего обращения к странице; это должно делаться при каждом обращении к памяти, независимо от того, к чему выполняется обращение – к коду или к данным</a:t>
            </a:r>
          </a:p>
          <a:p>
            <a:pPr marL="0" indent="0">
              <a:buNone/>
            </a:pPr>
            <a:r>
              <a:rPr lang="ru-RU" dirty="0">
                <a:latin typeface="Cambria" panose="02040503050406030204" pitchFamily="18" charset="0"/>
                <a:ea typeface="Cambria" panose="02040503050406030204" pitchFamily="18" charset="0"/>
              </a:rPr>
              <a:t>Даже в случае аппаратной поддержки этой схемы накладные расходы слишком велики</a:t>
            </a:r>
          </a:p>
          <a:p>
            <a:pPr marL="0" indent="0">
              <a:buNone/>
            </a:pPr>
            <a:r>
              <a:rPr lang="ru-RU" dirty="0">
                <a:latin typeface="Cambria" panose="02040503050406030204" pitchFamily="18" charset="0"/>
                <a:ea typeface="Cambria" panose="02040503050406030204" pitchFamily="18" charset="0"/>
              </a:rPr>
              <a:t>Еще один вариант предполагает поддержание стека обращений к страницам, что тоже обходится недешево для производительности системы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Стратегия замещения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9760235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b="1" dirty="0">
                <a:latin typeface="Cambria" panose="02040503050406030204" pitchFamily="18" charset="0"/>
                <a:ea typeface="Cambria" panose="02040503050406030204" pitchFamily="18" charset="0"/>
              </a:rPr>
              <a:t>Стратегия «первым вошел – первым вышел» </a:t>
            </a:r>
            <a:r>
              <a:rPr lang="ru-RU" dirty="0">
                <a:latin typeface="Cambria" panose="02040503050406030204" pitchFamily="18" charset="0"/>
                <a:ea typeface="Cambria" panose="02040503050406030204" pitchFamily="18" charset="0"/>
              </a:rPr>
              <a:t>рассматривает кадры страниц процесса как циклический буфер с циклическим же удалением страниц из него </a:t>
            </a:r>
          </a:p>
          <a:p>
            <a:pPr marL="0" indent="0">
              <a:buNone/>
            </a:pPr>
            <a:r>
              <a:rPr lang="ru-RU" dirty="0">
                <a:latin typeface="Cambria" panose="02040503050406030204" pitchFamily="18" charset="0"/>
                <a:ea typeface="Cambria" panose="02040503050406030204" pitchFamily="18" charset="0"/>
              </a:rPr>
              <a:t>Все, что требуется для реализации этой стратегии, – это указатель, циклически проходящий по кадрам страниц процесса</a:t>
            </a:r>
          </a:p>
          <a:p>
            <a:pPr marL="0" indent="0">
              <a:buNone/>
            </a:pPr>
            <a:r>
              <a:rPr lang="ru-RU" dirty="0">
                <a:latin typeface="Cambria" panose="02040503050406030204" pitchFamily="18" charset="0"/>
                <a:ea typeface="Cambria" panose="02040503050406030204" pitchFamily="18" charset="0"/>
              </a:rPr>
              <a:t>Таким образом, это одна из простейших в реализации стратегий замещения. Логика ее работы заключается в том, что замещается страница, находящаяся в основной памяти дольше других</a:t>
            </a:r>
          </a:p>
          <a:p>
            <a:pPr marL="0" indent="0">
              <a:buNone/>
            </a:pPr>
            <a:r>
              <a:rPr lang="ru-RU" dirty="0">
                <a:latin typeface="Cambria" panose="02040503050406030204" pitchFamily="18" charset="0"/>
                <a:ea typeface="Cambria" panose="02040503050406030204" pitchFamily="18" charset="0"/>
              </a:rPr>
              <a:t>Однако далеко не всегда эта страница редко используется; очень часто некоторая область данных или кода интенсивно используется программой, и страницы из этой области при использовании описанной стратегии будут загружаться и выгружаться вновь и вновь</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Стратегия замещения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04160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b="1" dirty="0">
                <a:latin typeface="Cambria" panose="02040503050406030204" pitchFamily="18" charset="0"/>
                <a:ea typeface="Cambria" panose="02040503050406030204" pitchFamily="18" charset="0"/>
              </a:rPr>
              <a:t>Стратегия «первым вошел – первым вышел» </a:t>
            </a:r>
            <a:r>
              <a:rPr lang="ru-RU" dirty="0">
                <a:latin typeface="Cambria" panose="02040503050406030204" pitchFamily="18" charset="0"/>
                <a:ea typeface="Cambria" panose="02040503050406030204" pitchFamily="18" charset="0"/>
              </a:rPr>
              <a:t>рассматривает кадры страниц процесса как циклический буфер с циклическим же удалением страниц из него </a:t>
            </a:r>
          </a:p>
          <a:p>
            <a:pPr marL="0" indent="0">
              <a:buNone/>
            </a:pPr>
            <a:r>
              <a:rPr lang="ru-RU" dirty="0">
                <a:latin typeface="Cambria" panose="02040503050406030204" pitchFamily="18" charset="0"/>
                <a:ea typeface="Cambria" panose="02040503050406030204" pitchFamily="18" charset="0"/>
              </a:rPr>
              <a:t>Все, что требуется для реализации этой стратегии, – это указатель, циклически проходящий по кадрам страниц процесса</a:t>
            </a:r>
          </a:p>
          <a:p>
            <a:pPr marL="0" indent="0">
              <a:buNone/>
            </a:pPr>
            <a:r>
              <a:rPr lang="ru-RU" dirty="0">
                <a:latin typeface="Cambria" panose="02040503050406030204" pitchFamily="18" charset="0"/>
                <a:ea typeface="Cambria" panose="02040503050406030204" pitchFamily="18" charset="0"/>
              </a:rPr>
              <a:t>Таким образом, это одна из простейших в реализации стратегий замещения. Логика ее работы заключается в том, что замещается страница, находящаяся в основной памяти дольше других</a:t>
            </a:r>
          </a:p>
          <a:p>
            <a:pPr marL="0" indent="0">
              <a:buNone/>
            </a:pPr>
            <a:r>
              <a:rPr lang="ru-RU" dirty="0">
                <a:latin typeface="Cambria" panose="02040503050406030204" pitchFamily="18" charset="0"/>
                <a:ea typeface="Cambria" panose="02040503050406030204" pitchFamily="18" charset="0"/>
              </a:rPr>
              <a:t>Однако далеко не всегда эта страница редко используется; очень часто некоторая область данных или кода интенсивно используется программой, и страницы из этой области при использовании описанной стратегии будут загружаться и выгружаться вновь и вновь</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Стратегия замещения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6032089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Хотя стратегия дольше всех неиспользовавшегося элемента и близка к оптимальной, она трудна в реализации и приводит к значительным накладным расходам</a:t>
            </a:r>
          </a:p>
          <a:p>
            <a:pPr marL="0" indent="0">
              <a:buNone/>
            </a:pPr>
            <a:r>
              <a:rPr lang="ru-RU" dirty="0">
                <a:latin typeface="Cambria" panose="02040503050406030204" pitchFamily="18" charset="0"/>
                <a:ea typeface="Cambria" panose="02040503050406030204" pitchFamily="18" charset="0"/>
              </a:rPr>
              <a:t>Стратегия «первым вошел – первым вышел» реализуется очень просто, но относительно редко приводит к хорошим результатам</a:t>
            </a:r>
          </a:p>
          <a:p>
            <a:pPr marL="0" indent="0">
              <a:buNone/>
            </a:pPr>
            <a:r>
              <a:rPr lang="ru-RU" dirty="0">
                <a:latin typeface="Cambria" panose="02040503050406030204" pitchFamily="18" charset="0"/>
                <a:ea typeface="Cambria" panose="02040503050406030204" pitchFamily="18" charset="0"/>
              </a:rPr>
              <a:t>В течение долгого времени разработчики операционных систем испытывали различные алгоритмы, пытаясь достичь увеличения производительности стратегии дольше всех неиспользовавшегося элемента при значительном снижении накладных расходов</a:t>
            </a:r>
          </a:p>
          <a:p>
            <a:pPr marL="0" indent="0">
              <a:buNone/>
            </a:pPr>
            <a:r>
              <a:rPr lang="ru-RU" dirty="0">
                <a:latin typeface="Cambria" panose="02040503050406030204" pitchFamily="18" charset="0"/>
                <a:ea typeface="Cambria" panose="02040503050406030204" pitchFamily="18" charset="0"/>
              </a:rPr>
              <a:t>Многие из этих алгоритмов представляют собой варианты схемы, известной как </a:t>
            </a:r>
            <a:r>
              <a:rPr lang="ru-RU" b="1" dirty="0">
                <a:latin typeface="Cambria" panose="02040503050406030204" pitchFamily="18" charset="0"/>
                <a:ea typeface="Cambria" panose="02040503050406030204" pitchFamily="18" charset="0"/>
              </a:rPr>
              <a:t>часовая стратегия </a:t>
            </a:r>
            <a:r>
              <a:rPr lang="ru-RU" dirty="0">
                <a:latin typeface="Cambria" panose="02040503050406030204" pitchFamily="18" charset="0"/>
                <a:ea typeface="Cambria" panose="02040503050406030204" pitchFamily="18" charset="0"/>
              </a:rPr>
              <a:t>(</a:t>
            </a:r>
            <a:r>
              <a:rPr lang="ru-RU" dirty="0" err="1">
                <a:latin typeface="Cambria" panose="02040503050406030204" pitchFamily="18" charset="0"/>
                <a:ea typeface="Cambria" panose="02040503050406030204" pitchFamily="18" charset="0"/>
              </a:rPr>
              <a:t>clock</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policy</a:t>
            </a:r>
            <a:r>
              <a:rPr lang="ru-RU" dirty="0">
                <a:latin typeface="Cambria" panose="02040503050406030204" pitchFamily="18" charset="0"/>
                <a:ea typeface="Cambria" panose="02040503050406030204" pitchFamily="18" charset="0"/>
              </a:rPr>
              <a:t>)</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Стратегия замещения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9948721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В простейшей схеме часовой стратегии с каждым кадром связывается один дополнительный бит, известный как бит использования</a:t>
            </a:r>
          </a:p>
          <a:p>
            <a:pPr marL="0" indent="0">
              <a:buNone/>
            </a:pPr>
            <a:r>
              <a:rPr lang="ru-RU" dirty="0">
                <a:latin typeface="Cambria" panose="02040503050406030204" pitchFamily="18" charset="0"/>
                <a:ea typeface="Cambria" panose="02040503050406030204" pitchFamily="18" charset="0"/>
              </a:rPr>
              <a:t>Когда страница впервые загружается в кадр, бит использования устанавливается равным 1</a:t>
            </a:r>
          </a:p>
          <a:p>
            <a:pPr marL="0" indent="0">
              <a:buNone/>
            </a:pPr>
            <a:r>
              <a:rPr lang="ru-RU" dirty="0">
                <a:latin typeface="Cambria" panose="02040503050406030204" pitchFamily="18" charset="0"/>
                <a:ea typeface="Cambria" panose="02040503050406030204" pitchFamily="18" charset="0"/>
              </a:rPr>
              <a:t>При последующих обращениях к странице, вызвавших прерывание из-за отсутствия страницы, этот бит также устанавливается равным 1</a:t>
            </a:r>
          </a:p>
          <a:p>
            <a:pPr marL="0" indent="0">
              <a:buNone/>
            </a:pPr>
            <a:r>
              <a:rPr lang="ru-RU" dirty="0">
                <a:latin typeface="Cambria" panose="02040503050406030204" pitchFamily="18" charset="0"/>
                <a:ea typeface="Cambria" panose="02040503050406030204" pitchFamily="18" charset="0"/>
              </a:rPr>
              <a:t>При работе алгоритма замещения множество кадров, являющихся кандидатами на замещение (текущий процесс, локальная область видимости, вся основная память или глобальная область видимости) рассматривается как циклический буфер, с которым связан указатель</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Стратегия замещения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8646389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20000"/>
          </a:bodyPr>
          <a:lstStyle/>
          <a:p>
            <a:pPr marL="0" indent="0">
              <a:buNone/>
            </a:pPr>
            <a:r>
              <a:rPr lang="ru-RU" dirty="0">
                <a:latin typeface="Cambria" panose="02040503050406030204" pitchFamily="18" charset="0"/>
                <a:ea typeface="Cambria" panose="02040503050406030204" pitchFamily="18" charset="0"/>
              </a:rPr>
              <a:t>При замещении страницы указатель перемещается к следую </a:t>
            </a:r>
            <a:r>
              <a:rPr lang="ru-RU" dirty="0" err="1">
                <a:latin typeface="Cambria" panose="02040503050406030204" pitchFamily="18" charset="0"/>
                <a:ea typeface="Cambria" panose="02040503050406030204" pitchFamily="18" charset="0"/>
              </a:rPr>
              <a:t>щему</a:t>
            </a:r>
            <a:r>
              <a:rPr lang="ru-RU" dirty="0">
                <a:latin typeface="Cambria" panose="02040503050406030204" pitchFamily="18" charset="0"/>
                <a:ea typeface="Cambria" panose="02040503050406030204" pitchFamily="18" charset="0"/>
              </a:rPr>
              <a:t> кадру в буфере. Когда наступает время замещения страницы, операционная система сканирует буфер для поиска кадра, бит использования которого равен 0</a:t>
            </a:r>
          </a:p>
          <a:p>
            <a:pPr marL="0" indent="0">
              <a:buNone/>
            </a:pPr>
            <a:r>
              <a:rPr lang="ru-RU" dirty="0">
                <a:latin typeface="Cambria" panose="02040503050406030204" pitchFamily="18" charset="0"/>
                <a:ea typeface="Cambria" panose="02040503050406030204" pitchFamily="18" charset="0"/>
              </a:rPr>
              <a:t>Всякий раз, когда в процессе поиска встречается кадр с битом использования, равным 1, он сбрасывается в 0. Первый же встреченный кадр с нулевым битом использования выбирается для замещения</a:t>
            </a:r>
          </a:p>
          <a:p>
            <a:pPr marL="0" indent="0">
              <a:buNone/>
            </a:pPr>
            <a:r>
              <a:rPr lang="ru-RU" dirty="0">
                <a:latin typeface="Cambria" panose="02040503050406030204" pitchFamily="18" charset="0"/>
                <a:ea typeface="Cambria" panose="02040503050406030204" pitchFamily="18" charset="0"/>
              </a:rPr>
              <a:t>Если все кадры имеют бит использования, равный 1, указатель совершает полный круг и возвращается к начальному положению, заменяя страницу в этом кадре.</a:t>
            </a:r>
          </a:p>
          <a:p>
            <a:pPr marL="0" indent="0">
              <a:buNone/>
            </a:pPr>
            <a:r>
              <a:rPr lang="ru-RU" dirty="0">
                <a:latin typeface="Cambria" panose="02040503050406030204" pitchFamily="18" charset="0"/>
                <a:ea typeface="Cambria" panose="02040503050406030204" pitchFamily="18" charset="0"/>
              </a:rPr>
              <a:t>Как видим, эта стратегия схожа со стратегией «первым вошел – первым вышел»: но отличается тем, что кадры, имеющие установленный бит использования, пропускаются алгоритмом</a:t>
            </a:r>
          </a:p>
          <a:p>
            <a:pPr marL="0" indent="0">
              <a:buNone/>
            </a:pPr>
            <a:r>
              <a:rPr lang="ru-RU" dirty="0">
                <a:latin typeface="Cambria" panose="02040503050406030204" pitchFamily="18" charset="0"/>
                <a:ea typeface="Cambria" panose="02040503050406030204" pitchFamily="18" charset="0"/>
              </a:rPr>
              <a:t>Буфер кадров страниц представлен в виде круга, откуда и произошло название стратегии. Ряд операционных систем используют различные варианты часовой стратегии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Стратегия замещения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1946690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CECBCB8-EFFC-3C10-233D-20A2B7D04320}"/>
              </a:ext>
            </a:extLst>
          </p:cNvPr>
          <p:cNvPicPr>
            <a:picLocks noChangeAspect="1"/>
          </p:cNvPicPr>
          <p:nvPr/>
        </p:nvPicPr>
        <p:blipFill>
          <a:blip r:embed="rId2"/>
          <a:stretch>
            <a:fillRect/>
          </a:stretch>
        </p:blipFill>
        <p:spPr>
          <a:xfrm>
            <a:off x="1801608" y="0"/>
            <a:ext cx="8588784" cy="6858000"/>
          </a:xfrm>
          <a:prstGeom prst="rect">
            <a:avLst/>
          </a:prstGeom>
        </p:spPr>
      </p:pic>
    </p:spTree>
    <p:extLst>
      <p:ext uri="{BB962C8B-B14F-4D97-AF65-F5344CB8AC3E}">
        <p14:creationId xmlns:p14="http://schemas.microsoft.com/office/powerpoint/2010/main" val="18757755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CECBCB8-EFFC-3C10-233D-20A2B7D0432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801608" y="287338"/>
            <a:ext cx="8588784" cy="6283323"/>
          </a:xfrm>
          <a:prstGeom prst="rect">
            <a:avLst/>
          </a:prstGeom>
        </p:spPr>
      </p:pic>
    </p:spTree>
    <p:extLst>
      <p:ext uri="{BB962C8B-B14F-4D97-AF65-F5344CB8AC3E}">
        <p14:creationId xmlns:p14="http://schemas.microsoft.com/office/powerpoint/2010/main" val="5178897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Как указывалось ранее часть процесса, которая в действительности располагается в основной памяти в любой момент времени, является </a:t>
            </a:r>
            <a:r>
              <a:rPr lang="ru-RU" b="1" dirty="0">
                <a:latin typeface="Cambria" panose="02040503050406030204" pitchFamily="18" charset="0"/>
                <a:ea typeface="Cambria" panose="02040503050406030204" pitchFamily="18" charset="0"/>
              </a:rPr>
              <a:t>резидентным множеством процесса </a:t>
            </a:r>
            <a:r>
              <a:rPr lang="ru-RU" dirty="0">
                <a:latin typeface="Cambria" panose="02040503050406030204" pitchFamily="18" charset="0"/>
                <a:ea typeface="Cambria" panose="02040503050406030204" pitchFamily="18" charset="0"/>
              </a:rPr>
              <a:t>или же </a:t>
            </a:r>
            <a:r>
              <a:rPr lang="ru-RU" b="1" dirty="0">
                <a:latin typeface="Cambria" panose="02040503050406030204" pitchFamily="18" charset="0"/>
                <a:ea typeface="Cambria" panose="02040503050406030204" pitchFamily="18" charset="0"/>
              </a:rPr>
              <a:t>рабочим множеством</a:t>
            </a:r>
          </a:p>
          <a:p>
            <a:pPr marL="0" indent="0">
              <a:buNone/>
            </a:pPr>
            <a:r>
              <a:rPr lang="ru-RU" dirty="0">
                <a:latin typeface="Cambria" panose="02040503050406030204" pitchFamily="18" charset="0"/>
                <a:ea typeface="Cambria" panose="02040503050406030204" pitchFamily="18" charset="0"/>
              </a:rPr>
              <a:t>При использовании страничной виртуальной памяти для подготовки процесса к выполнению нет необходимости (да это может быть и невозможно) размещать в основной памяти все его страницы</a:t>
            </a:r>
          </a:p>
          <a:p>
            <a:pPr marL="0" indent="0">
              <a:buNone/>
            </a:pPr>
            <a:r>
              <a:rPr lang="ru-RU" dirty="0">
                <a:latin typeface="Cambria" panose="02040503050406030204" pitchFamily="18" charset="0"/>
                <a:ea typeface="Cambria" panose="02040503050406030204" pitchFamily="18" charset="0"/>
              </a:rPr>
              <a:t>Следовательно, операционная система должна принять решение о том, какое количество страниц следует загрузить, т.е. какое количество памяти выделяется конкретному процессу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3455232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Управление резидентным множеством</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7279076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Здесь играет роль ряд факторов:</a:t>
            </a:r>
          </a:p>
          <a:p>
            <a:pPr marL="0" indent="0">
              <a:buNone/>
            </a:pPr>
            <a:r>
              <a:rPr lang="ru-RU" dirty="0">
                <a:latin typeface="Cambria" panose="02040503050406030204" pitchFamily="18" charset="0"/>
                <a:ea typeface="Cambria" panose="02040503050406030204" pitchFamily="18" charset="0"/>
              </a:rPr>
              <a:t>1. Чем меньше памяти выделяется процессу, тем больше процессов может одновременно находиться в основной памяти. Это увеличивает вероятность того, что операционная система в любой момент времени найдет как минимум один готовый к выполнению процесс и, следовательно, снижаются затраты времени на свопинг процессов</a:t>
            </a:r>
          </a:p>
          <a:p>
            <a:pPr marL="0" indent="0">
              <a:buNone/>
            </a:pPr>
            <a:r>
              <a:rPr lang="ru-RU" dirty="0">
                <a:latin typeface="Cambria" panose="02040503050406030204" pitchFamily="18" charset="0"/>
                <a:ea typeface="Cambria" panose="02040503050406030204" pitchFamily="18" charset="0"/>
              </a:rPr>
              <a:t>2. При относительно небольшом количестве страниц процесса, размещенных в основной памяти, несмотря на принцип локальности частота возникновения прерываний из-за отсутствия страницы будет достаточно велика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Управление резидентным множеством</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0513525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Здесь играет роль ряд факторов:</a:t>
            </a:r>
          </a:p>
          <a:p>
            <a:pPr marL="0" indent="0">
              <a:buNone/>
            </a:pPr>
            <a:r>
              <a:rPr lang="ru-RU" dirty="0">
                <a:latin typeface="Cambria" panose="02040503050406030204" pitchFamily="18" charset="0"/>
                <a:ea typeface="Cambria" panose="02040503050406030204" pitchFamily="18" charset="0"/>
              </a:rPr>
              <a:t>3. После определенного предела дополнительное выделение основной памяти некоторому процессу в соответствии с принципом локальности не будет приводить к сколь-нибудь значительному снижению частоты возникновения прерываний из-за отсутствия страницы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Управление резидентным множеством</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656135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С учетом этих факторов в современных операционных системах используются два типа стратегий</a:t>
            </a:r>
          </a:p>
          <a:p>
            <a:pPr marL="0" indent="0">
              <a:buNone/>
            </a:pPr>
            <a:r>
              <a:rPr lang="ru-RU" dirty="0">
                <a:latin typeface="Cambria" panose="02040503050406030204" pitchFamily="18" charset="0"/>
                <a:ea typeface="Cambria" panose="02040503050406030204" pitchFamily="18" charset="0"/>
              </a:rPr>
              <a:t>Стратегия </a:t>
            </a:r>
            <a:r>
              <a:rPr lang="ru-RU" b="1" dirty="0">
                <a:latin typeface="Cambria" panose="02040503050406030204" pitchFamily="18" charset="0"/>
                <a:ea typeface="Cambria" panose="02040503050406030204" pitchFamily="18" charset="0"/>
              </a:rPr>
              <a:t>фиксированного распределения</a:t>
            </a:r>
            <a:r>
              <a:rPr lang="ru-RU" dirty="0">
                <a:latin typeface="Cambria" panose="02040503050406030204" pitchFamily="18" charset="0"/>
                <a:ea typeface="Cambria" panose="02040503050406030204" pitchFamily="18" charset="0"/>
              </a:rPr>
              <a:t> выделяет процессу фиксированное количество кадров основной памяти, в пределах которого он выполняется</a:t>
            </a:r>
          </a:p>
          <a:p>
            <a:pPr marL="0" indent="0">
              <a:buNone/>
            </a:pPr>
            <a:r>
              <a:rPr lang="ru-RU" dirty="0">
                <a:latin typeface="Cambria" panose="02040503050406030204" pitchFamily="18" charset="0"/>
                <a:ea typeface="Cambria" panose="02040503050406030204" pitchFamily="18" charset="0"/>
              </a:rPr>
              <a:t>Это количество определяется в момент начальной загрузки (при создании процесса) и может быть определено на основании типа процесса (интерактивный, пакетный и т.п.) либо на основании указаний программиста или системного администратора</a:t>
            </a:r>
          </a:p>
          <a:p>
            <a:pPr marL="0" indent="0">
              <a:buNone/>
            </a:pPr>
            <a:r>
              <a:rPr lang="ru-RU" dirty="0">
                <a:latin typeface="Cambria" panose="02040503050406030204" pitchFamily="18" charset="0"/>
                <a:ea typeface="Cambria" panose="02040503050406030204" pitchFamily="18" charset="0"/>
              </a:rPr>
              <a:t>При использовании стратегии фиксированного распределения прерывание из-за отсутствия страницы приводит к замещению требуемой страницей одной из страниц процесса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Управление резидентным множеством</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7226108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Стратегия </a:t>
            </a:r>
            <a:r>
              <a:rPr lang="ru-RU" b="1" dirty="0">
                <a:latin typeface="Cambria" panose="02040503050406030204" pitchFamily="18" charset="0"/>
                <a:ea typeface="Cambria" panose="02040503050406030204" pitchFamily="18" charset="0"/>
              </a:rPr>
              <a:t>переменного распределения </a:t>
            </a:r>
            <a:r>
              <a:rPr lang="ru-RU" dirty="0">
                <a:latin typeface="Cambria" panose="02040503050406030204" pitchFamily="18" charset="0"/>
                <a:ea typeface="Cambria" panose="02040503050406030204" pitchFamily="18" charset="0"/>
              </a:rPr>
              <a:t>позволяет количеству выделенных процессу кадров страниц изменяться во время работы процесса</a:t>
            </a:r>
          </a:p>
          <a:p>
            <a:pPr marL="0" indent="0">
              <a:buNone/>
            </a:pPr>
            <a:r>
              <a:rPr lang="ru-RU" dirty="0">
                <a:latin typeface="Cambria" panose="02040503050406030204" pitchFamily="18" charset="0"/>
                <a:ea typeface="Cambria" panose="02040503050406030204" pitchFamily="18" charset="0"/>
              </a:rPr>
              <a:t>В идеале процессу, который страдает от большого количества прерываний из-за отсутствия страницы (принцип локальности для данного процесса выполняется слабо), выделяются дополнительные кадры страниц; и напротив, у процесса, при работе которого таких прерываний относительно мало (что указывает на то, что поведение процесса с точки зрения локальности достаточно хорошее), могут быть изъяты кадры в расчете на то, что это не намного увеличит частоту возникновения прерываний</a:t>
            </a:r>
          </a:p>
          <a:p>
            <a:pPr marL="0" indent="0">
              <a:buNone/>
            </a:pPr>
            <a:r>
              <a:rPr lang="ru-RU" dirty="0">
                <a:latin typeface="Cambria" panose="02040503050406030204" pitchFamily="18" charset="0"/>
                <a:ea typeface="Cambria" panose="02040503050406030204" pitchFamily="18" charset="0"/>
              </a:rPr>
              <a:t>Использование стратегии переменного распределения связано с концепцией </a:t>
            </a:r>
            <a:r>
              <a:rPr lang="ru-RU" b="1" dirty="0">
                <a:latin typeface="Cambria" panose="02040503050406030204" pitchFamily="18" charset="0"/>
                <a:ea typeface="Cambria" panose="02040503050406030204" pitchFamily="18" charset="0"/>
              </a:rPr>
              <a:t>области видимости замещения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Управление резидентным множеством</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550885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Область видимости (</a:t>
            </a:r>
            <a:r>
              <a:rPr lang="ru-RU" dirty="0" err="1">
                <a:latin typeface="Cambria" panose="02040503050406030204" pitchFamily="18" charset="0"/>
                <a:ea typeface="Cambria" panose="02040503050406030204" pitchFamily="18" charset="0"/>
              </a:rPr>
              <a:t>scope</a:t>
            </a:r>
            <a:r>
              <a:rPr lang="ru-RU" dirty="0">
                <a:latin typeface="Cambria" panose="02040503050406030204" pitchFamily="18" charset="0"/>
                <a:ea typeface="Cambria" panose="02040503050406030204" pitchFamily="18" charset="0"/>
              </a:rPr>
              <a:t>) стратегии замещения можно классифицировать как </a:t>
            </a:r>
            <a:r>
              <a:rPr lang="ru-RU" b="1" dirty="0">
                <a:latin typeface="Cambria" panose="02040503050406030204" pitchFamily="18" charset="0"/>
                <a:ea typeface="Cambria" panose="02040503050406030204" pitchFamily="18" charset="0"/>
              </a:rPr>
              <a:t>локальную</a:t>
            </a:r>
            <a:r>
              <a:rPr lang="ru-RU" dirty="0">
                <a:latin typeface="Cambria" panose="02040503050406030204" pitchFamily="18" charset="0"/>
                <a:ea typeface="Cambria" panose="02040503050406030204" pitchFamily="18" charset="0"/>
              </a:rPr>
              <a:t> или </a:t>
            </a:r>
            <a:r>
              <a:rPr lang="ru-RU" b="1" dirty="0">
                <a:latin typeface="Cambria" panose="02040503050406030204" pitchFamily="18" charset="0"/>
                <a:ea typeface="Cambria" panose="02040503050406030204" pitchFamily="18" charset="0"/>
              </a:rPr>
              <a:t>глобальную</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Стратегии обоих типов активируются прерыванием обращения к странице при отсутствии свободных кадров</a:t>
            </a:r>
          </a:p>
          <a:p>
            <a:pPr marL="0" indent="0">
              <a:buNone/>
            </a:pPr>
            <a:r>
              <a:rPr lang="ru-RU" b="1" dirty="0">
                <a:latin typeface="Cambria" panose="02040503050406030204" pitchFamily="18" charset="0"/>
                <a:ea typeface="Cambria" panose="02040503050406030204" pitchFamily="18" charset="0"/>
              </a:rPr>
              <a:t>Локальная стратегия </a:t>
            </a:r>
            <a:r>
              <a:rPr lang="ru-RU" dirty="0">
                <a:latin typeface="Cambria" panose="02040503050406030204" pitchFamily="18" charset="0"/>
                <a:ea typeface="Cambria" panose="02040503050406030204" pitchFamily="18" charset="0"/>
              </a:rPr>
              <a:t>замещения выбирает страницу только среди резидентных страниц того процесса, который стал причиной прерывания</a:t>
            </a:r>
          </a:p>
          <a:p>
            <a:pPr marL="0" indent="0">
              <a:buNone/>
            </a:pPr>
            <a:r>
              <a:rPr lang="ru-RU" b="1" dirty="0">
                <a:latin typeface="Cambria" panose="02040503050406030204" pitchFamily="18" charset="0"/>
                <a:ea typeface="Cambria" panose="02040503050406030204" pitchFamily="18" charset="0"/>
              </a:rPr>
              <a:t>Глобальная стратегия </a:t>
            </a:r>
            <a:r>
              <a:rPr lang="ru-RU" dirty="0">
                <a:latin typeface="Cambria" panose="02040503050406030204" pitchFamily="18" charset="0"/>
                <a:ea typeface="Cambria" panose="02040503050406030204" pitchFamily="18" charset="0"/>
              </a:rPr>
              <a:t>замещения рассматривает в качестве кандидатов на замещение все незаблокированные страницы в основной памяти, независимо от принадлежности конкретной страницы тому или иному процессу</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20740133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Область видимости замещения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688267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Как упоминалось ранее, когда кадр заблокирован, страница, хранящаяся в нем в настоящее время, не может быть заменена </a:t>
            </a:r>
          </a:p>
          <a:p>
            <a:pPr marL="0" indent="0">
              <a:buNone/>
            </a:pPr>
            <a:r>
              <a:rPr lang="ru-RU" dirty="0">
                <a:latin typeface="Cambria" panose="02040503050406030204" pitchFamily="18" charset="0"/>
                <a:ea typeface="Cambria" panose="02040503050406030204" pitchFamily="18" charset="0"/>
              </a:rPr>
              <a:t>Разблокированная страница является просто страницей в незаблокированном кадре основной памяти</a:t>
            </a:r>
          </a:p>
          <a:p>
            <a:pPr marL="0" indent="0">
              <a:buNone/>
            </a:pPr>
            <a:r>
              <a:rPr lang="ru-RU" dirty="0">
                <a:latin typeface="Cambria" panose="02040503050406030204" pitchFamily="18" charset="0"/>
                <a:ea typeface="Cambria" panose="02040503050406030204" pitchFamily="18" charset="0"/>
              </a:rPr>
              <a:t>Хотя локальная стратегия и проще для анализа, нет убедительных доказательств того, что она дает лучшие результаты по сравнению с глобальной стратегией, которая привлекает своей простотой реализации и минимальными накладным и расходами</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Область видимости замещения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9477328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Имеется связь между областью видимости замещения и размером резидентного множества</a:t>
            </a:r>
          </a:p>
          <a:p>
            <a:pPr marL="0" indent="0">
              <a:buNone/>
            </a:pPr>
            <a:r>
              <a:rPr lang="ru-RU" dirty="0">
                <a:latin typeface="Cambria" panose="02040503050406030204" pitchFamily="18" charset="0"/>
                <a:ea typeface="Cambria" panose="02040503050406030204" pitchFamily="18" charset="0"/>
              </a:rPr>
              <a:t>Фиксированное резидентное множество приводит к локальной стратегии замещения – для поддержания фиксированного размера резидентного множества удаляемая из основной памяти страница должна быть замещена другой страницей того же процесса </a:t>
            </a:r>
          </a:p>
          <a:p>
            <a:pPr marL="0" indent="0">
              <a:buNone/>
            </a:pPr>
            <a:r>
              <a:rPr lang="ru-RU" dirty="0">
                <a:latin typeface="Cambria" panose="02040503050406030204" pitchFamily="18" charset="0"/>
                <a:ea typeface="Cambria" panose="02040503050406030204" pitchFamily="18" charset="0"/>
              </a:rPr>
              <a:t>Стратегия переменного распределения, естественно, совместима с глобальным замещением: замена страницы одного процесса в основной памяти страницей другого процесса приводит к перераспределению размеров содержащихся в основной памяти частей процессов</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Область видимости замещения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3045437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Область видимости замещения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C76A73FA-43FF-3BAF-3BE9-9B8991B82E22}"/>
              </a:ext>
            </a:extLst>
          </p:cNvPr>
          <p:cNvPicPr>
            <a:picLocks noChangeAspect="1"/>
          </p:cNvPicPr>
          <p:nvPr/>
        </p:nvPicPr>
        <p:blipFill>
          <a:blip r:embed="rId2"/>
          <a:stretch>
            <a:fillRect/>
          </a:stretch>
        </p:blipFill>
        <p:spPr>
          <a:xfrm>
            <a:off x="771525" y="1815353"/>
            <a:ext cx="10648950" cy="4572000"/>
          </a:xfrm>
          <a:prstGeom prst="rect">
            <a:avLst/>
          </a:prstGeom>
        </p:spPr>
      </p:pic>
    </p:spTree>
    <p:extLst>
      <p:ext uri="{BB962C8B-B14F-4D97-AF65-F5344CB8AC3E}">
        <p14:creationId xmlns:p14="http://schemas.microsoft.com/office/powerpoint/2010/main" val="37173288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b="1" dirty="0">
                <a:latin typeface="Cambria" panose="02040503050406030204" pitchFamily="18" charset="0"/>
                <a:ea typeface="Cambria" panose="02040503050406030204" pitchFamily="18" charset="0"/>
              </a:rPr>
              <a:t>Стратегия очистки </a:t>
            </a:r>
            <a:r>
              <a:rPr lang="ru-RU" dirty="0">
                <a:latin typeface="Cambria" panose="02040503050406030204" pitchFamily="18" charset="0"/>
                <a:ea typeface="Cambria" panose="02040503050406030204" pitchFamily="18" charset="0"/>
              </a:rPr>
              <a:t>является противоположностью стратегии выборки</a:t>
            </a:r>
          </a:p>
          <a:p>
            <a:pPr marL="0" indent="0">
              <a:buNone/>
            </a:pPr>
            <a:r>
              <a:rPr lang="ru-RU" dirty="0">
                <a:latin typeface="Cambria" panose="02040503050406030204" pitchFamily="18" charset="0"/>
                <a:ea typeface="Cambria" panose="02040503050406030204" pitchFamily="18" charset="0"/>
              </a:rPr>
              <a:t>Ее задача состоит в определении момента, когда измененная страница должна быть записана во вторичную память</a:t>
            </a:r>
          </a:p>
          <a:p>
            <a:pPr marL="0" indent="0">
              <a:buNone/>
            </a:pPr>
            <a:r>
              <a:rPr lang="ru-RU" dirty="0">
                <a:latin typeface="Cambria" panose="02040503050406030204" pitchFamily="18" charset="0"/>
                <a:ea typeface="Cambria" panose="02040503050406030204" pitchFamily="18" charset="0"/>
              </a:rPr>
              <a:t>Два основных ее метода – </a:t>
            </a:r>
            <a:r>
              <a:rPr lang="ru-RU" b="1" dirty="0">
                <a:latin typeface="Cambria" panose="02040503050406030204" pitchFamily="18" charset="0"/>
                <a:ea typeface="Cambria" panose="02040503050406030204" pitchFamily="18" charset="0"/>
              </a:rPr>
              <a:t>очистка по требованию </a:t>
            </a:r>
            <a:r>
              <a:rPr lang="ru-RU" dirty="0">
                <a:latin typeface="Cambria" panose="02040503050406030204" pitchFamily="18" charset="0"/>
                <a:ea typeface="Cambria" panose="02040503050406030204" pitchFamily="18" charset="0"/>
              </a:rPr>
              <a:t>и </a:t>
            </a:r>
            <a:r>
              <a:rPr lang="ru-RU" b="1" dirty="0">
                <a:latin typeface="Cambria" panose="02040503050406030204" pitchFamily="18" charset="0"/>
                <a:ea typeface="Cambria" panose="02040503050406030204" pitchFamily="18" charset="0"/>
              </a:rPr>
              <a:t>предварительная очистка</a:t>
            </a:r>
          </a:p>
          <a:p>
            <a:pPr marL="0" indent="0">
              <a:buNone/>
            </a:pPr>
            <a:r>
              <a:rPr lang="ru-RU" b="1" dirty="0">
                <a:latin typeface="Cambria" panose="02040503050406030204" pitchFamily="18" charset="0"/>
                <a:ea typeface="Cambria" panose="02040503050406030204" pitchFamily="18" charset="0"/>
              </a:rPr>
              <a:t>При очистке по требованию </a:t>
            </a:r>
            <a:r>
              <a:rPr lang="ru-RU" dirty="0">
                <a:latin typeface="Cambria" panose="02040503050406030204" pitchFamily="18" charset="0"/>
                <a:ea typeface="Cambria" panose="02040503050406030204" pitchFamily="18" charset="0"/>
              </a:rPr>
              <a:t>страница записывается во вторичную память только тогда, когда она выбирается для замещения </a:t>
            </a:r>
          </a:p>
          <a:p>
            <a:pPr marL="0" indent="0">
              <a:buNone/>
            </a:pPr>
            <a:r>
              <a:rPr lang="ru-RU" b="1" dirty="0">
                <a:latin typeface="Cambria" panose="02040503050406030204" pitchFamily="18" charset="0"/>
                <a:ea typeface="Cambria" panose="02040503050406030204" pitchFamily="18" charset="0"/>
              </a:rPr>
              <a:t>Предварительная очистка </a:t>
            </a:r>
            <a:r>
              <a:rPr lang="ru-RU" dirty="0">
                <a:latin typeface="Cambria" panose="02040503050406030204" pitchFamily="18" charset="0"/>
                <a:ea typeface="Cambria" panose="02040503050406030204" pitchFamily="18" charset="0"/>
              </a:rPr>
              <a:t>записывает модифицированные страницы до того, как потребуются занимаемые ими кадры, так что эти страницы могут записываться целыми пакетами</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26960705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Стратегия очистки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2251769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Прямолинейное следование любой из стратегий чревато неприятностями</a:t>
            </a:r>
          </a:p>
          <a:p>
            <a:pPr marL="0" indent="0">
              <a:buNone/>
            </a:pPr>
            <a:r>
              <a:rPr lang="ru-RU" dirty="0">
                <a:latin typeface="Cambria" panose="02040503050406030204" pitchFamily="18" charset="0"/>
                <a:ea typeface="Cambria" panose="02040503050406030204" pitchFamily="18" charset="0"/>
              </a:rPr>
              <a:t>При предварительной очистке записанная страница остается в основной памяти до тех пор, пока ее не удалит оттуда алгоритм замещения</a:t>
            </a:r>
          </a:p>
          <a:p>
            <a:pPr marL="0" indent="0">
              <a:buNone/>
            </a:pPr>
            <a:r>
              <a:rPr lang="ru-RU" dirty="0">
                <a:latin typeface="Cambria" panose="02040503050406030204" pitchFamily="18" charset="0"/>
                <a:ea typeface="Cambria" panose="02040503050406030204" pitchFamily="18" charset="0"/>
              </a:rPr>
              <a:t>Предварительная очистка позволяет записывать страницы пакетами, но не имеет смысла записывать сотни или тысячи страниц только для того, чтобы убедиться, что до замещения они вновь успели модифицироваться</a:t>
            </a:r>
          </a:p>
          <a:p>
            <a:pPr marL="0" indent="0">
              <a:buNone/>
            </a:pPr>
            <a:r>
              <a:rPr lang="ru-RU" dirty="0">
                <a:latin typeface="Cambria" panose="02040503050406030204" pitchFamily="18" charset="0"/>
                <a:ea typeface="Cambria" panose="02040503050406030204" pitchFamily="18" charset="0"/>
              </a:rPr>
              <a:t>Пропускная способность вторичной памяти ограничена и не должна засоряться излишними операциями очистки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Стратегия очистки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4187158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20000"/>
          </a:bodyPr>
          <a:lstStyle/>
          <a:p>
            <a:pPr marL="0" indent="0">
              <a:buNone/>
            </a:pPr>
            <a:r>
              <a:rPr lang="ru-RU" dirty="0">
                <a:latin typeface="Cambria" panose="02040503050406030204" pitchFamily="18" charset="0"/>
                <a:ea typeface="Cambria" panose="02040503050406030204" pitchFamily="18" charset="0"/>
              </a:rPr>
              <a:t>С другой стороны, при очистке по требованию запись модифицированной страницы сопровождается чтением новой страницы, предшествуя ей, так что несмотря на минимизацию записей страниц прерывание обращения может вызывать пересылку двух страниц между основной и вторичной памятью и тем самым снижать эффективность использования процессора</a:t>
            </a:r>
          </a:p>
          <a:p>
            <a:pPr marL="0" indent="0">
              <a:buNone/>
            </a:pPr>
            <a:r>
              <a:rPr lang="ru-RU" dirty="0">
                <a:latin typeface="Cambria" panose="02040503050406030204" pitchFamily="18" charset="0"/>
                <a:ea typeface="Cambria" panose="02040503050406030204" pitchFamily="18" charset="0"/>
              </a:rPr>
              <a:t>Улучшенный подход включает буферизацию страниц, что позволяет принять следующую стратегию: очищать только замещаемые страницы, но при этом разделять операции очистки и замещения</a:t>
            </a:r>
          </a:p>
          <a:p>
            <a:pPr marL="0" indent="0">
              <a:buNone/>
            </a:pPr>
            <a:r>
              <a:rPr lang="ru-RU" dirty="0">
                <a:latin typeface="Cambria" panose="02040503050406030204" pitchFamily="18" charset="0"/>
                <a:ea typeface="Cambria" panose="02040503050406030204" pitchFamily="18" charset="0"/>
              </a:rPr>
              <a:t>При использовании буферизации страниц замещаемые страницы могут находиться в двух списках: модифицированных и </a:t>
            </a:r>
            <a:r>
              <a:rPr lang="ru-RU" dirty="0" err="1">
                <a:latin typeface="Cambria" panose="02040503050406030204" pitchFamily="18" charset="0"/>
                <a:ea typeface="Cambria" panose="02040503050406030204" pitchFamily="18" charset="0"/>
              </a:rPr>
              <a:t>немодифицированных</a:t>
            </a:r>
            <a:r>
              <a:rPr lang="ru-RU">
                <a:latin typeface="Cambria" panose="02040503050406030204" pitchFamily="18" charset="0"/>
                <a:ea typeface="Cambria" panose="02040503050406030204" pitchFamily="18" charset="0"/>
              </a:rPr>
              <a:t> страниц</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Страницы из списка модифицированных могут периодически записываться пакетами и переноситься в список </a:t>
            </a:r>
            <a:r>
              <a:rPr lang="ru-RU" dirty="0" err="1">
                <a:latin typeface="Cambria" panose="02040503050406030204" pitchFamily="18" charset="0"/>
                <a:ea typeface="Cambria" panose="02040503050406030204" pitchFamily="18" charset="0"/>
              </a:rPr>
              <a:t>немодифицированных</a:t>
            </a:r>
            <a:r>
              <a:rPr lang="ru-RU" dirty="0">
                <a:latin typeface="Cambria" panose="02040503050406030204" pitchFamily="18" charset="0"/>
                <a:ea typeface="Cambria" panose="02040503050406030204" pitchFamily="18" charset="0"/>
              </a:rPr>
              <a:t>. Страница из списка </a:t>
            </a:r>
            <a:r>
              <a:rPr lang="ru-RU" dirty="0" err="1">
                <a:latin typeface="Cambria" panose="02040503050406030204" pitchFamily="18" charset="0"/>
                <a:ea typeface="Cambria" panose="02040503050406030204" pitchFamily="18" charset="0"/>
              </a:rPr>
              <a:t>немодифицированных</a:t>
            </a:r>
            <a:r>
              <a:rPr lang="ru-RU" dirty="0">
                <a:latin typeface="Cambria" panose="02040503050406030204" pitchFamily="18" charset="0"/>
                <a:ea typeface="Cambria" panose="02040503050406030204" pitchFamily="18" charset="0"/>
              </a:rPr>
              <a:t> страниц может либо быть удалена из него при обращении к ней, либо потеряна при за грузке в ее кадр новой страницы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Стратегия очистки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7698182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2802402" y="3635620"/>
            <a:ext cx="6587197" cy="461839"/>
          </a:xfrm>
          <a:effectLst>
            <a:outerShdw blurRad="50800" dist="38100" dir="2700000" algn="tl" rotWithShape="0">
              <a:prstClr val="black">
                <a:alpha val="40000"/>
              </a:prstClr>
            </a:outerShdw>
          </a:effectLst>
        </p:spPr>
        <p:txBody>
          <a:bodyPr>
            <a:noAutofit/>
          </a:bodyPr>
          <a:lstStyle/>
          <a:p>
            <a:r>
              <a:rPr lang="ru-RU" sz="2800" b="1" dirty="0">
                <a:latin typeface="Verdana" panose="020B0604030504040204" pitchFamily="34" charset="0"/>
                <a:ea typeface="Verdana" panose="020B0604030504040204" pitchFamily="34" charset="0"/>
              </a:rPr>
              <a:t>Свопинг и виртуальная память</a:t>
            </a:r>
          </a:p>
        </p:txBody>
      </p:sp>
      <p:sp>
        <p:nvSpPr>
          <p:cNvPr id="4" name="TextBox 3">
            <a:extLst>
              <a:ext uri="{FF2B5EF4-FFF2-40B4-BE49-F238E27FC236}">
                <a16:creationId xmlns:a16="http://schemas.microsoft.com/office/drawing/2014/main" id="{6BD3AED9-28E1-DDF9-E07D-185D5DD54F4C}"/>
              </a:ext>
            </a:extLst>
          </p:cNvPr>
          <p:cNvSpPr txBox="1"/>
          <p:nvPr/>
        </p:nvSpPr>
        <p:spPr>
          <a:xfrm>
            <a:off x="3200400"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025642" y="3051019"/>
            <a:ext cx="2140717"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a:t>
            </a:r>
            <a:r>
              <a:rPr lang="en-US" sz="2800" dirty="0">
                <a:latin typeface="Cambria" panose="02040503050406030204" pitchFamily="18" charset="0"/>
                <a:ea typeface="Cambria" panose="02040503050406030204" pitchFamily="18" charset="0"/>
              </a:rPr>
              <a:t>1</a:t>
            </a:r>
            <a:r>
              <a:rPr lang="ru-RU" sz="2800" dirty="0">
                <a:latin typeface="Cambria" panose="02040503050406030204" pitchFamily="18" charset="0"/>
                <a:ea typeface="Cambria" panose="02040503050406030204" pitchFamily="18" charset="0"/>
              </a:rPr>
              <a:t>3.1</a:t>
            </a: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a:cxnSpLocks/>
          </p:cNvCxnSpPr>
          <p:nvPr/>
        </p:nvCxnSpPr>
        <p:spPr>
          <a:xfrm>
            <a:off x="4341228"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55799438"/>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44422</TotalTime>
  <Words>3023</Words>
  <Application>Microsoft Office PowerPoint</Application>
  <PresentationFormat>Widescreen</PresentationFormat>
  <Paragraphs>176</Paragraphs>
  <Slides>44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44</vt:i4>
      </vt:variant>
    </vt:vector>
  </HeadingPairs>
  <TitlesOfParts>
    <vt:vector size="51" baseType="lpstr">
      <vt:lpstr>Arial</vt:lpstr>
      <vt:lpstr>Calibri</vt:lpstr>
      <vt:lpstr>Calibri Light</vt:lpstr>
      <vt:lpstr>Cambria</vt:lpstr>
      <vt:lpstr>Verdana</vt:lpstr>
      <vt:lpstr>Wingdings</vt:lpstr>
      <vt:lpstr>Тема Office</vt:lpstr>
      <vt:lpstr>Операционные системы</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Операционные системы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Pavel Bernatsky</dc:creator>
  <cp:lastModifiedBy>Pavel Bernatsky</cp:lastModifiedBy>
  <cp:revision>1507</cp:revision>
  <cp:lastPrinted>2025-11-01T06:17:20Z</cp:lastPrinted>
  <dcterms:created xsi:type="dcterms:W3CDTF">2024-09-04T11:03:42Z</dcterms:created>
  <dcterms:modified xsi:type="dcterms:W3CDTF">2025-12-15T22:32:49Z</dcterms:modified>
</cp:coreProperties>
</file>