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7"/>
  </p:notesMasterIdLst>
  <p:sldIdLst>
    <p:sldId id="256" r:id="rId2"/>
    <p:sldId id="257" r:id="rId3"/>
    <p:sldId id="301" r:id="rId4"/>
    <p:sldId id="384" r:id="rId5"/>
    <p:sldId id="386" r:id="rId6"/>
    <p:sldId id="387" r:id="rId7"/>
    <p:sldId id="385" r:id="rId8"/>
    <p:sldId id="388" r:id="rId9"/>
    <p:sldId id="389" r:id="rId10"/>
    <p:sldId id="320" r:id="rId11"/>
    <p:sldId id="321" r:id="rId12"/>
    <p:sldId id="324" r:id="rId13"/>
    <p:sldId id="294" r:id="rId14"/>
    <p:sldId id="326" r:id="rId15"/>
    <p:sldId id="325" r:id="rId16"/>
    <p:sldId id="391" r:id="rId17"/>
    <p:sldId id="390" r:id="rId18"/>
    <p:sldId id="392" r:id="rId19"/>
    <p:sldId id="393" r:id="rId20"/>
    <p:sldId id="327" r:id="rId21"/>
    <p:sldId id="394" r:id="rId22"/>
    <p:sldId id="407" r:id="rId23"/>
    <p:sldId id="408" r:id="rId24"/>
    <p:sldId id="410" r:id="rId25"/>
    <p:sldId id="409" r:id="rId26"/>
    <p:sldId id="330" r:id="rId27"/>
    <p:sldId id="345" r:id="rId28"/>
    <p:sldId id="329" r:id="rId29"/>
    <p:sldId id="348" r:id="rId30"/>
    <p:sldId id="331" r:id="rId31"/>
    <p:sldId id="342" r:id="rId32"/>
    <p:sldId id="346" r:id="rId33"/>
    <p:sldId id="339" r:id="rId34"/>
    <p:sldId id="340" r:id="rId35"/>
    <p:sldId id="343" r:id="rId36"/>
    <p:sldId id="332" r:id="rId37"/>
    <p:sldId id="350" r:id="rId38"/>
    <p:sldId id="333" r:id="rId39"/>
    <p:sldId id="334" r:id="rId40"/>
    <p:sldId id="349" r:id="rId41"/>
    <p:sldId id="335" r:id="rId42"/>
    <p:sldId id="337" r:id="rId43"/>
    <p:sldId id="341" r:id="rId44"/>
    <p:sldId id="352" r:id="rId45"/>
    <p:sldId id="395" r:id="rId46"/>
    <p:sldId id="396" r:id="rId47"/>
    <p:sldId id="397" r:id="rId48"/>
    <p:sldId id="398" r:id="rId49"/>
    <p:sldId id="399" r:id="rId50"/>
    <p:sldId id="347" r:id="rId51"/>
    <p:sldId id="354" r:id="rId52"/>
    <p:sldId id="400" r:id="rId53"/>
    <p:sldId id="401" r:id="rId54"/>
    <p:sldId id="356" r:id="rId55"/>
    <p:sldId id="357" r:id="rId56"/>
    <p:sldId id="358" r:id="rId57"/>
    <p:sldId id="359" r:id="rId58"/>
    <p:sldId id="360" r:id="rId59"/>
    <p:sldId id="361" r:id="rId60"/>
    <p:sldId id="362" r:id="rId61"/>
    <p:sldId id="363" r:id="rId62"/>
    <p:sldId id="364" r:id="rId63"/>
    <p:sldId id="365" r:id="rId64"/>
    <p:sldId id="366" r:id="rId65"/>
    <p:sldId id="367" r:id="rId66"/>
    <p:sldId id="368" r:id="rId67"/>
    <p:sldId id="369" r:id="rId68"/>
    <p:sldId id="370" r:id="rId69"/>
    <p:sldId id="371" r:id="rId70"/>
    <p:sldId id="372" r:id="rId71"/>
    <p:sldId id="373" r:id="rId72"/>
    <p:sldId id="374" r:id="rId73"/>
    <p:sldId id="375" r:id="rId74"/>
    <p:sldId id="376" r:id="rId75"/>
    <p:sldId id="377" r:id="rId76"/>
    <p:sldId id="378" r:id="rId77"/>
    <p:sldId id="379" r:id="rId78"/>
    <p:sldId id="380" r:id="rId79"/>
    <p:sldId id="382" r:id="rId80"/>
    <p:sldId id="402" r:id="rId81"/>
    <p:sldId id="403" r:id="rId82"/>
    <p:sldId id="404" r:id="rId83"/>
    <p:sldId id="405" r:id="rId84"/>
    <p:sldId id="406" r:id="rId85"/>
    <p:sldId id="353" r:id="rId86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465B88BE-7067-4E01-A3DC-10AFCF848BC8}">
          <p14:sldIdLst>
            <p14:sldId id="256"/>
            <p14:sldId id="257"/>
            <p14:sldId id="301"/>
            <p14:sldId id="384"/>
            <p14:sldId id="386"/>
            <p14:sldId id="387"/>
            <p14:sldId id="385"/>
            <p14:sldId id="388"/>
            <p14:sldId id="389"/>
            <p14:sldId id="320"/>
            <p14:sldId id="321"/>
            <p14:sldId id="324"/>
            <p14:sldId id="294"/>
            <p14:sldId id="326"/>
            <p14:sldId id="325"/>
            <p14:sldId id="391"/>
            <p14:sldId id="390"/>
            <p14:sldId id="392"/>
            <p14:sldId id="393"/>
            <p14:sldId id="327"/>
            <p14:sldId id="394"/>
            <p14:sldId id="407"/>
            <p14:sldId id="408"/>
            <p14:sldId id="410"/>
            <p14:sldId id="409"/>
            <p14:sldId id="330"/>
            <p14:sldId id="345"/>
            <p14:sldId id="329"/>
            <p14:sldId id="348"/>
            <p14:sldId id="331"/>
            <p14:sldId id="342"/>
            <p14:sldId id="346"/>
            <p14:sldId id="339"/>
            <p14:sldId id="340"/>
            <p14:sldId id="343"/>
            <p14:sldId id="332"/>
            <p14:sldId id="350"/>
            <p14:sldId id="333"/>
            <p14:sldId id="334"/>
            <p14:sldId id="349"/>
            <p14:sldId id="335"/>
            <p14:sldId id="337"/>
            <p14:sldId id="341"/>
            <p14:sldId id="352"/>
            <p14:sldId id="395"/>
            <p14:sldId id="396"/>
            <p14:sldId id="397"/>
            <p14:sldId id="398"/>
            <p14:sldId id="399"/>
            <p14:sldId id="347"/>
            <p14:sldId id="354"/>
            <p14:sldId id="400"/>
            <p14:sldId id="401"/>
            <p14:sldId id="356"/>
            <p14:sldId id="357"/>
            <p14:sldId id="358"/>
            <p14:sldId id="359"/>
            <p14:sldId id="360"/>
            <p14:sldId id="361"/>
            <p14:sldId id="362"/>
            <p14:sldId id="363"/>
            <p14:sldId id="364"/>
            <p14:sldId id="365"/>
            <p14:sldId id="366"/>
            <p14:sldId id="367"/>
            <p14:sldId id="368"/>
            <p14:sldId id="369"/>
            <p14:sldId id="370"/>
            <p14:sldId id="371"/>
            <p14:sldId id="372"/>
            <p14:sldId id="373"/>
            <p14:sldId id="374"/>
            <p14:sldId id="375"/>
            <p14:sldId id="376"/>
            <p14:sldId id="377"/>
            <p14:sldId id="378"/>
            <p14:sldId id="379"/>
            <p14:sldId id="380"/>
            <p14:sldId id="382"/>
            <p14:sldId id="402"/>
            <p14:sldId id="403"/>
            <p14:sldId id="404"/>
            <p14:sldId id="405"/>
            <p14:sldId id="406"/>
            <p14:sldId id="35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avel Bernatsky" initials="PB" lastIdx="1" clrIdx="0">
    <p:extLst>
      <p:ext uri="{19B8F6BF-5375-455C-9EA6-DF929625EA0E}">
        <p15:presenceInfo xmlns:p15="http://schemas.microsoft.com/office/powerpoint/2012/main" userId="ccc84f90653f6d9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3" d="100"/>
          <a:sy n="93" d="100"/>
        </p:scale>
        <p:origin x="259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viewProps" Target="viewProps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commentAuthors" Target="commentAuthors.xml"/><Relationship Id="rId9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ableStyles" Target="tableStyle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notesMaster" Target="notesMasters/notesMaster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E1C54A-6947-426C-B525-F25AAC6D8000}" type="datetimeFigureOut">
              <a:rPr lang="LID4096" smtClean="0"/>
              <a:t>11/28/2025</a:t>
            </a:fld>
            <a:endParaRPr lang="LID4096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5E16E5-A75C-4DD5-8B93-6FB68F18C13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0975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E16E5-A75C-4DD5-8B93-6FB68F18C130}" type="slidenum">
              <a:rPr lang="LID4096" smtClean="0"/>
              <a:t>58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554078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47616F-E2AF-5AFF-C83A-FE3735AD8C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FF40183-988B-BA61-B91E-493895FD9C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F93C7B4-DBE6-06CE-CFC7-F4ED4D997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11/28/2025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B5BB8FF-A395-C430-3789-0945A5312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9F6F5BE-4CB2-9257-FD2E-739215DBF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954622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F2D562-7427-3307-029D-4B44232FB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B8B9DD3-38AD-093A-348B-69D8AF9585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F409026-C297-8D81-0690-BCF909A21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11/28/2025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3B93BB5-71D6-265C-76BF-7BA55253D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5B812ED-7C3E-2E99-174E-7CBA5506E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928364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27F112-08AD-1D83-FA9D-D723E27CA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9D4462B-7C02-3784-D700-720E99BA1E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7B8AEC1-27F7-FAA3-29A1-66B8783B8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11/28/2025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59F6EE4-5AF4-CE7C-B7F4-C587BFECE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9262F68-CBA3-0915-2295-961EC87EC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2701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EAAB05-2830-EFAE-DE4B-ACD17427A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14D6307-654D-D982-4407-B8F3D79466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E186F62-1DB1-3C6F-EA13-795572FAE5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7940FA2-011F-64EB-05FB-8559EF775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11/28/2025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D7AD932-F2FD-1AF1-F4D9-F5E82D0C6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3145922-4144-9D1A-7394-C37497389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93752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4C79E9-E032-A699-2CFB-44AC92832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B2F1728-CD76-7149-9437-8308AF8E6C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E31FA6F-EC02-4DE3-6650-B80F00E860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6F9C784-C313-EF39-B97C-F19B68E627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9EC93D1-A12D-D057-6BE7-78586123AF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39B00CC-01F6-7087-C302-940F9C98E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11/28/2025</a:t>
            </a:fld>
            <a:endParaRPr lang="LID4096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6EBCC5B-A9F4-C18A-35F5-2949CEAAC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3B8B959-499F-742D-E1FF-78941C4BC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10290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1B2447-25C4-6DCF-DAD4-FEDF21FF1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846070A-CABC-8A01-79F7-51A84F443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11/28/2025</a:t>
            </a:fld>
            <a:endParaRPr lang="LID4096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6485DBC-EE1F-353D-3249-9E99780A5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FD416B2-2B57-8CF9-D053-EF6A7AB1F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36694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A9FDE4F-142C-5FCB-A615-EDAA13534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11/28/2025</a:t>
            </a:fld>
            <a:endParaRPr lang="LID4096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B6EB5D2-B75C-FB77-8F63-19FA53844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BB97733-0993-8A78-D35D-65EA8B9F8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00510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D8FC8E-4425-CC0C-710F-98C6425E3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473CCAC-EA76-40D6-17B2-7C2AFD435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FDA7B0-EDAC-58A1-8AED-C4E8D631B6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7C5F31B-981C-419A-6E49-3095113FB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11/28/2025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98C04E2-0ACD-F790-199B-7863EDE02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70F2067-A078-C57A-9204-3A8B2F260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9211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129DED-D98F-B6A2-AD7C-772F99A34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00C5605-1482-0713-0D51-A3FAC78156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6A60C0B-E2FB-D11A-ADBF-D996E01CFA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4DE09DD-B690-CF21-DFC4-F02331B63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11/28/2025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D16318B-2EDE-3598-7847-C4B423955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97F3B72-6E6E-8853-E9C1-9458DC7C6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11409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432ABC-7F92-53F8-6B38-14EBA795E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C74F8DD-3073-73DB-0FEC-83EE799CF0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D52118E-3EA2-A9A4-2BC2-E44B3237E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11/28/2025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F9690F8-6FA6-1F50-D67E-E66228911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D72A8B7-B8F9-CA99-A4E2-0D1A64111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92678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04C6878-D0A6-5DB7-DDA4-5524F63A10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4290E6A-E317-C5F4-3234-CA514674E1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927F236-BB3C-2C98-8A01-D57936776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11/28/2025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FB6E046-C620-4F58-405E-9C0103599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D06496C-B074-7D9D-1BB6-63F00672A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1811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8D0170-EF02-F5B2-75D2-863D12552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17FE9A8-6239-E8DA-5893-CC54DCF5A6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5C7A97B-8B60-4C6E-4780-AF77C5AA11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4700BE-7692-4207-B54B-A48E0B87749C}" type="datetimeFigureOut">
              <a:rPr lang="LID4096" smtClean="0"/>
              <a:t>11/28/2025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09804F4-87F9-55E6-92A8-EB0A9D1E61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E4F28E9-786F-C124-9986-B7AAB37E4D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003678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linux-kernel-labs.github.io/refs/heads/master/lectures/processes.html#struct-task-struct" TargetMode="External"/><Relationship Id="rId2" Type="http://schemas.openxmlformats.org/officeDocument/2006/relationships/hyperlink" Target="https://www.geoffchappell.com/studies/windows/km/ntoskrnl/inc/ntos/ps/eprocess/index.htm?tx=160&amp;ts=0,413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windows/win32/api/processthreadsapi/nf-processthreadsapi-createprocessw" TargetMode="External"/><Relationship Id="rId2" Type="http://schemas.openxmlformats.org/officeDocument/2006/relationships/hyperlink" Target="https://learn.microsoft.com/en-us/windows/win32/api/processthreadsapi/nf-processthreadsapi-createprocessa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windows/win32/api/processthreadsapi/nf-processthreadsapi-createprocessw" TargetMode="External"/><Relationship Id="rId2" Type="http://schemas.openxmlformats.org/officeDocument/2006/relationships/hyperlink" Target="https://learn.microsoft.com/en-us/windows/win32/api/processthreadsapi/nf-processthreadsapi-createprocessa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windows/desktop/api/sysinfoapi/nf-sysinfoapi-getwindowsdirectorya" TargetMode="External"/><Relationship Id="rId2" Type="http://schemas.openxmlformats.org/officeDocument/2006/relationships/hyperlink" Target="https://learn.microsoft.com/en-us/windows/desktop/api/sysinfoapi/nf-sysinfoapi-getsystemdirectorya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windows/win32/api/synchapi/nf-synchapi-waitformultipleobjects" TargetMode="External"/><Relationship Id="rId2" Type="http://schemas.openxmlformats.org/officeDocument/2006/relationships/hyperlink" Target="https://learn.microsoft.com/en-us/windows/win32/api/synchapi/nf-synchapi-waitforsingleobject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windows/win32/api/synchapi/nf-synchapi-waitformultipleobjects" TargetMode="External"/><Relationship Id="rId2" Type="http://schemas.openxmlformats.org/officeDocument/2006/relationships/hyperlink" Target="https://learn.microsoft.com/en-us/windows/win32/api/synchapi/nf-synchapi-waitforsingleobject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windows/win32/api/processthreadsapi/nf-processthreadsapi-terminateprocess" TargetMode="External"/><Relationship Id="rId7" Type="http://schemas.openxmlformats.org/officeDocument/2006/relationships/image" Target="../media/image18.png"/><Relationship Id="rId2" Type="http://schemas.openxmlformats.org/officeDocument/2006/relationships/hyperlink" Target="https://learn.microsoft.com/en-us/windows/win32/api/processthreadsapi/nf-processthreadsapi-exitprocess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hyperlink" Target="https://learn.microsoft.com/en-us/windows/win32/api/handleapi/nf-handleapi-closehandle" TargetMode="Externa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pubs.opengroup.org/onlinepubs/9799919799/functions/exec.html" TargetMode="External"/><Relationship Id="rId2" Type="http://schemas.openxmlformats.org/officeDocument/2006/relationships/hyperlink" Target="https://pubs.opengroup.org/onlinepubs/9799919799/functions/fork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pubs.opengroup.org/onlinepubs/9799919799/functions/wait.html" TargetMode="Externa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ubs.opengroup.org/onlinepubs/9799919799/functions/exit.html" TargetMode="Externa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pubs.opengroup.org/onlinepubs/9799919799/functions/system.html" TargetMode="External"/><Relationship Id="rId2" Type="http://schemas.openxmlformats.org/officeDocument/2006/relationships/hyperlink" Target="https://learn.microsoft.com/en-us/cpp/c-runtime-library/reference/system-wsystem?view=msvc-170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hyperlink" Target="https://www.man7.org/linux/man-pages/man3/system.3.html" TargetMode="Externa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hyperlink" Target="https://pubs.opengroup.org/onlinepubs/9799919799/functions/getenv.html" TargetMode="External"/><Relationship Id="rId13" Type="http://schemas.openxmlformats.org/officeDocument/2006/relationships/hyperlink" Target="https://learn.microsoft.com/en-us/windows/desktop/api/WinBase/nf-winbase-setcurrentdirectory" TargetMode="External"/><Relationship Id="rId3" Type="http://schemas.openxmlformats.org/officeDocument/2006/relationships/hyperlink" Target="https://learn.microsoft.com/en-us/windows/win32/api/processthreadsapi/nf-processthreadsapi-getprocessid" TargetMode="External"/><Relationship Id="rId7" Type="http://schemas.openxmlformats.org/officeDocument/2006/relationships/hyperlink" Target="https://learn.microsoft.com/en-us/windows/desktop/api/WinBase/nf-winbase-setenvironmentvariable" TargetMode="External"/><Relationship Id="rId12" Type="http://schemas.openxmlformats.org/officeDocument/2006/relationships/hyperlink" Target="https://learn.microsoft.com/en-us/windows/desktop/api/WinBase/nf-winbase-getcurrentdirectory" TargetMode="External"/><Relationship Id="rId2" Type="http://schemas.openxmlformats.org/officeDocument/2006/relationships/hyperlink" Target="https://learn.microsoft.com/en-us/windows/win32/api/processthreadsapi/nf-processthreadsapi-getcurrentprocessid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learn.microsoft.com/en-us/windows/desktop/api/WinBase/nf-winbase-getenvironmentvariable" TargetMode="External"/><Relationship Id="rId11" Type="http://schemas.openxmlformats.org/officeDocument/2006/relationships/hyperlink" Target="https://pubs.opengroup.org/onlinepubs/9799919799/functions/unsetenv.html" TargetMode="External"/><Relationship Id="rId5" Type="http://schemas.openxmlformats.org/officeDocument/2006/relationships/hyperlink" Target="https://pubs.opengroup.org/onlinepubs/9799919799/functions/getppid.html" TargetMode="External"/><Relationship Id="rId15" Type="http://schemas.openxmlformats.org/officeDocument/2006/relationships/hyperlink" Target="https://pubs.opengroup.org/onlinepubs/9799919799/functions/chdir.html" TargetMode="External"/><Relationship Id="rId10" Type="http://schemas.openxmlformats.org/officeDocument/2006/relationships/hyperlink" Target="https://pubs.opengroup.org/onlinepubs/9799919799/functions/setenv.html" TargetMode="External"/><Relationship Id="rId4" Type="http://schemas.openxmlformats.org/officeDocument/2006/relationships/hyperlink" Target="https://pubs.opengroup.org/onlinepubs/9799919799/functions/getpid.html" TargetMode="External"/><Relationship Id="rId9" Type="http://schemas.openxmlformats.org/officeDocument/2006/relationships/hyperlink" Target="https://pubs.opengroup.org/onlinepubs/9799919799/functions/putenv.html" TargetMode="External"/><Relationship Id="rId14" Type="http://schemas.openxmlformats.org/officeDocument/2006/relationships/hyperlink" Target="https://pubs.opengroup.org/onlinepubs/9799919799/functions/getcwd.html" TargetMode="Externa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en-us/windows/win32/ipc/pipes" TargetMode="Externa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hyperlink" Target="https://learn.microsoft.com/en-us/windows/desktop/api/namedpipeapi/nf-namedpipeapi-waitnamedpipew" TargetMode="External"/><Relationship Id="rId3" Type="http://schemas.openxmlformats.org/officeDocument/2006/relationships/hyperlink" Target="https://learn.microsoft.com/en-us/windows/win32/api/namedpipeapi/nf-namedpipeapi-createpipe" TargetMode="External"/><Relationship Id="rId7" Type="http://schemas.openxmlformats.org/officeDocument/2006/relationships/hyperlink" Target="https://learn.microsoft.com/en-us/windows/desktop/api/fileapi/nf-fileapi-writefile" TargetMode="External"/><Relationship Id="rId12" Type="http://schemas.openxmlformats.org/officeDocument/2006/relationships/hyperlink" Target="https://learn.microsoft.com/en-us/windows/win32/api/namedpipeapi/nf-namedpipeapi-disconnectnamedpipe" TargetMode="External"/><Relationship Id="rId2" Type="http://schemas.openxmlformats.org/officeDocument/2006/relationships/hyperlink" Target="https://learn.microsoft.com/en-us/windows/win32/ipc/pipes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learn.microsoft.com/en-us/windows/desktop/api/fileapi/nf-fileapi-readfile" TargetMode="External"/><Relationship Id="rId11" Type="http://schemas.openxmlformats.org/officeDocument/2006/relationships/hyperlink" Target="https://learn.microsoft.com/en-us/windows/win32/api/namedpipeapi/nf-namedpipeapi-peeknamedpipe" TargetMode="External"/><Relationship Id="rId5" Type="http://schemas.openxmlformats.org/officeDocument/2006/relationships/hyperlink" Target="https://learn.microsoft.com/en-us/windows/desktop/api/namedpipeapi/nf-namedpipeapi-connectnamedpipe" TargetMode="External"/><Relationship Id="rId10" Type="http://schemas.openxmlformats.org/officeDocument/2006/relationships/hyperlink" Target="https://learn.microsoft.com/en-us/windows/win32/api/handleapi/nf-handleapi-closehandle" TargetMode="External"/><Relationship Id="rId4" Type="http://schemas.openxmlformats.org/officeDocument/2006/relationships/hyperlink" Target="https://learn.microsoft.com/en-us/windows/win32/api/namedpipeapi/nf-namedpipeapi-createnamedpipew" TargetMode="External"/><Relationship Id="rId9" Type="http://schemas.openxmlformats.org/officeDocument/2006/relationships/hyperlink" Target="https://learn.microsoft.com/en-us/windows/desktop/api/fileapi/nf-fileapi-createfilea" TargetMode="Externa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hyperlink" Target="https://pubs.opengroup.org/onlinepubs/9799919799/functions/mkfifo.html" TargetMode="External"/><Relationship Id="rId7" Type="http://schemas.openxmlformats.org/officeDocument/2006/relationships/hyperlink" Target="https://pubs.opengroup.org/onlinepubs/9799919799/functions/close.html" TargetMode="External"/><Relationship Id="rId2" Type="http://schemas.openxmlformats.org/officeDocument/2006/relationships/hyperlink" Target="https://pubs.opengroup.org/onlinepubs/9799919799/functions/pipe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ubs.opengroup.org/onlinepubs/9799919799/functions/write.html#tag_17_699" TargetMode="External"/><Relationship Id="rId5" Type="http://schemas.openxmlformats.org/officeDocument/2006/relationships/hyperlink" Target="https://pubs.opengroup.org/onlinepubs/9799919799/functions/read.html#tag_17_476" TargetMode="External"/><Relationship Id="rId4" Type="http://schemas.openxmlformats.org/officeDocument/2006/relationships/hyperlink" Target="https://pubs.opengroup.org/onlinepubs/9799919799/functions/open.html" TargetMode="Externa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en-us/windows/win32/ipc/mailslots" TargetMode="Externa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windows/desktop/api/fileapi/nf-fileapi-createfilea" TargetMode="External"/><Relationship Id="rId2" Type="http://schemas.openxmlformats.org/officeDocument/2006/relationships/hyperlink" Target="https://learn.microsoft.com/en-us/windows/desktop/api/Winbase/nf-winbase-createmailslota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learn.microsoft.com/en-us/windows/win32/api/handleapi/nf-handleapi-closehandle" TargetMode="External"/><Relationship Id="rId5" Type="http://schemas.openxmlformats.org/officeDocument/2006/relationships/hyperlink" Target="https://learn.microsoft.com/en-us/windows/desktop/api/fileapi/nf-fileapi-writefile" TargetMode="External"/><Relationship Id="rId4" Type="http://schemas.openxmlformats.org/officeDocument/2006/relationships/hyperlink" Target="https://learn.microsoft.com/en-us/windows/desktop/api/fileapi/nf-fileapi-readfile" TargetMode="Externa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hyperlink" Target="https://pubs.opengroup.org/onlinepubs/9799919799/functions/mq_send.html" TargetMode="External"/><Relationship Id="rId7" Type="http://schemas.openxmlformats.org/officeDocument/2006/relationships/hyperlink" Target="https://pubs.opengroup.org/onlinepubs/9799919799/functions/mq_notify.html" TargetMode="External"/><Relationship Id="rId2" Type="http://schemas.openxmlformats.org/officeDocument/2006/relationships/hyperlink" Target="https://pubs.opengroup.org/onlinepubs/9799919799/functions/mq_open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ubs.opengroup.org/onlinepubs/9799919799/functions/mq_unlink.html" TargetMode="External"/><Relationship Id="rId5" Type="http://schemas.openxmlformats.org/officeDocument/2006/relationships/hyperlink" Target="https://pubs.opengroup.org/onlinepubs/9799919799/functions/mq_close.html" TargetMode="External"/><Relationship Id="rId4" Type="http://schemas.openxmlformats.org/officeDocument/2006/relationships/hyperlink" Target="https://pubs.opengroup.org/onlinepubs/9799919799/functions/mq_receive.html" TargetMode="Externa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hyperlink" Target="https://pubs.opengroup.org/onlinepubs/9799919799/functions/munmap.html" TargetMode="External"/><Relationship Id="rId3" Type="http://schemas.openxmlformats.org/officeDocument/2006/relationships/hyperlink" Target="https://learn.microsoft.com/en-us/windows/desktop/api/winbase/nf-winbase-openfilemappinga" TargetMode="External"/><Relationship Id="rId7" Type="http://schemas.openxmlformats.org/officeDocument/2006/relationships/hyperlink" Target="https://learn.microsoft.com/en-us/windows/desktop/api/memoryapi/nf-memoryapi-unmapviewoffile" TargetMode="External"/><Relationship Id="rId2" Type="http://schemas.openxmlformats.org/officeDocument/2006/relationships/hyperlink" Target="https://learn.microsoft.com/en-us/windows/win32/api/winbase/nf-winbase-createfilemappinga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ubs.opengroup.org/onlinepubs/9799919799/functions/mmap.html" TargetMode="External"/><Relationship Id="rId11" Type="http://schemas.openxmlformats.org/officeDocument/2006/relationships/hyperlink" Target="https://pubs.opengroup.org/onlinepubs/9799919799/functions/shm_unlink.html" TargetMode="External"/><Relationship Id="rId5" Type="http://schemas.openxmlformats.org/officeDocument/2006/relationships/hyperlink" Target="https://learn.microsoft.com/en-us/windows/desktop/api/memoryapi/nf-memoryapi-mapviewoffile" TargetMode="External"/><Relationship Id="rId10" Type="http://schemas.openxmlformats.org/officeDocument/2006/relationships/hyperlink" Target="https://pubs.opengroup.org/onlinepubs/9799919799/functions/close.html" TargetMode="External"/><Relationship Id="rId4" Type="http://schemas.openxmlformats.org/officeDocument/2006/relationships/hyperlink" Target="https://pubs.opengroup.org/onlinepubs/9799919799/functions/shm_open.html" TargetMode="External"/><Relationship Id="rId9" Type="http://schemas.openxmlformats.org/officeDocument/2006/relationships/hyperlink" Target="https://learn.microsoft.com/en-us/windows/desktop/api/handleapi/nf-handleapi-closehandle" TargetMode="Externa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975775-7036-98AF-A483-822007F372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6523" y="1186961"/>
            <a:ext cx="11558954" cy="960194"/>
          </a:xfrm>
          <a:ln>
            <a:noFill/>
          </a:ln>
          <a:effectLst/>
        </p:spPr>
        <p:txBody>
          <a:bodyPr/>
          <a:lstStyle/>
          <a:p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Операционные системы</a:t>
            </a: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649BFEE-497D-21FD-61AE-CA3D267537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10810" y="3697763"/>
            <a:ext cx="9170377" cy="46183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 lnSpcReduction="10000"/>
          </a:bodyPr>
          <a:lstStyle/>
          <a:p>
            <a:r>
              <a:rPr lang="ru-RU" sz="2800" b="1" dirty="0">
                <a:latin typeface="Verdana" panose="020B0604030504040204" pitchFamily="34" charset="0"/>
                <a:ea typeface="Verdana" panose="020B0604030504040204" pitchFamily="34" charset="0"/>
              </a:rPr>
              <a:t>Управление процессами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D3AED9-28E1-DDF9-E07D-185D5DD54F4C}"/>
              </a:ext>
            </a:extLst>
          </p:cNvPr>
          <p:cNvSpPr txBox="1"/>
          <p:nvPr/>
        </p:nvSpPr>
        <p:spPr>
          <a:xfrm>
            <a:off x="3200400" y="650631"/>
            <a:ext cx="5627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LID4096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77C454-9338-E7F4-034B-E11CD51ED0FB}"/>
              </a:ext>
            </a:extLst>
          </p:cNvPr>
          <p:cNvSpPr txBox="1"/>
          <p:nvPr/>
        </p:nvSpPr>
        <p:spPr>
          <a:xfrm>
            <a:off x="5191861" y="3051019"/>
            <a:ext cx="180827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latin typeface="Cambria" panose="02040503050406030204" pitchFamily="18" charset="0"/>
                <a:ea typeface="Cambria" panose="02040503050406030204" pitchFamily="18" charset="0"/>
              </a:rPr>
              <a:t>Лекция 4</a:t>
            </a:r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519E2ADD-505C-77F2-DF62-A29BD8ED577A}"/>
              </a:ext>
            </a:extLst>
          </p:cNvPr>
          <p:cNvCxnSpPr/>
          <p:nvPr/>
        </p:nvCxnSpPr>
        <p:spPr>
          <a:xfrm>
            <a:off x="4339704" y="3574239"/>
            <a:ext cx="350954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9860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4691"/>
            <a:ext cx="10515600" cy="499818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ru-RU" altLang="ru-RU" sz="3200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Понятие «Процесс»</a:t>
            </a:r>
            <a:r>
              <a:rPr lang="en-US" altLang="ru-RU" sz="3200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endParaRPr lang="ru-RU" altLang="ru-RU" sz="3200" dirty="0"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ru-RU" altLang="ru-RU" sz="3200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Ресурсы доступные процессу</a:t>
            </a:r>
            <a:r>
              <a:rPr lang="en-US" altLang="ru-RU" sz="3200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endParaRPr lang="ru-RU" altLang="ru-RU" sz="3200" dirty="0"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ru-RU" altLang="ru-RU" sz="3200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Создание и завершение процессов</a:t>
            </a:r>
            <a:r>
              <a:rPr lang="en-US" altLang="ru-RU" sz="3200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altLang="ru-RU" sz="3200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Функции получения информации о процессе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altLang="ru-RU" sz="3200" dirty="0" err="1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Межпроцессное</a:t>
            </a:r>
            <a:r>
              <a:rPr lang="ru-RU" altLang="ru-RU" sz="3200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взаимодействие</a:t>
            </a:r>
            <a:r>
              <a:rPr lang="en-US" altLang="ru-RU" sz="3200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endParaRPr lang="ru-RU" altLang="ru-RU" sz="3200" dirty="0"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ru-RU" altLang="ru-RU" sz="3200" dirty="0"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ru-RU" altLang="ru-RU" sz="2800" dirty="0"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1180719"/>
              </p:ext>
            </p:extLst>
          </p:nvPr>
        </p:nvGraphicFramePr>
        <p:xfrm>
          <a:off x="921328" y="365126"/>
          <a:ext cx="10432472" cy="1018309"/>
        </p:xfrm>
        <a:graphic>
          <a:graphicData uri="http://schemas.openxmlformats.org/drawingml/2006/table">
            <a:tbl>
              <a:tblPr/>
              <a:tblGrid>
                <a:gridCol w="10432472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kumimoji="0" lang="ru-RU" alt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j-cs"/>
                        </a:rPr>
                        <a:t>План лекции</a:t>
                      </a:r>
                      <a:endParaRPr lang="LID4096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31000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2592732"/>
              </p:ext>
            </p:extLst>
          </p:nvPr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Процесс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1BA808-C3DE-7C0E-BA2D-81B0CBE57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456587"/>
            <a:ext cx="10210800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Процессы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–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это одна из самых старых и наиболее важных абстракций, присущих операционной системе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Они поддерживают возможность осуществления (псевдо) параллельных операций даже при наличии всего одного центрального процессора. Они превращают один центральный процессор в несколько виртуальных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Без абстракции процессов современные вычисления просто не могут существовать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Поэтому стоит начать наше знакомство с миром абстракций предоставляемых ОС именно с них, так что вперёд!</a:t>
            </a: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15841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Процесс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1BA808-C3DE-7C0E-BA2D-81B0CBE57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456586"/>
            <a:ext cx="10210800" cy="503628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любой многозадачной системе центральный процессор быстро переключается между процессами, предоставляя каждому из них десятки или сотни миллисекунд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этом хотя в каждый конкретный момент времени центральный процессор работает только с одним процессом, в течение 1 секунды он может успеть поработать с несколькими из них, создавая иллюзию параллельной работы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Иногда в этом случае говорят о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псевдопараллелизме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отличие от настоящего аппаратного параллелизма в многопроцессорных системах (у которых имеется не менее двух центральных процессоров, использующих одну и ту же физическую память)</a:t>
            </a: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09461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Процесс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1BA808-C3DE-7C0E-BA2D-81B0CBE57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456586"/>
            <a:ext cx="10210800" cy="50362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Людям довольно трудно отслеживать несколько действий, происходящих параллельно. Поэтому разработчики ОС создали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концептуальную модель последовательных процессов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этой модели все выполняемое на компьютере программное обеспечение, иногда включая операционную систему, сведено к ряду последовательных процессов, или, для краткости, просто процессов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Если говорить по простому, то процесс – это просто экземпляр выполняемой программы, включая текущие значения счётчика команд, регистров и переменных</a:t>
            </a: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66201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Процесс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1BA808-C3DE-7C0E-BA2D-81B0CBE57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456586"/>
            <a:ext cx="10210800" cy="50362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Как видно из представленных схем, процессор постоянно переключается между процессами (хотя каждый процесс считает, что весь процессор принадлежит только ему)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Такое постоянное переключение между процессами называется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мультипрограммированием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или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многозадачностью</a:t>
            </a:r>
          </a:p>
          <a:p>
            <a:pPr marL="0" indent="0">
              <a:buNone/>
            </a:pPr>
            <a:endParaRPr lang="ru-RU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Рисунок 3">
            <a:extLst>
              <a:ext uri="{FF2B5EF4-FFF2-40B4-BE49-F238E27FC236}">
                <a16:creationId xmlns:a16="http://schemas.microsoft.com/office/drawing/2014/main" id="{F954E8E0-6133-4345-5595-2CC8FFA2941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6800" y="4066495"/>
            <a:ext cx="10058400" cy="2791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7333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Процесс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647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1BA808-C3DE-7C0E-BA2D-81B0CBE57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456586"/>
            <a:ext cx="10210800" cy="54014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Подводя итоги, что же всё таки такое процесс выделим следующие два определения: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Процесс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– управляющий объект, который обеспечивает изоляцию адресных пространств и представляет работающий экземпляр программы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Процесс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– исполняемое на устройстве приложение весте со всеми ресурсами, которые требуются для его исполнения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Запомним! Программа и процесс не являются синонимами!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Также отметим, что довольно часто встречающееся выражение «процесс выполняется» неточно. Процессы не выполняются – они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управляют</a:t>
            </a: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ru-RU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03939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Процесс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1BA808-C3DE-7C0E-BA2D-81B0CBE57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456586"/>
            <a:ext cx="10210800" cy="54014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Зная вашу любовь к классификациям, хотелось бы привести здесь что-то интересное и обширное, но к сожалению процессы разве что разделяются на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системные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и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пользовательские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Системные процессы практически ничем не отличаются от любых написанных пользователем программ. Единственный критерий, по которому отличают прикладные процессы и системные сервисные процессы, состоит в том, что процесс операционной системы управляет каким-либо ресурсом в интересах прикладного процесса</a:t>
            </a:r>
            <a:endParaRPr lang="ru-RU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40640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Процесс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1BA808-C3DE-7C0E-BA2D-81B0CBE57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456586"/>
            <a:ext cx="10210800" cy="51911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i="1" dirty="0">
                <a:latin typeface="Cambria" panose="02040503050406030204" pitchFamily="18" charset="0"/>
                <a:ea typeface="Cambria" panose="02040503050406030204" pitchFamily="18" charset="0"/>
              </a:rPr>
              <a:t>Процессы, которые выполняют системный код, называются </a:t>
            </a:r>
            <a:r>
              <a:rPr lang="ru-RU" b="1" i="1" dirty="0">
                <a:latin typeface="Cambria" panose="02040503050406030204" pitchFamily="18" charset="0"/>
                <a:ea typeface="Cambria" panose="02040503050406030204" pitchFamily="18" charset="0"/>
              </a:rPr>
              <a:t>системными</a:t>
            </a:r>
            <a:r>
              <a:rPr lang="ru-RU" i="1" dirty="0">
                <a:latin typeface="Cambria" panose="02040503050406030204" pitchFamily="18" charset="0"/>
                <a:ea typeface="Cambria" panose="02040503050406030204" pitchFamily="18" charset="0"/>
              </a:rPr>
              <a:t> и применяются к системе в целом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. Они занимаются выполнением таких служебных задач, как распределение памяти, обмен страницами между внутренним и вспомогательным запоминающими устройствами, контроль устройств и т.п. Они также выполняют некоторые задачи «по поручению» пользовательских процессов, например, делают запросы на ввод-вывод данных, выделяют память и т.д.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Фоновые процессы, предназначенные для обработки какой-либо активной деятельности, называются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демонами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в Unix и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службами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в Windows</a:t>
            </a:r>
          </a:p>
        </p:txBody>
      </p:sp>
    </p:spTree>
    <p:extLst>
      <p:ext uri="{BB962C8B-B14F-4D97-AF65-F5344CB8AC3E}">
        <p14:creationId xmlns:p14="http://schemas.microsoft.com/office/powerpoint/2010/main" val="26346595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8726313"/>
              </p:ext>
            </p:extLst>
          </p:nvPr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Почему именно процесс?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1BA808-C3DE-7C0E-BA2D-81B0CBE57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516688"/>
            <a:ext cx="10210800" cy="4838391"/>
          </a:xfrm>
        </p:spPr>
        <p:txBody>
          <a:bodyPr/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Но почему всё таки процессы? 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Потому что они обеспечивают нам следующее: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Инструмент обеспечения многозадачности и параллелизма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ru-RU" sz="2600" dirty="0">
                <a:latin typeface="Cambria" panose="02040503050406030204" pitchFamily="18" charset="0"/>
                <a:ea typeface="Cambria" panose="02040503050406030204" pitchFamily="18" charset="0"/>
              </a:rPr>
              <a:t>Процессная многозадачность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ru-RU" sz="2600" dirty="0">
                <a:latin typeface="Cambria" panose="02040503050406030204" pitchFamily="18" charset="0"/>
                <a:ea typeface="Cambria" panose="02040503050406030204" pitchFamily="18" charset="0"/>
              </a:rPr>
              <a:t>Поточная многозадачность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Защита ресурсов необходимых отдельному приложению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Модульность и абстракция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Управление процессом обеспечивает ОС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Обеспечение стабильности и надёжности работы системы</a:t>
            </a:r>
          </a:p>
          <a:p>
            <a:pPr marL="0" indent="0">
              <a:buNone/>
            </a:pP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21066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1717330"/>
              </p:ext>
            </p:extLst>
          </p:nvPr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Процесс или поток?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1BA808-C3DE-7C0E-BA2D-81B0CBE57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507544"/>
            <a:ext cx="10499271" cy="50813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Аргументы в пользу использования процессной многозадачности: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Задачи являются независимыми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Безопасность и изоляция отдельных задач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Поддержка языками и библиотеками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Ресурсоёмкие задачи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Переносимость и масштабирование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Устойчивость к ошибкам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Задачи, связанные с вводом/выводом и сетью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Длительные и сложные задачи</a:t>
            </a:r>
          </a:p>
        </p:txBody>
      </p:sp>
    </p:spTree>
    <p:extLst>
      <p:ext uri="{BB962C8B-B14F-4D97-AF65-F5344CB8AC3E}">
        <p14:creationId xmlns:p14="http://schemas.microsoft.com/office/powerpoint/2010/main" val="14496032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2814955"/>
              </p:ext>
            </p:extLst>
          </p:nvPr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Ресурсы процесса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1BA808-C3DE-7C0E-BA2D-81B0CBE57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580696"/>
            <a:ext cx="10499271" cy="50813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Теперь хотелось бы узнать, что же это всё таки за ресурсы, которые ему требуются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 типичным ресурсам процесса относятся: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Образ исполняемого файла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Память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Список дескрипторов объектов выделенных процессу (файлы, потоки, объекты синхронизации и т.д.)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Атрибуты безопасности (маркеры)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Контекст процесса</a:t>
            </a:r>
          </a:p>
          <a:p>
            <a:pPr marL="0" indent="0"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49333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7509532"/>
              </p:ext>
            </p:extLst>
          </p:nvPr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Ресурсы процесса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242CE6A6-5195-89C5-4B86-1658C554D2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83029" y="1748560"/>
            <a:ext cx="813074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4743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Ресурсы процесса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1BA808-C3DE-7C0E-BA2D-81B0CBE57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580696"/>
            <a:ext cx="10499271" cy="508135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Каждому процессу соответствует своя структура данных в ядре ОС которая представляет его и содержит важную информацию о состоянии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,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атрибутах и ресурсах процесса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Кроме ранее названных ресурсов в такой структуре также содержатся: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Идентификатор процесса (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PID)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Идентификатор родительского процесса (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PPID)</a:t>
            </a: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Состояние процесса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Флаги процесса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Информация связанная с диспетчеризацией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 т. д.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Более подробно о ней в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Windows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EPROCESS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 и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Linux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(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task_struct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  <a:p>
            <a:pPr marL="0" indent="0"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65290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Ресурсы процесса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1BA808-C3DE-7C0E-BA2D-81B0CBE57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580696"/>
            <a:ext cx="10499271" cy="50813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 сути данные объекты ядра ОС включают в себя или являются реализацией структуры данных называемой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блоком управления процессом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PCB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Process Control Block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Такой блок содержит информацию о процессе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чём любая операция, производимая операционной системой над процессом, вызывает изменения в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PCB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Данные в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PCB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между операциями остаются постоянными</a:t>
            </a:r>
          </a:p>
          <a:p>
            <a:pPr marL="0" indent="0"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i="1" dirty="0">
                <a:latin typeface="Cambria" panose="02040503050406030204" pitchFamily="18" charset="0"/>
                <a:ea typeface="Cambria" panose="02040503050406030204" pitchFamily="18" charset="0"/>
              </a:rPr>
              <a:t>В 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Windows </a:t>
            </a:r>
            <a:r>
              <a:rPr lang="ru-RU" i="1" dirty="0">
                <a:latin typeface="Cambria" panose="02040503050406030204" pitchFamily="18" charset="0"/>
                <a:ea typeface="Cambria" panose="02040503050406030204" pitchFamily="18" charset="0"/>
              </a:rPr>
              <a:t>структура 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PCB </a:t>
            </a:r>
            <a:r>
              <a:rPr lang="ru-RU" i="1" dirty="0">
                <a:latin typeface="Cambria" panose="02040503050406030204" pitchFamily="18" charset="0"/>
                <a:ea typeface="Cambria" panose="02040503050406030204" pitchFamily="18" charset="0"/>
              </a:rPr>
              <a:t>является частью структуры 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EPROCESS, </a:t>
            </a:r>
            <a:r>
              <a:rPr lang="ru-RU" i="1" dirty="0">
                <a:latin typeface="Cambria" panose="02040503050406030204" pitchFamily="18" charset="0"/>
                <a:ea typeface="Cambria" panose="02040503050406030204" pitchFamily="18" charset="0"/>
              </a:rPr>
              <a:t>а в 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Linux </a:t>
            </a:r>
            <a:r>
              <a:rPr lang="ru-RU" i="1" dirty="0">
                <a:latin typeface="Cambria" panose="02040503050406030204" pitchFamily="18" charset="0"/>
                <a:ea typeface="Cambria" panose="02040503050406030204" pitchFamily="18" charset="0"/>
              </a:rPr>
              <a:t>–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task_stuct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i="1" dirty="0">
                <a:latin typeface="Cambria" panose="02040503050406030204" pitchFamily="18" charset="0"/>
                <a:ea typeface="Cambria" panose="02040503050406030204" pitchFamily="18" charset="0"/>
              </a:rPr>
              <a:t>является реализацией 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PCB</a:t>
            </a:r>
            <a:endParaRPr lang="ru-RU" i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98526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Ресурсы процесса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195D0C2-1440-8E9E-BEEF-062B392306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4088" y="1748556"/>
            <a:ext cx="4534533" cy="426779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2107945-A925-227C-12FA-0EE199F576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42394" y="1748556"/>
            <a:ext cx="5445518" cy="426779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039523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Ресурсы процесса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1BA808-C3DE-7C0E-BA2D-81B0CBE57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580696"/>
            <a:ext cx="10499271" cy="508135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Информация, хранимая в блоке управления процессом, делится на две части: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регистровый контекст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и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системный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контекст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Регистровым контекстом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процесса называется содержимое всех регистров общего назначения процессора (включая значение программного счетчика)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Содержимое остальных регистров процессора называется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системным контекстом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процесса. Информации, получаемой с регистровых и системных контекстов, достаточно для управления работой процесса в операционной системе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 точки зрения пользователя, наибольший интерес вызывает вычислительная деятельность процесса, последовательность преобразования данных и полученные результаты.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Пользовательским контекстом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называются данные, находящиеся в адресном пространстве процесса</a:t>
            </a:r>
          </a:p>
          <a:p>
            <a:pPr marL="0" indent="0">
              <a:buNone/>
            </a:pPr>
            <a:endParaRPr lang="ru-RU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11972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Ресурсы процесса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1BA808-C3DE-7C0E-BA2D-81B0CBE57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580696"/>
            <a:ext cx="10499271" cy="508135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Совокупность регистрового, системного и пользовательского контекстов процесса называется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контекстом процесса</a:t>
            </a: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Контекст процесса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– минимальный набор данных, используемый процессом, который должен быть сохранен, чтобы выполнение процесса могло быть прервано и в последующем возобновлено с той же точки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Контекст процесса состоит из: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Program Counter (PC)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или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Instruction Pointer (IP)</a:t>
            </a: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Значений регистров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Стека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Кучи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Глобальных переменных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 т. д.</a:t>
            </a:r>
          </a:p>
        </p:txBody>
      </p:sp>
    </p:spTree>
    <p:extLst>
      <p:ext uri="{BB962C8B-B14F-4D97-AF65-F5344CB8AC3E}">
        <p14:creationId xmlns:p14="http://schemas.microsoft.com/office/powerpoint/2010/main" val="21408623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5797110"/>
              </p:ext>
            </p:extLst>
          </p:nvPr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Управление процессом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1BA808-C3DE-7C0E-BA2D-81B0CBE57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580696"/>
            <a:ext cx="10499271" cy="50813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Рассмотрев какую информацию включает в себя процесс, следующим вопросом является откуда берутся процессы?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Существуют четыре основных события, приводящих к созданию процессов: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Инициализация системы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Выполнение работающим процессом системного вызова, предназначенного для создания процесса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Запрос пользователя на создание нового процесса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Инициация пакетного задания</a:t>
            </a:r>
          </a:p>
          <a:p>
            <a:pPr marL="0" indent="0"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23700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6463521"/>
              </p:ext>
            </p:extLst>
          </p:nvPr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Управление процессом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1BA808-C3DE-7C0E-BA2D-81B0CBE57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481842"/>
            <a:ext cx="10499271" cy="50813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За создание процесса отвечает ядро ОС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Чтобы запросить у ядра создание нового процесса необходимо совершить системный вызов</a:t>
            </a:r>
          </a:p>
          <a:p>
            <a:pPr marL="0" indent="0">
              <a:buNone/>
            </a:pPr>
            <a:endParaRPr lang="ru-RU" sz="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Системный вызов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Windows –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</a:rPr>
              <a:t>NtCreateUserProcess</a:t>
            </a:r>
            <a:endParaRPr lang="ru-RU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Системные вызовы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Linux (POSIX) –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fork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</a:rPr>
              <a:t>vfork</a:t>
            </a:r>
            <a:endParaRPr lang="ru-RU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ru-RU" sz="8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Дочерний процесс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–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процесс создаваемый в результате системного вызова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Родительский процесс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–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процесс инициировавший системный вызов</a:t>
            </a:r>
          </a:p>
          <a:p>
            <a:pPr marL="0" indent="0">
              <a:buNone/>
            </a:pPr>
            <a:endParaRPr lang="ru-RU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31908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3509333"/>
              </p:ext>
            </p:extLst>
          </p:nvPr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Управление процессом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1BA808-C3DE-7C0E-BA2D-81B0CBE57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580696"/>
            <a:ext cx="10499271" cy="508135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Основными действиями ОС над процессами являются: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Запуск процесса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. Из числа процессов, находящихся в состоянии готовность, операционная система выбирает один процесс для последующего исполнения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Приостановка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процесса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. Работа процесса, находящегося в состоянии исполнение, приостанавливается в результате какого-либо прерывания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Блокирование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процесса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. Процесс блокируется, когда он не может продолжать работу, не дождавшись возникновения какого-либо события в вычислительной системе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Разблокирование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процесса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. После возникновения в системе какого-либо события операционной системе нужно точно определить, какое именно событие произошло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Переключение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контекста</a:t>
            </a: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05143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Управление процессом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AF66CBE-AFE4-E7BA-9839-F2BBC4E965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3318" y="1507998"/>
            <a:ext cx="8245364" cy="5081588"/>
          </a:xfrm>
        </p:spPr>
      </p:pic>
    </p:spTree>
    <p:extLst>
      <p:ext uri="{BB962C8B-B14F-4D97-AF65-F5344CB8AC3E}">
        <p14:creationId xmlns:p14="http://schemas.microsoft.com/office/powerpoint/2010/main" val="23194167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Управление процессом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1BA808-C3DE-7C0E-BA2D-81B0CBE57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580696"/>
            <a:ext cx="10499271" cy="50813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На приведенной схеме отражена обобщенная модель с созданием и завершением процесса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Состояние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рождения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– это первый этап жизненного цикла процесса. В этом состоянии происходит полное формирование процесса как системной сущности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это время система создаёт все необходимые структуры данных, выделяет первичные ресурсы и подготавливает процесс к дальнейшей работе. Важно отметить, что до завершения этого состояния процесс ещё не готов к выполнению и не может быть запланирован на процессор</a:t>
            </a:r>
          </a:p>
        </p:txBody>
      </p:sp>
    </p:spTree>
    <p:extLst>
      <p:ext uri="{BB962C8B-B14F-4D97-AF65-F5344CB8AC3E}">
        <p14:creationId xmlns:p14="http://schemas.microsoft.com/office/powerpoint/2010/main" val="36005242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Управление процессом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1BA808-C3DE-7C0E-BA2D-81B0CBE57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580696"/>
            <a:ext cx="10499271" cy="50813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состоянии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готовности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процесс полностью подготовлен к выполнению, но ожидает своей очереди на процессор. Он находится в специальной очереди планировщика и ждёт момента, когда освободится CPU</a:t>
            </a:r>
          </a:p>
          <a:p>
            <a:pPr marL="0" indent="0">
              <a:buNone/>
            </a:pPr>
            <a:r>
              <a:rPr lang="ru-RU" i="1" dirty="0">
                <a:latin typeface="Cambria" panose="02040503050406030204" pitchFamily="18" charset="0"/>
                <a:ea typeface="Cambria" panose="02040503050406030204" pitchFamily="18" charset="0"/>
              </a:rPr>
              <a:t>Например, после создания нового процесса или завершения операции ввода-вывода процесс переходит в это состояние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Состояние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ожидания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возникает, когда процесс не может продолжить выполнение из-за внешних факторов</a:t>
            </a:r>
          </a:p>
          <a:p>
            <a:pPr marL="0" indent="0">
              <a:buNone/>
            </a:pPr>
            <a:r>
              <a:rPr lang="ru-RU" i="1" dirty="0">
                <a:latin typeface="Cambria" panose="02040503050406030204" pitchFamily="18" charset="0"/>
                <a:ea typeface="Cambria" panose="02040503050406030204" pitchFamily="18" charset="0"/>
              </a:rPr>
              <a:t>Например, при чтении файла с диска процесс переходит в это состояние, пока операция ввода-вывода не завершится. Также в это состояние процесс может перейти при ожидании сигнала от другого процесса</a:t>
            </a:r>
          </a:p>
        </p:txBody>
      </p:sp>
    </p:spTree>
    <p:extLst>
      <p:ext uri="{BB962C8B-B14F-4D97-AF65-F5344CB8AC3E}">
        <p14:creationId xmlns:p14="http://schemas.microsoft.com/office/powerpoint/2010/main" val="17908234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Управление процессом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1BA808-C3DE-7C0E-BA2D-81B0CBE57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580696"/>
            <a:ext cx="10499271" cy="508135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состоянии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исполнения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процесс получает возможность использовать процессорное время. В этот период один или несколько потоков процесса выполняют свои задачи, взаимодействуют с системными ресурсами и осуществляют обработку данных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Важно понимать, что само состояние относится к процессу как к сущности, управляющей ресурсами, в то время как фактическое выполнение кода происходит на уровне потоков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состоянии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завершения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процесс прекращает своё существование. Все выделенные ресурсы освобождаются, а информация о завершении передаётся родительскому процессу</a:t>
            </a:r>
          </a:p>
          <a:p>
            <a:pPr marL="0" indent="0">
              <a:buNone/>
            </a:pPr>
            <a:r>
              <a:rPr lang="ru-RU" i="1" dirty="0">
                <a:latin typeface="Cambria" panose="02040503050406030204" pitchFamily="18" charset="0"/>
                <a:ea typeface="Cambria" panose="02040503050406030204" pitchFamily="18" charset="0"/>
              </a:rPr>
              <a:t>Например, процесс может перейти в это состояние после выполнения команды </a:t>
            </a:r>
            <a:r>
              <a:rPr lang="ru-RU" i="1" dirty="0" err="1">
                <a:latin typeface="Cambria" panose="02040503050406030204" pitchFamily="18" charset="0"/>
                <a:ea typeface="Cambria" panose="02040503050406030204" pitchFamily="18" charset="0"/>
              </a:rPr>
              <a:t>exit</a:t>
            </a:r>
            <a:r>
              <a:rPr lang="ru-RU" i="1" dirty="0">
                <a:latin typeface="Cambria" panose="02040503050406030204" pitchFamily="18" charset="0"/>
                <a:ea typeface="Cambria" panose="02040503050406030204" pitchFamily="18" charset="0"/>
              </a:rPr>
              <a:t>() или при получении сигнала об аварийном завершении</a:t>
            </a:r>
          </a:p>
        </p:txBody>
      </p:sp>
    </p:spTree>
    <p:extLst>
      <p:ext uri="{BB962C8B-B14F-4D97-AF65-F5344CB8AC3E}">
        <p14:creationId xmlns:p14="http://schemas.microsoft.com/office/powerpoint/2010/main" val="24721542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6345471"/>
              </p:ext>
            </p:extLst>
          </p:nvPr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Создание процесса</a:t>
                      </a:r>
                      <a:r>
                        <a:rPr kumimoji="0" lang="en-US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– Windows 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1BA808-C3DE-7C0E-BA2D-81B0CBE57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580696"/>
            <a:ext cx="10499271" cy="50813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Функции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CreateProcessA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CreateProcessW</a:t>
            </a: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ru-RU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35C3F7D-EA7C-2D0C-144C-6D2210D8EE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8147" y="2127738"/>
            <a:ext cx="9595705" cy="4534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0618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Создание процесса</a:t>
                      </a:r>
                      <a:r>
                        <a:rPr kumimoji="0" lang="en-US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– Windows 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1BA808-C3DE-7C0E-BA2D-81B0CBE57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580696"/>
            <a:ext cx="10499271" cy="50813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Функции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CreateProcessA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CreateProcessW</a:t>
            </a: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ru-RU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46160DB-2DCC-4B16-4310-EDA3C2BC6F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577" y="2137680"/>
            <a:ext cx="6019800" cy="4524375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570A225-9F37-2367-99A5-1F245226D0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6160" y="3348751"/>
            <a:ext cx="4792505" cy="1545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5912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017952"/>
              </p:ext>
            </p:extLst>
          </p:nvPr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Создание процесса</a:t>
                      </a:r>
                      <a:r>
                        <a:rPr kumimoji="0" lang="en-US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– Windows 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E732B635-5419-6079-3849-3663AFB388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51966" y="1566171"/>
            <a:ext cx="7392867" cy="4856364"/>
          </a:xfrm>
        </p:spPr>
      </p:pic>
    </p:spTree>
    <p:extLst>
      <p:ext uri="{BB962C8B-B14F-4D97-AF65-F5344CB8AC3E}">
        <p14:creationId xmlns:p14="http://schemas.microsoft.com/office/powerpoint/2010/main" val="16863298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Создание процесса</a:t>
                      </a:r>
                      <a:r>
                        <a:rPr kumimoji="0" lang="en-US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– Windows 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9" name="Объект 3">
            <a:extLst>
              <a:ext uri="{FF2B5EF4-FFF2-40B4-BE49-F238E27FC236}">
                <a16:creationId xmlns:a16="http://schemas.microsoft.com/office/drawing/2014/main" id="{7BF63A36-DBAA-E5A8-1E3D-22CA2CCD72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580696"/>
            <a:ext cx="10499271" cy="508135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Стоит учесть что поиск указанного файла/команды осуществляется в следующем порядке: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Каталог, содержащий EXE-файл вызывающего процесса.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Текущий каталог вызывающего процесса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Системный каталог Windows (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GetSystemDirectory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Основной каталог Windows (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GetWindowsDirectory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Каталоги, перечисленные в переменной окружения PATH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Конечно, если в имени файла указан полный путь доступа, система сразу обращается туда и не просматривает эти каталоги</a:t>
            </a:r>
          </a:p>
          <a:p>
            <a:pPr marL="0" indent="0">
              <a:buNone/>
            </a:pPr>
            <a:r>
              <a:rPr lang="ru-RU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ПРИМЕЧАНИЕ! Данные каталоги используются системой при использовании 2-ого параметра функции </a:t>
            </a:r>
            <a:r>
              <a:rPr lang="en-US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CreateProcess</a:t>
            </a:r>
            <a:endParaRPr lang="ru-RU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47740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6803551"/>
              </p:ext>
            </p:extLst>
          </p:nvPr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Создание процесса</a:t>
                      </a:r>
                      <a:r>
                        <a:rPr kumimoji="0" lang="en-US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– Windows 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pic>
        <p:nvPicPr>
          <p:cNvPr id="13" name="Объект 12">
            <a:extLst>
              <a:ext uri="{FF2B5EF4-FFF2-40B4-BE49-F238E27FC236}">
                <a16:creationId xmlns:a16="http://schemas.microsoft.com/office/drawing/2014/main" id="{5C75A600-98B3-CB50-2927-ACF62A6A14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65193" y="4081262"/>
            <a:ext cx="9261614" cy="1783206"/>
          </a:xfr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C6135A5C-0A07-79AB-2FEF-4ED50149AE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1775" y="1748560"/>
            <a:ext cx="8428450" cy="2103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1880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Завершение процесса</a:t>
                      </a:r>
                      <a:r>
                        <a:rPr kumimoji="0" lang="en-US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– Windows 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1BA808-C3DE-7C0E-BA2D-81B0CBE57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580696"/>
            <a:ext cx="10499271" cy="51981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Перед завершением процесса может возникнуть ситуация когда требуется дождаться завершения другого (напр. дочернего) процесса. В таком случае могут помочь функции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WaitForSingleObject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WaitForMultipleObjects</a:t>
            </a:r>
            <a:endParaRPr lang="ru-RU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48F888F-3BAA-25CA-C905-D073C1A1D5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3846" y="3348182"/>
            <a:ext cx="6448425" cy="131445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C7141E2-F3A3-C03A-267C-6DC7DE5D0A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93846" y="4859893"/>
            <a:ext cx="6448425" cy="17716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4DD621F-9633-4C91-2000-891EDE49C824}"/>
              </a:ext>
            </a:extLst>
          </p:cNvPr>
          <p:cNvSpPr txBox="1"/>
          <p:nvPr/>
        </p:nvSpPr>
        <p:spPr>
          <a:xfrm>
            <a:off x="1143000" y="3593268"/>
            <a:ext cx="3736731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Cambria" panose="02040503050406030204" pitchFamily="18" charset="0"/>
                <a:ea typeface="Cambria" panose="02040503050406030204" pitchFamily="18" charset="0"/>
              </a:rPr>
              <a:t>Для бессрочного ожидания сигнала от другого процесса следует в последний параметр данных функций передать значение </a:t>
            </a:r>
            <a:r>
              <a:rPr lang="en-US" sz="2400" b="1" dirty="0">
                <a:solidFill>
                  <a:srgbClr val="00B05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INFINITE</a:t>
            </a:r>
            <a:r>
              <a:rPr lang="ru-RU" sz="2400" b="1" dirty="0">
                <a:latin typeface="Cambria" panose="02040503050406030204" pitchFamily="18" charset="0"/>
                <a:ea typeface="Cambria" panose="02040503050406030204" pitchFamily="18" charset="0"/>
              </a:rPr>
              <a:t>,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</a:t>
            </a:r>
            <a:r>
              <a:rPr lang="ru-RU" sz="24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sz="24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НЕ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INFINITY</a:t>
            </a:r>
            <a:endParaRPr lang="LID4096" sz="2400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82850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Завершение процесса</a:t>
                      </a:r>
                      <a:r>
                        <a:rPr kumimoji="0" lang="en-US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– Windows 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1BA808-C3DE-7C0E-BA2D-81B0CBE57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580696"/>
            <a:ext cx="10499271" cy="51981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Перед завершением процесса может возникнуть ситуация когда требуется дождаться завершения другого (напр. дочернего) процесса. В таком случае могут помочь функции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WaitForSingleObject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WaitForMultipleObjects</a:t>
            </a:r>
            <a:endParaRPr lang="ru-RU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E94B14A-B518-DBDE-C906-880F96702D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3611" y="3935999"/>
            <a:ext cx="9224778" cy="794261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F7671A7D-FB78-D4AA-733A-FF37D27D37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70785" y="5277304"/>
            <a:ext cx="7850430" cy="679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169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2014573"/>
              </p:ext>
            </p:extLst>
          </p:nvPr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Завершение процесса</a:t>
                      </a:r>
                      <a:r>
                        <a:rPr kumimoji="0" lang="en-US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– Windows 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1BA808-C3DE-7C0E-BA2D-81B0CBE57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580696"/>
            <a:ext cx="10499271" cy="50813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Функции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ExitProcess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,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TerminateProcess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CloseHandle</a:t>
            </a: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ru-RU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099BB28-EE53-F543-9759-F8E53FC16A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04146" y="2305439"/>
            <a:ext cx="7688508" cy="1317381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F2758AD-5DD5-2D87-3307-D0175D4AA0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04146" y="3622820"/>
            <a:ext cx="7688508" cy="1589943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345EC0BE-938E-0EAC-1DA9-608F2428BE0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04146" y="5175493"/>
            <a:ext cx="7688507" cy="1317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83612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Завершение процесса</a:t>
                      </a:r>
                      <a:r>
                        <a:rPr kumimoji="0" lang="en-US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– Windows 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1BA808-C3DE-7C0E-BA2D-81B0CBE57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580696"/>
            <a:ext cx="10499271" cy="51981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</a:rPr>
              <a:t>ExitProcess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Является функцией для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штатного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завершения работы процесса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Происходит выгрузка всех ресурсов используемых процессом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</a:rPr>
              <a:t>TerminateProcess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Является функцией для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аварийного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завершения работы процесса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Освобождение ресурсов процесса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не гарантируется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Рекомендуется использовать для завершения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зависших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процессов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ru-RU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153028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Завершение процесса</a:t>
                      </a:r>
                      <a:r>
                        <a:rPr kumimoji="0" lang="en-US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– Windows 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1BA808-C3DE-7C0E-BA2D-81B0CBE57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580696"/>
            <a:ext cx="10499271" cy="519817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</a:rPr>
              <a:t>CloseHandle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Функция делает указанный дескриптор не действительным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Уменьшает значение счётчика дескрипторов указанного объекта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Производит проверку на то, требуется ли освобождение объекта из системы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Использование данной функции на дескрипторе процесса не приводит к завершению его работы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случае вызова функции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</a:rPr>
              <a:t>TerminateProcess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требуется вручную вызвать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</a:rPr>
              <a:t>CloseHandle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для дескриптора завершённого процесса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</a:rPr>
              <a:t>ExitProcess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вызывает данную функцию самостоятельно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ru-RU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128691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7208737"/>
              </p:ext>
            </p:extLst>
          </p:nvPr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Создание процесса</a:t>
                      </a:r>
                      <a:r>
                        <a:rPr kumimoji="0" lang="en-US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– Linux (POSIX)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1BA808-C3DE-7C0E-BA2D-81B0CBE57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580696"/>
            <a:ext cx="10499271" cy="50813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Функции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fork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exec</a:t>
            </a:r>
            <a:endParaRPr lang="ru-RU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220D36A-315A-8883-2D67-D2E068EB05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5965" y="1918920"/>
            <a:ext cx="5225072" cy="123751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EBFBBA6-616B-1EA2-62FF-359604D2F1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0096" y="3677106"/>
            <a:ext cx="7572375" cy="229552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67598148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Создание процесса</a:t>
                      </a:r>
                      <a:r>
                        <a:rPr kumimoji="0" lang="en-US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– Linux (POSIX)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1BA808-C3DE-7C0E-BA2D-81B0CBE57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580696"/>
            <a:ext cx="10499271" cy="50813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Функция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fork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– предназначена для создания нового дочернего процесса, который будет являться полной (насколько это возможно) копией родительского процесса</a:t>
            </a:r>
          </a:p>
          <a:p>
            <a:pPr marL="0" indent="0"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Функция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exec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–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предназначена для замены образа исполняемого файла в рамках существующего процесса</a:t>
            </a:r>
          </a:p>
          <a:p>
            <a:pPr marL="0" indent="0">
              <a:buNone/>
            </a:pPr>
            <a:r>
              <a:rPr lang="ru-RU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Важно!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Никаких новых процессов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вызове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exec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не создаётся. Загружается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новая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программа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!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 сути сбрасывается контекст процесса и загружается новый</a:t>
            </a:r>
          </a:p>
        </p:txBody>
      </p:sp>
    </p:spTree>
    <p:extLst>
      <p:ext uri="{BB962C8B-B14F-4D97-AF65-F5344CB8AC3E}">
        <p14:creationId xmlns:p14="http://schemas.microsoft.com/office/powerpoint/2010/main" val="421047379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0566958"/>
              </p:ext>
            </p:extLst>
          </p:nvPr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Создание процесса</a:t>
                      </a:r>
                      <a:r>
                        <a:rPr kumimoji="0" lang="en-US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– Linux 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pic>
        <p:nvPicPr>
          <p:cNvPr id="12" name="Объект 11">
            <a:extLst>
              <a:ext uri="{FF2B5EF4-FFF2-40B4-BE49-F238E27FC236}">
                <a16:creationId xmlns:a16="http://schemas.microsoft.com/office/drawing/2014/main" id="{7A720991-7399-E0BA-E400-63A2B5B93F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1554" y="2072095"/>
            <a:ext cx="6512337" cy="4539721"/>
          </a:xfr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2FFBE46-5745-5569-34D9-B75D9552CA94}"/>
              </a:ext>
            </a:extLst>
          </p:cNvPr>
          <p:cNvSpPr txBox="1"/>
          <p:nvPr/>
        </p:nvSpPr>
        <p:spPr>
          <a:xfrm>
            <a:off x="571554" y="1610430"/>
            <a:ext cx="43170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fork.c</a:t>
            </a:r>
            <a:endParaRPr lang="LID4096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CBEE930-0BCD-8F92-294B-F8CDBBE9C3CA}"/>
              </a:ext>
            </a:extLst>
          </p:cNvPr>
          <p:cNvSpPr txBox="1"/>
          <p:nvPr/>
        </p:nvSpPr>
        <p:spPr>
          <a:xfrm>
            <a:off x="7413820" y="2760676"/>
            <a:ext cx="43170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next.c</a:t>
            </a:r>
            <a:endParaRPr lang="LID4096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78A80459-C88A-BE0E-CA2E-1754E6CBC7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3820" y="3273657"/>
            <a:ext cx="4041828" cy="1512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25291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1704149"/>
              </p:ext>
            </p:extLst>
          </p:nvPr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Создание процесса</a:t>
                      </a:r>
                      <a:r>
                        <a:rPr kumimoji="0" lang="en-US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– Linux (POSIX)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E49D8911-7BBE-EE4A-3A5E-8B4AC9E35D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08519" y="2450355"/>
            <a:ext cx="4751897" cy="2218360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D686891-DCCD-7B61-DFDA-C31EFFE43249}"/>
              </a:ext>
            </a:extLst>
          </p:cNvPr>
          <p:cNvSpPr txBox="1"/>
          <p:nvPr/>
        </p:nvSpPr>
        <p:spPr>
          <a:xfrm>
            <a:off x="1143000" y="1899030"/>
            <a:ext cx="43170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Cambria" panose="02040503050406030204" pitchFamily="18" charset="0"/>
                <a:ea typeface="Cambria" panose="02040503050406030204" pitchFamily="18" charset="0"/>
              </a:rPr>
              <a:t>Ошибка выполнения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Exec</a:t>
            </a:r>
            <a:endParaRPr lang="LID4096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9" name="Объект 6">
            <a:extLst>
              <a:ext uri="{FF2B5EF4-FFF2-40B4-BE49-F238E27FC236}">
                <a16:creationId xmlns:a16="http://schemas.microsoft.com/office/drawing/2014/main" id="{258FB7CF-3778-06F5-7678-C2AD358778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81326" y="3884678"/>
            <a:ext cx="4751897" cy="206771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01B9197-71FD-0D03-7625-A49D5F14A7EF}"/>
              </a:ext>
            </a:extLst>
          </p:cNvPr>
          <p:cNvSpPr txBox="1"/>
          <p:nvPr/>
        </p:nvSpPr>
        <p:spPr>
          <a:xfrm>
            <a:off x="6381326" y="3328702"/>
            <a:ext cx="43170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Cambria" panose="02040503050406030204" pitchFamily="18" charset="0"/>
                <a:ea typeface="Cambria" panose="02040503050406030204" pitchFamily="18" charset="0"/>
              </a:rPr>
              <a:t>Успешное выполнение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Exec</a:t>
            </a:r>
            <a:endParaRPr lang="LID4096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768085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4106387"/>
              </p:ext>
            </p:extLst>
          </p:nvPr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Создание процесса</a:t>
                      </a:r>
                      <a:r>
                        <a:rPr kumimoji="0" lang="en-US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– Linux (POSIX) 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9" name="Объект 3">
            <a:extLst>
              <a:ext uri="{FF2B5EF4-FFF2-40B4-BE49-F238E27FC236}">
                <a16:creationId xmlns:a16="http://schemas.microsoft.com/office/drawing/2014/main" id="{7BF63A36-DBAA-E5A8-1E3D-22CA2CCD72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580696"/>
            <a:ext cx="10499271" cy="50813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случае с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exec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поиск образа происходит так: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Если параметр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path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содержит символ «\», то система интерпретирует такое значение как относительный либо абсолютный путь к файлу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остальных случаях система проверяет каталоги, перечисленные в переменной окружения PATH на наличие указанной команды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Просмотреть информацию о всех процессах можно с помощью утилит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</a:rPr>
              <a:t>ps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и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top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или изучив файлы расположенные в папке соответствующего процесса (/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proc/{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pid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  <a:endParaRPr lang="ru-RU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173482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7811536"/>
              </p:ext>
            </p:extLst>
          </p:nvPr>
        </p:nvGraphicFramePr>
        <p:xfrm>
          <a:off x="1116623" y="118936"/>
          <a:ext cx="4440116" cy="2307736"/>
        </p:xfrm>
        <a:graphic>
          <a:graphicData uri="http://schemas.openxmlformats.org/drawingml/2006/table">
            <a:tbl>
              <a:tblPr/>
              <a:tblGrid>
                <a:gridCol w="4440116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2307736">
                <a:tc>
                  <a:txBody>
                    <a:bodyPr/>
                    <a:lstStyle/>
                    <a:p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Завершение процесса </a:t>
                      </a:r>
                      <a:r>
                        <a:rPr kumimoji="0" lang="en-US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– Linux (POSIX) 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DE80BB21-9F2B-1B1B-20FE-5A9B0DC884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5783" y="0"/>
            <a:ext cx="5730986" cy="68580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475C0AA-348B-8F27-4509-27B2456A5F92}"/>
              </a:ext>
            </a:extLst>
          </p:cNvPr>
          <p:cNvSpPr txBox="1"/>
          <p:nvPr/>
        </p:nvSpPr>
        <p:spPr>
          <a:xfrm>
            <a:off x="1035294" y="2547482"/>
            <a:ext cx="485048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sz="2000" dirty="0">
                <a:latin typeface="Cambria" panose="02040503050406030204" pitchFamily="18" charset="0"/>
                <a:ea typeface="Cambria" panose="02040503050406030204" pitchFamily="18" charset="0"/>
              </a:rPr>
              <a:t>Функция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wait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– </a:t>
            </a:r>
            <a:r>
              <a:rPr lang="ru-RU" sz="2000" dirty="0">
                <a:latin typeface="Cambria" panose="02040503050406030204" pitchFamily="18" charset="0"/>
                <a:ea typeface="Cambria" panose="02040503050406030204" pitchFamily="18" charset="0"/>
              </a:rPr>
              <a:t>приостанавливает выполнение родителя, пока не будет завершен один из его потомков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sz="2000" dirty="0">
                <a:latin typeface="Cambria" panose="02040503050406030204" pitchFamily="18" charset="0"/>
                <a:ea typeface="Cambria" panose="02040503050406030204" pitchFamily="18" charset="0"/>
              </a:rPr>
              <a:t>Библиотечная функция </a:t>
            </a:r>
            <a:r>
              <a:rPr lang="ru-RU" sz="2000" b="1" dirty="0">
                <a:latin typeface="Cambria" panose="02040503050406030204" pitchFamily="18" charset="0"/>
                <a:ea typeface="Cambria" panose="020405030504060302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exit</a:t>
            </a:r>
            <a:r>
              <a:rPr lang="ru-RU" sz="20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sz="2000" dirty="0">
                <a:latin typeface="Cambria" panose="02040503050406030204" pitchFamily="18" charset="0"/>
                <a:ea typeface="Cambria" panose="02040503050406030204" pitchFamily="18" charset="0"/>
              </a:rPr>
              <a:t>завершает процесс, делая все его ресурсы (память, дескрипторы открытых файлов и т. д.) доступными для последующего перераспределения ядром. </a:t>
            </a:r>
          </a:p>
        </p:txBody>
      </p:sp>
    </p:spTree>
    <p:extLst>
      <p:ext uri="{BB962C8B-B14F-4D97-AF65-F5344CB8AC3E}">
        <p14:creationId xmlns:p14="http://schemas.microsoft.com/office/powerpoint/2010/main" val="30613005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8075024"/>
              </p:ext>
            </p:extLst>
          </p:nvPr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Создание процесса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1BA808-C3DE-7C0E-BA2D-81B0CBE57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580696"/>
            <a:ext cx="10499271" cy="50813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Функция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system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 (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Win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/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POSIX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–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позволяет вызывающей программе выполнять произвольные консольные команды</a:t>
            </a:r>
          </a:p>
          <a:p>
            <a:pPr marL="0" indent="0"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Рисунок 4">
            <a:hlinkClick r:id="rId4"/>
            <a:extLst>
              <a:ext uri="{FF2B5EF4-FFF2-40B4-BE49-F238E27FC236}">
                <a16:creationId xmlns:a16="http://schemas.microsoft.com/office/drawing/2014/main" id="{FF94EAA3-84A0-E5D9-C813-B034E2FE7A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5159966"/>
            <a:ext cx="5105400" cy="77152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0" name="Рисунок 9">
            <a:hlinkClick r:id="rId2"/>
            <a:extLst>
              <a:ext uri="{FF2B5EF4-FFF2-40B4-BE49-F238E27FC236}">
                <a16:creationId xmlns:a16="http://schemas.microsoft.com/office/drawing/2014/main" id="{0EA90968-BDB4-D811-AB67-6C86591CE5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000" y="2964130"/>
            <a:ext cx="6448425" cy="1771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81867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Создание процесса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1BA808-C3DE-7C0E-BA2D-81B0CBE57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580696"/>
            <a:ext cx="10499271" cy="50813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Принципиальные преимущества функции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system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– это простота и удобство, а именно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Нам не нужно иметь дело с деталями вызовов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fork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exec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wait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и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exit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в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Linux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или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</a:rPr>
              <a:t>CreateProcess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</a:rPr>
              <a:t>WaitForSingleObject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Windows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Обработка ошибок и сигналов выполняется за нас самой функцией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system</a:t>
            </a: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Поскольку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system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использует для выполнения команды командную оболочку, перед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ее запуском выполняются все стандартные процедуры обработки, подстановки и перенаправления</a:t>
            </a:r>
          </a:p>
          <a:p>
            <a:pPr marL="0" indent="0"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282295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4373354"/>
              </p:ext>
            </p:extLst>
          </p:nvPr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Свойства процесса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3030E880-7972-19D6-C76C-FAF9C31E11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542172"/>
            <a:ext cx="10210800" cy="5178668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Процессу соответствует исполняемый программный файл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У процесса есть PID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У процесса есть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arent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PID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Идентификатор объекта процесса: в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W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indows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- HANDLE  и в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Linux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-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pid_t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OS есть процесс инициализации (родитель для всех)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Запуск и управление (создать, остановить,…) процессом осуществляется с помощью системных вызовов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Процессы изолированы друг от друга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Ø"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377850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4373354"/>
              </p:ext>
            </p:extLst>
          </p:nvPr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Свойства процесса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3030E880-7972-19D6-C76C-FAF9C31E11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542172"/>
            <a:ext cx="10210800" cy="5178668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Процессу выделяется линейное адресное пространство (размер зависит от разрядности), сегменты: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code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static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data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heap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stack</a:t>
            </a: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Контекст процесса – данные, которые сохраняются при переключении процессов и предназначенные для продолжения работы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Процессу автоматически доступны три потока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данных: ввода (0), вывода (1), вывода ошибок (2)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составе ОS есть таблица, содержащая объекты ядра процессов (состояние, приоритет, указатели на другие объекты); есть средства ОС позволяющие ее просматривать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Процесс – единица работы ОС</a:t>
            </a:r>
          </a:p>
        </p:txBody>
      </p:sp>
    </p:spTree>
    <p:extLst>
      <p:ext uri="{BB962C8B-B14F-4D97-AF65-F5344CB8AC3E}">
        <p14:creationId xmlns:p14="http://schemas.microsoft.com/office/powerpoint/2010/main" val="392567402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4720060"/>
              </p:ext>
            </p:extLst>
          </p:nvPr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Стандартные потоки ввода/вывода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3030E880-7972-19D6-C76C-FAF9C31E11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587892"/>
            <a:ext cx="10210800" cy="5178668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Стандартные потоки ввода-вывода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системах типа UNIX (и некоторых других) – потоки процесса, имеющие номер (дескриптор), зарезервированный для выполнения некоторых «стандартных» функций. Как правило (хотя и не обязательно), эти дескрипторы открыты уже в момент запуска задачи (исполняемого файла)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Как уже было сказано процессу автоматически доступны три потока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данных: 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Ввода (0)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Вывода (1)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Вывода ошибок (2)</a:t>
            </a:r>
          </a:p>
          <a:p>
            <a:pPr marL="0" indent="0">
              <a:spcBef>
                <a:spcPts val="600"/>
              </a:spcBef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spcBef>
                <a:spcPts val="600"/>
              </a:spcBef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152922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Стандартные потоки ввода/вывода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3030E880-7972-19D6-C76C-FAF9C31E11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587892"/>
            <a:ext cx="10210800" cy="5178668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Поток номер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0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(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stdin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 зарезервирован для чтения команд пользователя или входных данных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интерактивном запуске программы по умолчанию нацелен на чтение со стандартного устройства ввода (клавиатуры). Командная оболочка UNIX (и оболочки других систем) позволяют изменять цель этого потока с помощью символа «&lt;». Системные программы (демоны и т. п.), как правило, не пользуются этим потоком</a:t>
            </a:r>
          </a:p>
        </p:txBody>
      </p:sp>
    </p:spTree>
    <p:extLst>
      <p:ext uri="{BB962C8B-B14F-4D97-AF65-F5344CB8AC3E}">
        <p14:creationId xmlns:p14="http://schemas.microsoft.com/office/powerpoint/2010/main" val="66687826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Стандартные потоки ввода/вывода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3030E880-7972-19D6-C76C-FAF9C31E11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587892"/>
            <a:ext cx="10210800" cy="5178668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Поток номер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1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(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stdout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 зарезервирован для вывода данных, как правило (хотя и не обязательно) текстовых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интерактивном запуске программы по умолчанию нацелен на запись на устройство отображения (монитор). Командная оболочка UNIX (и оболочки других систем) позволяют перенаправить этот поток с помощью символа «&gt;». Средства для выполнения программ в фоновом режиме (например,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nohup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 обычно переназначают этот поток в файл</a:t>
            </a:r>
          </a:p>
          <a:p>
            <a:pPr marL="0" indent="0">
              <a:spcBef>
                <a:spcPts val="600"/>
              </a:spcBef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321660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Стандартные потоки ввода/вывода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3030E880-7972-19D6-C76C-FAF9C31E11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587892"/>
            <a:ext cx="10210800" cy="5178668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Поток номер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(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stderr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 зарезервирован для вывода диагностических и отладочных сообщений в текстовом виде.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Чаще всего цель этого потока совпадает с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stdout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однако, в отличие от него, цель потока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stderr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не меняется при «&gt;» и создании конвейеров («|»). То есть, отладочные сообщения процесса, вывод которого перенаправлен, всё равно попадут пользователю. Командная оболочка UNIX позволяет изменять цель этого потока с помощью конструкции «2&gt;». Например, для подавления вывода этого потока нередко пишется 2&gt;/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dev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/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null</a:t>
            </a: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091024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5131962"/>
              </p:ext>
            </p:extLst>
          </p:nvPr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Информация о процессе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graphicFrame>
        <p:nvGraphicFramePr>
          <p:cNvPr id="3" name="Объект 2">
            <a:extLst>
              <a:ext uri="{FF2B5EF4-FFF2-40B4-BE49-F238E27FC236}">
                <a16:creationId xmlns:a16="http://schemas.microsoft.com/office/drawing/2014/main" id="{45EC6579-B333-2A61-27F1-6FE6D5B012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72428843"/>
              </p:ext>
            </p:extLst>
          </p:nvPr>
        </p:nvGraphicFramePr>
        <p:xfrm>
          <a:off x="838200" y="1500309"/>
          <a:ext cx="10515600" cy="4620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562507139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726402024"/>
                    </a:ext>
                  </a:extLst>
                </a:gridCol>
              </a:tblGrid>
              <a:tr h="49972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Windows</a:t>
                      </a:r>
                      <a:endParaRPr lang="LID4096" sz="2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Linux (POSIX)</a:t>
                      </a:r>
                      <a:endParaRPr lang="LID4096" sz="2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9496630"/>
                  </a:ext>
                </a:extLst>
              </a:tr>
              <a:tr h="499720">
                <a:tc gridSpan="2"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Получение </a:t>
                      </a:r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PID </a:t>
                      </a:r>
                      <a:r>
                        <a:rPr lang="ru-RU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и </a:t>
                      </a:r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PPID</a:t>
                      </a:r>
                      <a:endParaRPr lang="LID4096" sz="2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LID4096" sz="2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8854500"/>
                  </a:ext>
                </a:extLst>
              </a:tr>
              <a:tr h="499720">
                <a:tc>
                  <a:txBody>
                    <a:bodyPr/>
                    <a:lstStyle/>
                    <a:p>
                      <a:pPr algn="ctr"/>
                      <a:r>
                        <a:rPr lang="en-US" sz="2400" b="1" kern="1200" dirty="0" err="1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GetCurrentProcessId</a:t>
                      </a:r>
                      <a:endParaRPr lang="en-US" sz="24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  <a:p>
                      <a:pPr algn="ctr"/>
                      <a:r>
                        <a:rPr lang="en-US" sz="2400" b="1" kern="1200" dirty="0" err="1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GetProcessId</a:t>
                      </a:r>
                      <a:endParaRPr lang="LID4096" sz="24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getpid</a:t>
                      </a:r>
                      <a:r>
                        <a:rPr lang="en-US" sz="24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, </a:t>
                      </a:r>
                      <a:r>
                        <a:rPr lang="en-US" sz="24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getppid</a:t>
                      </a:r>
                      <a:endParaRPr lang="LID4096" sz="24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9584602"/>
                  </a:ext>
                </a:extLst>
              </a:tr>
              <a:tr h="499720">
                <a:tc gridSpan="2"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Переменные окружения</a:t>
                      </a:r>
                      <a:endParaRPr lang="LID4096" sz="2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LID4096" sz="2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9293242"/>
                  </a:ext>
                </a:extLst>
              </a:tr>
              <a:tr h="899495">
                <a:tc>
                  <a:txBody>
                    <a:bodyPr/>
                    <a:lstStyle/>
                    <a:p>
                      <a:pPr algn="ctr"/>
                      <a:r>
                        <a:rPr lang="en-US" sz="2400" b="1" kern="1200" dirty="0" err="1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6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GetEnvironmentVariable</a:t>
                      </a:r>
                      <a:endParaRPr lang="ru-RU" sz="24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  <a:p>
                      <a:pPr algn="ctr"/>
                      <a:r>
                        <a:rPr lang="en-US" sz="2400" b="1" kern="1200" dirty="0" err="1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7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SetEnvironmentVariable</a:t>
                      </a:r>
                      <a:endParaRPr lang="LID4096" sz="24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8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getenv</a:t>
                      </a:r>
                      <a:r>
                        <a:rPr lang="ru-RU" sz="24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, </a:t>
                      </a:r>
                      <a:r>
                        <a:rPr lang="en-US" sz="24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9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putenv</a:t>
                      </a:r>
                      <a:endParaRPr lang="ru-RU" sz="24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  <a:p>
                      <a:pPr algn="ctr"/>
                      <a:r>
                        <a:rPr lang="en-US" sz="24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</a:t>
                      </a:r>
                      <a:r>
                        <a:rPr lang="en-US" sz="24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1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setenv</a:t>
                      </a:r>
                      <a:r>
                        <a:rPr lang="en-US" sz="24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, </a:t>
                      </a:r>
                      <a:r>
                        <a:rPr lang="en-US" sz="24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11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unsetenv</a:t>
                      </a:r>
                      <a:endParaRPr lang="LID4096" sz="24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5550245"/>
                  </a:ext>
                </a:extLst>
              </a:tr>
              <a:tr h="499720">
                <a:tc gridSpan="2"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Текущие диск и каталог</a:t>
                      </a:r>
                      <a:endParaRPr lang="LID4096" sz="2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LID4096" sz="2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5982195"/>
                  </a:ext>
                </a:extLst>
              </a:tr>
              <a:tr h="899495">
                <a:tc>
                  <a:txBody>
                    <a:bodyPr/>
                    <a:lstStyle/>
                    <a:p>
                      <a:pPr algn="ctr"/>
                      <a:r>
                        <a:rPr lang="en-US" sz="2400" b="1" kern="1200" dirty="0" err="1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1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GetCurrentDirectory</a:t>
                      </a:r>
                      <a:endParaRPr lang="ru-RU" sz="24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  <a:p>
                      <a:pPr algn="ctr"/>
                      <a:r>
                        <a:rPr lang="en-US" sz="2400" b="1" kern="1200" dirty="0" err="1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1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SetCurrentDirectory</a:t>
                      </a:r>
                      <a:endParaRPr lang="LID4096" sz="24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1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getcwd</a:t>
                      </a:r>
                      <a:endParaRPr lang="ru-RU" sz="24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  <a:p>
                      <a:pPr algn="ctr"/>
                      <a:r>
                        <a:rPr lang="en-US" sz="24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1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chdir</a:t>
                      </a:r>
                      <a:endParaRPr lang="LID4096" sz="24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046103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03628FD-7331-7F4D-1778-CFA8EADDDDB3}"/>
              </a:ext>
            </a:extLst>
          </p:cNvPr>
          <p:cNvSpPr txBox="1"/>
          <p:nvPr/>
        </p:nvSpPr>
        <p:spPr>
          <a:xfrm>
            <a:off x="958269" y="6308208"/>
            <a:ext cx="99636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LID4096"/>
            </a:defPPr>
            <a:lvl1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ru-RU" dirty="0"/>
              <a:t>Справочник по </a:t>
            </a:r>
            <a:r>
              <a:rPr lang="en-US" dirty="0" err="1"/>
              <a:t>WinAPI</a:t>
            </a:r>
            <a:r>
              <a:rPr lang="en-US" dirty="0"/>
              <a:t> </a:t>
            </a:r>
            <a:r>
              <a:rPr lang="ru-RU" dirty="0"/>
              <a:t>функциям для процессов: </a:t>
            </a:r>
            <a:r>
              <a:rPr lang="en-US" b="1" dirty="0" err="1">
                <a:solidFill>
                  <a:schemeClr val="dk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processthreadsapi.h</a:t>
            </a:r>
            <a:endParaRPr lang="en-US" b="1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996077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lang="ru-RU" altLang="ru-RU" sz="4400" dirty="0" err="1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Межпроцессное</a:t>
                      </a:r>
                      <a:r>
                        <a:rPr lang="ru-RU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 взаимодействие</a:t>
                      </a:r>
                      <a:r>
                        <a:rPr lang="en-US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 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1BA808-C3DE-7C0E-BA2D-81B0CBE57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562408"/>
            <a:ext cx="10210800" cy="456407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IPC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(Inter-process communication,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рус.,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межпроцессное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 взаимодействие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– механизм, позволяющий процессам обмениваться данными и синхронизировать свои действия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Это фундаментальная концепция системного программирования, поскольку она позволяет процессам работать вместе для достижения общей цели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Выделяются три уровня средств IPC: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Локальный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Удаленный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Высокоуровневый</a:t>
            </a:r>
          </a:p>
          <a:p>
            <a:pPr marL="0" indent="0">
              <a:buNone/>
            </a:pP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534611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lang="ru-RU" altLang="ru-RU" sz="4400" dirty="0" err="1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Межпроцессное</a:t>
                      </a:r>
                      <a:r>
                        <a:rPr lang="ru-RU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 взаимодействие</a:t>
                      </a:r>
                      <a:r>
                        <a:rPr lang="en-US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 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1BA808-C3DE-7C0E-BA2D-81B0CBE57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562408"/>
            <a:ext cx="10210800" cy="45640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Средства локального уровня IPC привязаны к процессору и возможны только в пределах компьютера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 этому виду IPC принадлежат практически все основные механизмы IPC, а именно, каналы, разделяемая память и очереди сообщений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Коммуникационное пространство этих IPC поддерживаются только в пределах локальной системы. Из-за этих ограничений для них могут реализовываться более простые и более быстрые интерфейсы</a:t>
            </a:r>
          </a:p>
        </p:txBody>
      </p:sp>
    </p:spTree>
    <p:extLst>
      <p:ext uri="{BB962C8B-B14F-4D97-AF65-F5344CB8AC3E}">
        <p14:creationId xmlns:p14="http://schemas.microsoft.com/office/powerpoint/2010/main" val="357609658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lang="ru-RU" altLang="ru-RU" sz="4400" dirty="0" err="1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Межпроцессное</a:t>
                      </a:r>
                      <a:r>
                        <a:rPr lang="ru-RU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 взаимодействие</a:t>
                      </a:r>
                      <a:r>
                        <a:rPr lang="en-US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 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1BA808-C3DE-7C0E-BA2D-81B0CBE57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562408"/>
            <a:ext cx="10210800" cy="456407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Удаленные IPC предоставляют механизмы, которые обеспечивают взаимодействие как в пределах одного процессора, так и между программами на различных процессорах, соединенных через сеть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Сюда относятся удаленные вызовы процедур (Remote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Procedure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Calls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- RPC), сокеты Unix, а также TLI (Transport Layer Interface - интерфейс транспортного уровня) фирмы Sun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Под высокоуровневыми IPC обычно подразумеваются пакеты программного обеспечения, которые реализуют промежуточный слой между системной платформой и приложением</a:t>
            </a:r>
          </a:p>
          <a:p>
            <a:pPr marL="0" indent="0"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752574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lang="ru-RU" altLang="ru-RU" sz="4400" dirty="0" err="1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Межпроцессное</a:t>
                      </a:r>
                      <a:r>
                        <a:rPr lang="ru-RU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 взаимодействие</a:t>
                      </a:r>
                      <a:r>
                        <a:rPr lang="en-US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 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1BA808-C3DE-7C0E-BA2D-81B0CBE57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589841"/>
            <a:ext cx="10210800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Какие вообще бывают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IPC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механизмы?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Все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IPC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механизмы можно разделить на следующие категории: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Взаимодействие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Синхронизация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Сигналы</a:t>
            </a:r>
          </a:p>
          <a:p>
            <a:pPr marL="0" indent="0">
              <a:buNone/>
            </a:pP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951047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lang="ru-RU" altLang="ru-RU" sz="4400" dirty="0" err="1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Межпроцессное</a:t>
                      </a:r>
                      <a:r>
                        <a:rPr lang="ru-RU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 взаимодействие</a:t>
                      </a:r>
                      <a:r>
                        <a:rPr lang="en-US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 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1BA808-C3DE-7C0E-BA2D-81B0CBE57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589841"/>
            <a:ext cx="10210800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Средства взаимодействия можно разделить на две категории: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Средства передачи данных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Байтовый поток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Сообщение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Псевдотерминалы</a:t>
            </a: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Разделяемая память</a:t>
            </a:r>
          </a:p>
          <a:p>
            <a:pPr marL="914400" lvl="2" indent="0">
              <a:buNone/>
            </a:pP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460790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lang="ru-RU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Взаимодействие</a:t>
                      </a:r>
                      <a:r>
                        <a:rPr lang="en-US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 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pic>
        <p:nvPicPr>
          <p:cNvPr id="10" name="Объект 9">
            <a:extLst>
              <a:ext uri="{FF2B5EF4-FFF2-40B4-BE49-F238E27FC236}">
                <a16:creationId xmlns:a16="http://schemas.microsoft.com/office/drawing/2014/main" id="{CC63C07A-9842-FE06-1222-A7D0441C2F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53866" y="1748560"/>
            <a:ext cx="9484267" cy="4318131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7E8470B-C999-3563-AA43-D9EAA33FF5B4}"/>
              </a:ext>
            </a:extLst>
          </p:cNvPr>
          <p:cNvSpPr txBox="1"/>
          <p:nvPr/>
        </p:nvSpPr>
        <p:spPr>
          <a:xfrm>
            <a:off x="1881554" y="5605026"/>
            <a:ext cx="3367454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ru-RU" sz="2400" b="1" dirty="0">
                <a:latin typeface="Cambria" panose="02040503050406030204" pitchFamily="18" charset="0"/>
                <a:ea typeface="Cambria" panose="02040503050406030204" pitchFamily="18" charset="0"/>
              </a:rPr>
              <a:t>Разделяемая</a:t>
            </a:r>
            <a:r>
              <a:rPr lang="ru-RU" sz="2400" b="1" dirty="0"/>
              <a:t> </a:t>
            </a:r>
            <a:r>
              <a:rPr lang="ru-RU" sz="2400" b="1" dirty="0">
                <a:latin typeface="Cambria" panose="02040503050406030204" pitchFamily="18" charset="0"/>
                <a:ea typeface="Cambria" panose="02040503050406030204" pitchFamily="18" charset="0"/>
              </a:rPr>
              <a:t>память</a:t>
            </a:r>
            <a:endParaRPr lang="LID4096"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FFABDEF-A0EF-3D27-9A33-1B34C1D9C75E}"/>
              </a:ext>
            </a:extLst>
          </p:cNvPr>
          <p:cNvSpPr txBox="1"/>
          <p:nvPr/>
        </p:nvSpPr>
        <p:spPr>
          <a:xfrm>
            <a:off x="7048500" y="5605026"/>
            <a:ext cx="293077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ru-RU" sz="2400" b="1" dirty="0">
                <a:latin typeface="Cambria" panose="02040503050406030204" pitchFamily="18" charset="0"/>
                <a:ea typeface="Cambria" panose="02040503050406030204" pitchFamily="18" charset="0"/>
              </a:rPr>
              <a:t>Передача данных</a:t>
            </a:r>
            <a:endParaRPr lang="LID4096"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850CE30-E8D6-F115-6444-86DDDFF8B118}"/>
              </a:ext>
            </a:extLst>
          </p:cNvPr>
          <p:cNvSpPr txBox="1"/>
          <p:nvPr/>
        </p:nvSpPr>
        <p:spPr>
          <a:xfrm>
            <a:off x="1562100" y="1620827"/>
            <a:ext cx="9372599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ru-RU" sz="2400" b="1" dirty="0">
                <a:latin typeface="Cambria" panose="02040503050406030204" pitchFamily="18" charset="0"/>
                <a:ea typeface="Cambria" panose="02040503050406030204" pitchFamily="18" charset="0"/>
              </a:rPr>
              <a:t>Глобальные подходы к взаимодействию между процессами</a:t>
            </a:r>
            <a:endParaRPr lang="LID4096" sz="2400" b="1" dirty="0"/>
          </a:p>
        </p:txBody>
      </p:sp>
    </p:spTree>
    <p:extLst>
      <p:ext uri="{BB962C8B-B14F-4D97-AF65-F5344CB8AC3E}">
        <p14:creationId xmlns:p14="http://schemas.microsoft.com/office/powerpoint/2010/main" val="348135102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lang="ru-RU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Взаимодействие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41315E8C-C89D-52E9-7358-DAD24B33A9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91028" y="1506525"/>
            <a:ext cx="8809944" cy="5248860"/>
          </a:xfrm>
        </p:spPr>
      </p:pic>
    </p:spTree>
    <p:extLst>
      <p:ext uri="{BB962C8B-B14F-4D97-AF65-F5344CB8AC3E}">
        <p14:creationId xmlns:p14="http://schemas.microsoft.com/office/powerpoint/2010/main" val="214697261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lang="ru-RU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Взаимодействие</a:t>
                      </a:r>
                      <a:r>
                        <a:rPr lang="en-US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ru-RU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– Что выбрать?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1BA808-C3DE-7C0E-BA2D-81B0CBE57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809297"/>
            <a:ext cx="10210800" cy="4351338"/>
          </a:xfrm>
        </p:spPr>
        <p:txBody>
          <a:bodyPr/>
          <a:lstStyle/>
          <a:p>
            <a:pPr marL="0" indent="0"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914400" lvl="2" indent="0">
              <a:buNone/>
            </a:pP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13A914B9-72D4-4210-FFFC-7610CED475F1}"/>
              </a:ext>
            </a:extLst>
          </p:cNvPr>
          <p:cNvGraphicFramePr>
            <a:graphicFrameLocks noGrp="1"/>
          </p:cNvGraphicFramePr>
          <p:nvPr/>
        </p:nvGraphicFramePr>
        <p:xfrm>
          <a:off x="1142999" y="1484596"/>
          <a:ext cx="10210800" cy="5043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05400">
                  <a:extLst>
                    <a:ext uri="{9D8B030D-6E8A-4147-A177-3AD203B41FA5}">
                      <a16:colId xmlns:a16="http://schemas.microsoft.com/office/drawing/2014/main" val="3805420538"/>
                    </a:ext>
                  </a:extLst>
                </a:gridCol>
                <a:gridCol w="5105400">
                  <a:extLst>
                    <a:ext uri="{9D8B030D-6E8A-4147-A177-3AD203B41FA5}">
                      <a16:colId xmlns:a16="http://schemas.microsoft.com/office/drawing/2014/main" val="1783500756"/>
                    </a:ext>
                  </a:extLst>
                </a:gridCol>
              </a:tblGrid>
              <a:tr h="529016">
                <a:tc>
                  <a:txBody>
                    <a:bodyPr/>
                    <a:lstStyle/>
                    <a:p>
                      <a:pPr algn="ctr"/>
                      <a:r>
                        <a:rPr lang="ru-RU" sz="2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Передача данных</a:t>
                      </a:r>
                      <a:endParaRPr lang="LID4096" sz="28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Разделяемая память</a:t>
                      </a:r>
                      <a:endParaRPr lang="LID4096" sz="28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4457057"/>
                  </a:ext>
                </a:extLst>
              </a:tr>
              <a:tr h="754770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Процессы должны быть слабосвязанными</a:t>
                      </a:r>
                      <a:endParaRPr lang="LID4096" sz="2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Требования к повышенной производительности</a:t>
                      </a:r>
                      <a:endParaRPr lang="LID4096" sz="2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8648226"/>
                  </a:ext>
                </a:extLst>
              </a:tr>
              <a:tr h="754770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Процессы являются частью децентрализованной системы</a:t>
                      </a:r>
                      <a:endParaRPr lang="LID4096" sz="2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Обмен большими данными</a:t>
                      </a:r>
                      <a:endParaRPr lang="LID4096" sz="2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5221090"/>
                  </a:ext>
                </a:extLst>
              </a:tr>
              <a:tr h="754770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Требования к масштабированию</a:t>
                      </a:r>
                      <a:endParaRPr lang="LID4096" sz="2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Требуется гибкость при работе с данными</a:t>
                      </a:r>
                      <a:endParaRPr lang="LID4096" sz="2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8387925"/>
                  </a:ext>
                </a:extLst>
              </a:tr>
              <a:tr h="1090224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Требования к повышенной устойчивости к сбоям</a:t>
                      </a:r>
                      <a:endParaRPr lang="LID4096" sz="2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Частая сериализация/</a:t>
                      </a:r>
                      <a:r>
                        <a:rPr lang="ru-RU" sz="2400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десериализация</a:t>
                      </a:r>
                      <a:r>
                        <a:rPr lang="ru-RU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данных</a:t>
                      </a:r>
                      <a:endParaRPr lang="LID4096" sz="2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73849"/>
                  </a:ext>
                </a:extLst>
              </a:tr>
              <a:tr h="85648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Упрощенная синхронизация</a:t>
                      </a:r>
                      <a:endParaRPr lang="LID4096" sz="2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LID4096" sz="2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80515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755892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lang="ru-RU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Передача данных 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1BA808-C3DE-7C0E-BA2D-81B0CBE57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544121"/>
            <a:ext cx="1021080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Общие концепции: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Процесс, который посылает данные другому потоку, называется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отправителем</a:t>
            </a: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Процесс, который получает данные от другого потока, называется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адресатом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или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получателем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 точки зрения направления передачи данных различают следующие виды связей: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Симплексная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– передача только, в одном направлении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Полудуплексная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– передача в обе стороны, но одновременно только в одну сторону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Дуплексная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– передача в двух направлениях одновременно</a:t>
            </a: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199980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lang="ru-RU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Передача данных 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1BA808-C3DE-7C0E-BA2D-81B0CBE57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809297"/>
            <a:ext cx="3588391" cy="435133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Под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топологией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связи будем понимать конфигурацию связей между процессами-отправителями и адресатами.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 точки зрения топологии различают следующие виды связей:</a:t>
            </a: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98DDF91-6987-9E0E-CA5A-E9CE7D9E6E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3119" y="1737234"/>
            <a:ext cx="6848461" cy="4495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13590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lang="ru-RU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Передача данных 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1BA808-C3DE-7C0E-BA2D-81B0CBE57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580697"/>
            <a:ext cx="10210800" cy="435133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Концептуально обмен данными между процессами выполняется при помощи двух функций:</a:t>
            </a:r>
          </a:p>
          <a:p>
            <a:pPr marL="0" indent="0">
              <a:buNone/>
            </a:pPr>
            <a:r>
              <a:rPr lang="ru-RU" b="1" i="1" dirty="0" err="1">
                <a:latin typeface="Cambria" panose="02040503050406030204" pitchFamily="18" charset="0"/>
                <a:ea typeface="Cambria" panose="02040503050406030204" pitchFamily="18" charset="0"/>
              </a:rPr>
              <a:t>send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– послать данные</a:t>
            </a:r>
          </a:p>
          <a:p>
            <a:pPr marL="0" indent="0">
              <a:buNone/>
            </a:pPr>
            <a:r>
              <a:rPr lang="ru-RU" b="1" i="1" dirty="0" err="1">
                <a:latin typeface="Cambria" panose="02040503050406030204" pitchFamily="18" charset="0"/>
                <a:ea typeface="Cambria" panose="02040503050406030204" pitchFamily="18" charset="0"/>
              </a:rPr>
              <a:t>receive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– получить данные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передаче данных может использоваться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прямая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или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косвенная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адресация процессов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прямой адресации процессов в функциях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send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и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receive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явно указываются процессы отправитель и адресат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косвенной адресации в функциях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send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и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receive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указываются не адреса, а имя связи, по которой передаются данные</a:t>
            </a:r>
          </a:p>
          <a:p>
            <a:pPr marL="0" indent="0">
              <a:buNone/>
            </a:pP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304628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lang="ru-RU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Передача данных 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1BA808-C3DE-7C0E-BA2D-81B0CBE57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534977"/>
            <a:ext cx="102108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Адресация процессов может быть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симметричной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и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асимметричной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. Если при обмене данными между процессами используется только прямая или только косвенная адресация, то такая адресация процессов называется симметричной. Если же при обмене данными между процессами используется как прямая, так и косвенная адресация, то такая адресация процессов называется асимметричной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Например, ассиметричной является связь «клиент-сервер»</a:t>
            </a: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607835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lang="ru-RU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Передача данных 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1BA808-C3DE-7C0E-BA2D-81B0CBE57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516688"/>
            <a:ext cx="10210800" cy="468357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передаче данных различают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синхронный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и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асинхронный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обмен данными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Синхронная отправка – отправитель при отправке данных, блокируется до получения этих данных адресатом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Синхронное получение – адресат вызывая </a:t>
            </a:r>
            <a:r>
              <a:rPr lang="en-US" b="1" i="1" dirty="0">
                <a:latin typeface="Cambria" panose="02040503050406030204" pitchFamily="18" charset="0"/>
                <a:ea typeface="Cambria" panose="02040503050406030204" pitchFamily="18" charset="0"/>
              </a:rPr>
              <a:t>receive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блокируется до тех пор, пока не получит данные</a:t>
            </a: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Асинхронные варианты данных операций не приводят к блокировке отправителя и адресата соответственно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(А)синхронный обмен = (А)синхронная отправка + (А)синхронное получение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целом в системах может использоваться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смешанный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обмен данными</a:t>
            </a:r>
          </a:p>
          <a:p>
            <a:pPr marL="0" indent="0">
              <a:buNone/>
            </a:pP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994014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lang="ru-RU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Передача данных 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1BA808-C3DE-7C0E-BA2D-81B0CBE57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507544"/>
            <a:ext cx="10210800" cy="468357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Буфером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называется вместимость связи между процессами, т. е. количество данных, которые могут одновременно пересылаться по этой связи. Различаются три типа буферизации: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Нулевая вместимость связи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(нет буфера) – в этом случае возможен только синхронный обмен данными между процессами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Ограниченная вместимость связи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(ограниченный буфер) – в этом случае, если буфер полон, то отправитель данных должен ждать очистки буфера хотя бы от части данных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Неограниченная вместимость связи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(неограниченный буфер) – в этом случае отправитель никогда не ждет при отправке сообщения</a:t>
            </a: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165514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lang="ru-RU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Передача данных</a:t>
                      </a:r>
                      <a:r>
                        <a:rPr lang="en-US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 – </a:t>
                      </a:r>
                      <a:r>
                        <a:rPr lang="ru-RU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Канал 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1BA808-C3DE-7C0E-BA2D-81B0CBE57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525833"/>
            <a:ext cx="10210800" cy="4351338"/>
          </a:xfrm>
        </p:spPr>
        <p:txBody>
          <a:bodyPr/>
          <a:lstStyle/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Канал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(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pipe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 – это однонаправленный канал связи, который позволяет передавать данные между двумя связанными процессами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Свойства присущие любым каналам: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Полудуплексные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Передача данных потоком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Синхронный обмен данными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Возможность моделирования любой топологии связей</a:t>
            </a:r>
          </a:p>
          <a:p>
            <a:pPr marL="0" indent="0">
              <a:buNone/>
            </a:pP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045301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lang="ru-RU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Передача данных</a:t>
                      </a:r>
                      <a:r>
                        <a:rPr lang="en-US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 – </a:t>
                      </a:r>
                      <a:r>
                        <a:rPr lang="ru-RU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Канал 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1BA808-C3DE-7C0E-BA2D-81B0CBE57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516689"/>
            <a:ext cx="10210800" cy="4351338"/>
          </a:xfrm>
        </p:spPr>
        <p:txBody>
          <a:bodyPr/>
          <a:lstStyle/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Каналы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бывают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анонимные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и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именованные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Анонимные каналы применяются только в рамках родительски-дочерних отношений между процессами, откуда следует, что данные каналы могут применяться только в рамках одного устройства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Именованные каналы могут применяться между независимыми процессами, а также могут использоваться между процессами на разных устройствах (по сети)</a:t>
            </a:r>
          </a:p>
          <a:p>
            <a:pPr marL="0" indent="0">
              <a:buNone/>
            </a:pP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64568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lang="ru-RU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Передача данных</a:t>
                      </a:r>
                      <a:r>
                        <a:rPr lang="en-US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 – </a:t>
                      </a:r>
                      <a:r>
                        <a:rPr lang="ru-RU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Канал 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1BA808-C3DE-7C0E-BA2D-81B0CBE57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516689"/>
            <a:ext cx="10210800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Именованные каналы обладают дополнительными свойствами: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Могут быть дуплексными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Передача данных может быть и поточная, и сообщениями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Есть возможность асинхронного обмена данными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Имеют имя формата: «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\\.\pipe\pipe_name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»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Windows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в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Linux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имя не имеет строгого формата</a:t>
            </a:r>
          </a:p>
          <a:p>
            <a:pPr marL="0" indent="0"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531611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lang="ru-RU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Передача данных</a:t>
                      </a:r>
                      <a:r>
                        <a:rPr lang="en-US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 – </a:t>
                      </a:r>
                      <a:r>
                        <a:rPr lang="ru-RU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Канал </a:t>
                      </a:r>
                      <a:r>
                        <a:rPr lang="en-US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(Windows)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1BA808-C3DE-7C0E-BA2D-81B0CBE57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2999" y="1515682"/>
            <a:ext cx="10210800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Алгоритмы работы с каналами</a:t>
            </a:r>
          </a:p>
          <a:p>
            <a:pPr marL="0" indent="0">
              <a:buNone/>
            </a:pP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C7F8F3E9-8B88-AD82-18BE-E22CE5156F70}"/>
              </a:ext>
            </a:extLst>
          </p:cNvPr>
          <p:cNvGraphicFramePr>
            <a:graphicFrameLocks noGrp="1"/>
          </p:cNvGraphicFramePr>
          <p:nvPr/>
        </p:nvGraphicFramePr>
        <p:xfrm>
          <a:off x="1142999" y="2065507"/>
          <a:ext cx="10210800" cy="47203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05400">
                  <a:extLst>
                    <a:ext uri="{9D8B030D-6E8A-4147-A177-3AD203B41FA5}">
                      <a16:colId xmlns:a16="http://schemas.microsoft.com/office/drawing/2014/main" val="3805420538"/>
                    </a:ext>
                  </a:extLst>
                </a:gridCol>
                <a:gridCol w="5105400">
                  <a:extLst>
                    <a:ext uri="{9D8B030D-6E8A-4147-A177-3AD203B41FA5}">
                      <a16:colId xmlns:a16="http://schemas.microsoft.com/office/drawing/2014/main" val="1783500756"/>
                    </a:ext>
                  </a:extLst>
                </a:gridCol>
              </a:tblGrid>
              <a:tr h="500088">
                <a:tc>
                  <a:txBody>
                    <a:bodyPr/>
                    <a:lstStyle/>
                    <a:p>
                      <a:pPr algn="ctr"/>
                      <a:r>
                        <a:rPr lang="ru-RU" sz="2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Анонимный</a:t>
                      </a:r>
                      <a:endParaRPr lang="LID4096" sz="28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Именованный</a:t>
                      </a:r>
                      <a:endParaRPr lang="LID4096" sz="28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4457057"/>
                  </a:ext>
                </a:extLst>
              </a:tr>
              <a:tr h="609402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создание анонимного канала сервером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создание именованного канала сервером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8648226"/>
                  </a:ext>
                </a:extLst>
              </a:tr>
              <a:tr h="676590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соединение клиентов с каналом</a:t>
                      </a:r>
                      <a:endParaRPr lang="LID4096" sz="20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соединение сервера с экземпляром именованного канала</a:t>
                      </a:r>
                      <a:endParaRPr lang="LID4096" sz="20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5221090"/>
                  </a:ext>
                </a:extLst>
              </a:tr>
              <a:tr h="880246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обмен данными по каналу</a:t>
                      </a:r>
                      <a:endParaRPr lang="LID4096" sz="20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соединение клиента с экземпляром именованного канала</a:t>
                      </a:r>
                      <a:endParaRPr lang="LID4096" sz="20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8387925"/>
                  </a:ext>
                </a:extLst>
              </a:tr>
              <a:tr h="609402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закрытие канала</a:t>
                      </a:r>
                      <a:endParaRPr lang="LID4096" sz="20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обмен данными по именованному каналу</a:t>
                      </a:r>
                      <a:endParaRPr lang="LID4096" sz="20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73849"/>
                  </a:ext>
                </a:extLst>
              </a:tr>
              <a:tr h="6765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LID4096" sz="20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отсоединение сервера от экземпляра именованного канала</a:t>
                      </a:r>
                      <a:endParaRPr lang="LID4096" sz="20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8051547"/>
                  </a:ext>
                </a:extLst>
              </a:tr>
              <a:tr h="6765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LID4096" sz="20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закрытие именованного канала клиентом и сервером</a:t>
                      </a:r>
                      <a:endParaRPr lang="LID4096" sz="20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46232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03515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lang="ru-RU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Передача данных</a:t>
                      </a:r>
                      <a:r>
                        <a:rPr lang="en-US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 – </a:t>
                      </a:r>
                      <a:r>
                        <a:rPr lang="ru-RU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Канал (</a:t>
                      </a:r>
                      <a:r>
                        <a:rPr lang="en-US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Windows)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1BA808-C3DE-7C0E-BA2D-81B0CBE57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2999" y="1515682"/>
            <a:ext cx="10210800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Алгоритмы работы с каналами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(</a:t>
            </a:r>
            <a:r>
              <a:rPr lang="ru-RU" sz="2400" b="1" dirty="0">
                <a:latin typeface="Cambria" panose="02040503050406030204" pitchFamily="18" charset="0"/>
                <a:ea typeface="Cambria" panose="020405030504060302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Подробнее о работе с каналами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C7F8F3E9-8B88-AD82-18BE-E22CE5156F70}"/>
              </a:ext>
            </a:extLst>
          </p:cNvPr>
          <p:cNvGraphicFramePr>
            <a:graphicFrameLocks noGrp="1"/>
          </p:cNvGraphicFramePr>
          <p:nvPr/>
        </p:nvGraphicFramePr>
        <p:xfrm>
          <a:off x="1142999" y="2065507"/>
          <a:ext cx="10210800" cy="46714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05400">
                  <a:extLst>
                    <a:ext uri="{9D8B030D-6E8A-4147-A177-3AD203B41FA5}">
                      <a16:colId xmlns:a16="http://schemas.microsoft.com/office/drawing/2014/main" val="3805420538"/>
                    </a:ext>
                  </a:extLst>
                </a:gridCol>
                <a:gridCol w="5105400">
                  <a:extLst>
                    <a:ext uri="{9D8B030D-6E8A-4147-A177-3AD203B41FA5}">
                      <a16:colId xmlns:a16="http://schemas.microsoft.com/office/drawing/2014/main" val="1783500756"/>
                    </a:ext>
                  </a:extLst>
                </a:gridCol>
              </a:tblGrid>
              <a:tr h="500088">
                <a:tc>
                  <a:txBody>
                    <a:bodyPr/>
                    <a:lstStyle/>
                    <a:p>
                      <a:pPr algn="ctr"/>
                      <a:r>
                        <a:rPr lang="ru-RU" sz="2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Анонимный</a:t>
                      </a:r>
                      <a:endParaRPr lang="LID4096" sz="28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Именованный</a:t>
                      </a:r>
                      <a:endParaRPr lang="LID4096" sz="28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4457057"/>
                  </a:ext>
                </a:extLst>
              </a:tr>
              <a:tr h="609402"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 dirty="0" err="1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CreatePipe</a:t>
                      </a:r>
                      <a:endParaRPr lang="en-US" sz="20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 dirty="0" err="1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CreateNamedPipeW</a:t>
                      </a:r>
                      <a:r>
                        <a:rPr lang="en-US" sz="20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</a:t>
                      </a:r>
                      <a:endParaRPr lang="ru-RU" sz="20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8648226"/>
                  </a:ext>
                </a:extLst>
              </a:tr>
              <a:tr h="676590">
                <a:tc>
                  <a:txBody>
                    <a:bodyPr/>
                    <a:lstStyle/>
                    <a:p>
                      <a:pPr algn="ctr"/>
                      <a:r>
                        <a:rPr lang="ru-RU" sz="20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Передача дескрипторов через консоль или </a:t>
                      </a:r>
                      <a:r>
                        <a:rPr lang="en-US" sz="20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STARTUPINFO</a:t>
                      </a:r>
                      <a:endParaRPr lang="LID4096" sz="20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 dirty="0" err="1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ConnectNamedPipe</a:t>
                      </a:r>
                      <a:endParaRPr lang="LID4096" sz="20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5221090"/>
                  </a:ext>
                </a:extLst>
              </a:tr>
              <a:tr h="880246"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 dirty="0" err="1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6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ReadFile</a:t>
                      </a:r>
                      <a:r>
                        <a:rPr lang="ru-RU" sz="20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+</a:t>
                      </a:r>
                      <a:r>
                        <a:rPr lang="en-US" sz="20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</a:t>
                      </a:r>
                      <a:r>
                        <a:rPr lang="en-US" sz="2000" b="1" kern="1200" dirty="0" err="1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7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WriteFile</a:t>
                      </a:r>
                      <a:endParaRPr lang="LID4096" sz="20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 dirty="0" err="1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8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WaitNamedPipe</a:t>
                      </a:r>
                      <a:r>
                        <a:rPr lang="ru-RU" sz="20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+ </a:t>
                      </a:r>
                      <a:r>
                        <a:rPr lang="en-US" sz="2000" b="1" kern="1200" dirty="0" err="1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9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CreateFile</a:t>
                      </a:r>
                      <a:endParaRPr lang="LID4096" sz="20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8387925"/>
                  </a:ext>
                </a:extLst>
              </a:tr>
              <a:tr h="609402"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 dirty="0" err="1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1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CloseHandle</a:t>
                      </a:r>
                      <a:endParaRPr lang="LID4096" sz="20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 dirty="0" err="1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6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ReadFile</a:t>
                      </a:r>
                      <a:r>
                        <a:rPr lang="ru-RU" sz="20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+</a:t>
                      </a:r>
                      <a:r>
                        <a:rPr lang="en-US" sz="20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</a:t>
                      </a:r>
                      <a:r>
                        <a:rPr lang="en-US" sz="2000" b="1" kern="1200" dirty="0" err="1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7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WriteFile</a:t>
                      </a:r>
                      <a:r>
                        <a:rPr lang="en-US" sz="20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+ </a:t>
                      </a:r>
                      <a:r>
                        <a:rPr lang="en-US" sz="2000" b="1" kern="1200" dirty="0" err="1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11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PeekNamedPipe</a:t>
                      </a:r>
                      <a:endParaRPr lang="LID4096" sz="20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73849"/>
                  </a:ext>
                </a:extLst>
              </a:tr>
              <a:tr h="6765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LID4096" sz="20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 dirty="0" err="1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1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DisconnectNamedPipe</a:t>
                      </a:r>
                      <a:endParaRPr lang="LID4096" sz="20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8051547"/>
                  </a:ext>
                </a:extLst>
              </a:tr>
              <a:tr h="6765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LID4096" sz="20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 dirty="0" err="1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1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CloseHandle</a:t>
                      </a:r>
                      <a:endParaRPr lang="LID4096" sz="20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46232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687984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lang="ru-RU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Передача данных</a:t>
                      </a:r>
                      <a:r>
                        <a:rPr lang="en-US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 – </a:t>
                      </a:r>
                      <a:r>
                        <a:rPr lang="ru-RU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Канал </a:t>
                      </a:r>
                      <a:r>
                        <a:rPr lang="en-US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(POSIX)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1BA808-C3DE-7C0E-BA2D-81B0CBE57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2999" y="1515682"/>
            <a:ext cx="10210800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Алгоритмы работы с каналами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Создание канала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случае с именованными – открытие канала на чтение или запись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Обмен данными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Закрытие канала</a:t>
            </a:r>
          </a:p>
          <a:p>
            <a:pPr marL="0" indent="0">
              <a:buNone/>
            </a:pP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710151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lang="ru-RU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Передача данных</a:t>
                      </a:r>
                      <a:r>
                        <a:rPr lang="en-US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 – </a:t>
                      </a:r>
                      <a:r>
                        <a:rPr lang="ru-RU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Канал </a:t>
                      </a:r>
                      <a:r>
                        <a:rPr lang="en-US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(POSIX)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1BA808-C3DE-7C0E-BA2D-81B0CBE57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2999" y="1515682"/>
            <a:ext cx="10210800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Алгоритмы работы с каналами</a:t>
            </a:r>
          </a:p>
          <a:p>
            <a:pPr marL="0" indent="0">
              <a:buNone/>
            </a:pP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ADDCE50E-8298-5640-EB34-548C3E16C23F}"/>
              </a:ext>
            </a:extLst>
          </p:cNvPr>
          <p:cNvGraphicFramePr>
            <a:graphicFrameLocks noGrp="1"/>
          </p:cNvGraphicFramePr>
          <p:nvPr/>
        </p:nvGraphicFramePr>
        <p:xfrm>
          <a:off x="1142999" y="2065507"/>
          <a:ext cx="10210800" cy="3318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05400">
                  <a:extLst>
                    <a:ext uri="{9D8B030D-6E8A-4147-A177-3AD203B41FA5}">
                      <a16:colId xmlns:a16="http://schemas.microsoft.com/office/drawing/2014/main" val="3805420538"/>
                    </a:ext>
                  </a:extLst>
                </a:gridCol>
                <a:gridCol w="5105400">
                  <a:extLst>
                    <a:ext uri="{9D8B030D-6E8A-4147-A177-3AD203B41FA5}">
                      <a16:colId xmlns:a16="http://schemas.microsoft.com/office/drawing/2014/main" val="1783500756"/>
                    </a:ext>
                  </a:extLst>
                </a:gridCol>
              </a:tblGrid>
              <a:tr h="500088">
                <a:tc>
                  <a:txBody>
                    <a:bodyPr/>
                    <a:lstStyle/>
                    <a:p>
                      <a:pPr algn="ctr"/>
                      <a:r>
                        <a:rPr lang="ru-RU" sz="2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Анонимный</a:t>
                      </a:r>
                      <a:endParaRPr lang="LID4096" sz="28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Именованный</a:t>
                      </a:r>
                      <a:endParaRPr lang="LID4096" sz="28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4457057"/>
                  </a:ext>
                </a:extLst>
              </a:tr>
              <a:tr h="609402"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pipe</a:t>
                      </a:r>
                      <a:endParaRPr lang="en-US" sz="20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mkfifo</a:t>
                      </a:r>
                      <a:r>
                        <a:rPr lang="en-US" sz="20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</a:t>
                      </a:r>
                      <a:endParaRPr lang="ru-RU" sz="20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8648226"/>
                  </a:ext>
                </a:extLst>
              </a:tr>
              <a:tr h="676590">
                <a:tc>
                  <a:txBody>
                    <a:bodyPr/>
                    <a:lstStyle/>
                    <a:p>
                      <a:pPr algn="ctr"/>
                      <a:r>
                        <a:rPr lang="ru-RU" sz="20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Дескрипторы доступны дочерним по умолчанию</a:t>
                      </a:r>
                      <a:endParaRPr lang="LID4096" sz="20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open</a:t>
                      </a:r>
                      <a:endParaRPr lang="LID4096" sz="20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5221090"/>
                  </a:ext>
                </a:extLst>
              </a:tr>
              <a:tr h="880246"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read</a:t>
                      </a:r>
                      <a:r>
                        <a:rPr lang="ru-RU" sz="20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+ </a:t>
                      </a:r>
                      <a:r>
                        <a:rPr lang="en-US" sz="20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6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write</a:t>
                      </a:r>
                      <a:endParaRPr lang="LID4096" sz="20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read</a:t>
                      </a:r>
                      <a:r>
                        <a:rPr lang="ru-RU" sz="20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+ </a:t>
                      </a:r>
                      <a:r>
                        <a:rPr lang="en-US" sz="20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6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write</a:t>
                      </a:r>
                      <a:endParaRPr lang="LID4096" sz="20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8387925"/>
                  </a:ext>
                </a:extLst>
              </a:tr>
              <a:tr h="609402"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7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close</a:t>
                      </a:r>
                      <a:endParaRPr lang="LID4096" sz="20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7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close</a:t>
                      </a:r>
                      <a:endParaRPr lang="LID4096" sz="20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738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067632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lang="ru-RU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Передача данных</a:t>
                      </a:r>
                      <a:r>
                        <a:rPr lang="en-US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 – </a:t>
                      </a:r>
                      <a:r>
                        <a:rPr lang="ru-RU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Почтовый ящик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1BA808-C3DE-7C0E-BA2D-81B0CBE57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2999" y="1515681"/>
            <a:ext cx="10210800" cy="497719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altLang="ru-RU" sz="2800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Почтовый ящик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Mailslot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) –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объект ядра операционной системы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Windows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который обеспечивает передачу сообщений от процессов-клиентов к процессам-серверам, выполняющимся на компьютерах в пределах локальной сети</a:t>
            </a:r>
          </a:p>
          <a:p>
            <a:pPr marL="0" indent="0">
              <a:buNone/>
            </a:pPr>
            <a:r>
              <a:rPr lang="ru-RU" altLang="ru-RU" sz="2800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Почтовые ящики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обладают следующими свойствами: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Передача данных осуществляется сообщениями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Направление передачи данных от клиента к серверу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обмен данными может быть как синхронным, так и асинхронным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Имеют имя формата: «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\\.\mailslot\mailslot_name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»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размере сообщения до 425 Байт отправка широковещательная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размере сообщения от 426 Байт до 64 Кбайт – отправка от одного клиента одному серверу</a:t>
            </a:r>
          </a:p>
          <a:p>
            <a:pPr marL="0" indent="0">
              <a:buNone/>
            </a:pP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485501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lang="ru-RU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Передача данных</a:t>
                      </a:r>
                      <a:r>
                        <a:rPr lang="en-US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 – </a:t>
                      </a:r>
                      <a:r>
                        <a:rPr lang="ru-RU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Почтовый ящик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1BA808-C3DE-7C0E-BA2D-81B0CBE57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2999" y="1515682"/>
            <a:ext cx="102108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Алгоритм работы с почтовыми ящиками: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Создание почтового ящика сервером –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CreateMailslot</a:t>
            </a:r>
            <a:endParaRPr lang="ru-RU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Соединение клиента с почтовым ящиком – </a:t>
            </a:r>
            <a:r>
              <a:rPr lang="en-US" sz="2800" b="1" kern="1200" dirty="0" err="1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+mn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CreateFile</a:t>
            </a: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Обмен данными через почтовый ящик – </a:t>
            </a:r>
            <a:r>
              <a:rPr lang="en-US" sz="2800" b="1" kern="1200" dirty="0" err="1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+mn-c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ReadFile</a:t>
            </a:r>
            <a:r>
              <a:rPr lang="ru-RU" sz="2800" b="1" kern="1200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 +</a:t>
            </a:r>
            <a:r>
              <a:rPr lang="en-US" sz="2800" b="1" kern="1200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 </a:t>
            </a:r>
            <a:r>
              <a:rPr lang="en-US" sz="2800" b="1" kern="1200" dirty="0" err="1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+mn-c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WriteFile</a:t>
            </a: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Закрытие почтового ящика клиентом и сервером – </a:t>
            </a:r>
            <a:r>
              <a:rPr lang="en-US" sz="2800" b="1" kern="1200" dirty="0" err="1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+mn-cs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CloseHandle</a:t>
            </a:r>
            <a:endParaRPr lang="LID4096" sz="2800" b="1" kern="1200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cs typeface="+mn-cs"/>
            </a:endParaRPr>
          </a:p>
          <a:p>
            <a:pPr marL="0" indent="0"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162455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lang="ru-RU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Передача данных</a:t>
                      </a:r>
                      <a:r>
                        <a:rPr lang="en-US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 – </a:t>
                      </a:r>
                      <a:r>
                        <a:rPr lang="ru-RU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Очередь сообщений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1BA808-C3DE-7C0E-BA2D-81B0CBE57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2999" y="1515682"/>
            <a:ext cx="102108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Очередь сообщений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–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IPC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механизм использующийся для передачи информации между процессами. Считывающий и записывающий процессы обмениваются блоками (сообщениями) с четкими границами (в отличие от каналов, которые предоставляют сплошной байтовый поток)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Стандарт POSIX позволяет назначать каждому сообщению отдельный приоритет; сообщения с более высоким приоритетом передаются раньше остальных</a:t>
            </a:r>
          </a:p>
          <a:p>
            <a:pPr marL="0" indent="0">
              <a:buNone/>
            </a:pP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800022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lang="ru-RU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Передача данных</a:t>
                      </a:r>
                      <a:r>
                        <a:rPr lang="en-US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 – </a:t>
                      </a:r>
                      <a:r>
                        <a:rPr lang="ru-RU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Очередь сообщений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1BA808-C3DE-7C0E-BA2D-81B0CBE57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2999" y="1515682"/>
            <a:ext cx="102108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Алгоритм работы с очередью сообщений: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Создание почтового ящика сервером – </a:t>
            </a:r>
            <a:r>
              <a:rPr lang="en-US" b="1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mq_open</a:t>
            </a:r>
            <a:endParaRPr lang="ru-RU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Соединение клиента с почтовым ящиком – </a:t>
            </a:r>
            <a:r>
              <a:rPr lang="en-US" b="1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mq_open</a:t>
            </a:r>
            <a:endParaRPr lang="ru-RU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Обмен данными через почтовый ящик – </a:t>
            </a:r>
            <a:r>
              <a:rPr lang="en-US" b="1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mq_send</a:t>
            </a:r>
            <a:r>
              <a:rPr lang="en-US" b="1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+ </a:t>
            </a:r>
            <a:r>
              <a:rPr lang="en-US" b="1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mq_receive</a:t>
            </a:r>
            <a:endParaRPr lang="ru-RU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Закрытие почтового ящика клиентом и сервером – </a:t>
            </a:r>
            <a:r>
              <a:rPr lang="en-US" b="1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mq_close</a:t>
            </a:r>
            <a:r>
              <a:rPr lang="ru-RU" b="1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+ </a:t>
            </a:r>
            <a:r>
              <a:rPr lang="en-US" b="1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mq_unlink</a:t>
            </a:r>
            <a:endParaRPr lang="en-US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ru-RU" sz="2800" kern="1200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Оповещение о появлении сообщения – </a:t>
            </a:r>
            <a:r>
              <a:rPr lang="en-US" b="1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mq_notify</a:t>
            </a:r>
            <a:endParaRPr lang="LID4096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991070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lang="ru-RU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Разделяемая память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1BA808-C3DE-7C0E-BA2D-81B0CBE57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2999" y="1515682"/>
            <a:ext cx="102108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Разделяемая память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– это тип механизма IPC, который позволяет нескольким процессам делиться общей областью памяти, обеспечивая быструю и эффективную передачу данных между процессами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Свойства разделяемой памяти: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Дуплексный обмен данными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Синхронный обмен данными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Возможность моделирования любой топологии связей</a:t>
            </a:r>
          </a:p>
          <a:p>
            <a:pPr>
              <a:buFont typeface="Wingdings" panose="05000000000000000000" pitchFamily="2" charset="2"/>
              <a:buChar char="Ø"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608947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lang="ru-RU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Разделяемая память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1BA808-C3DE-7C0E-BA2D-81B0CBE57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2999" y="1515682"/>
            <a:ext cx="102108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Алгоритм работы с разделяемой памятью: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Создание объекта разделяемой памяти</a:t>
            </a:r>
            <a:endParaRPr lang="ru-RU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Соединение с областью памяти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Обмен данными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Закрытие объекта общей памяти</a:t>
            </a: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106353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lang="ru-RU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Разделяемая память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1BA808-C3DE-7C0E-BA2D-81B0CBE57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2999" y="1515682"/>
            <a:ext cx="10210800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Алгоритм работы с общей памятью</a:t>
            </a:r>
          </a:p>
          <a:p>
            <a:pPr marL="0" indent="0">
              <a:buNone/>
            </a:pP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C7F8F3E9-8B88-AD82-18BE-E22CE5156F70}"/>
              </a:ext>
            </a:extLst>
          </p:cNvPr>
          <p:cNvGraphicFramePr>
            <a:graphicFrameLocks noGrp="1"/>
          </p:cNvGraphicFramePr>
          <p:nvPr/>
        </p:nvGraphicFramePr>
        <p:xfrm>
          <a:off x="1142999" y="2065507"/>
          <a:ext cx="10210800" cy="40959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05400">
                  <a:extLst>
                    <a:ext uri="{9D8B030D-6E8A-4147-A177-3AD203B41FA5}">
                      <a16:colId xmlns:a16="http://schemas.microsoft.com/office/drawing/2014/main" val="3805420538"/>
                    </a:ext>
                  </a:extLst>
                </a:gridCol>
                <a:gridCol w="5105400">
                  <a:extLst>
                    <a:ext uri="{9D8B030D-6E8A-4147-A177-3AD203B41FA5}">
                      <a16:colId xmlns:a16="http://schemas.microsoft.com/office/drawing/2014/main" val="1783500756"/>
                    </a:ext>
                  </a:extLst>
                </a:gridCol>
              </a:tblGrid>
              <a:tr h="50008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Windows</a:t>
                      </a:r>
                      <a:endParaRPr lang="LID4096" sz="28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Linux</a:t>
                      </a:r>
                      <a:endParaRPr lang="LID4096" sz="28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4457057"/>
                  </a:ext>
                </a:extLst>
              </a:tr>
              <a:tr h="60940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b="1" kern="1200" dirty="0" err="1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CreateFileMapping</a:t>
                      </a:r>
                      <a:r>
                        <a:rPr lang="ru-RU" sz="20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+ </a:t>
                      </a:r>
                      <a:r>
                        <a:rPr lang="en-US" sz="2000" b="1" kern="1200" dirty="0" err="1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OpenFileMapping</a:t>
                      </a:r>
                      <a:endParaRPr lang="en-US" sz="20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shm_open</a:t>
                      </a:r>
                      <a:endParaRPr lang="LID4096" sz="20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8648226"/>
                  </a:ext>
                </a:extLst>
              </a:tr>
              <a:tr h="67659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b="1" kern="1200" dirty="0" err="1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MapViewOfFile</a:t>
                      </a:r>
                      <a:endParaRPr lang="LID4096" sz="20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6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mmap</a:t>
                      </a:r>
                      <a:endParaRPr lang="LID4096" sz="20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5221090"/>
                  </a:ext>
                </a:extLst>
              </a:tr>
              <a:tr h="880246">
                <a:tc grid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20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Работа с адресами</a:t>
                      </a:r>
                    </a:p>
                    <a:p>
                      <a:pPr marL="0" algn="ctr" defTabSz="914400" rtl="0" eaLnBrk="1" latinLnBrk="0" hangingPunct="1"/>
                      <a:r>
                        <a:rPr lang="ru-RU" sz="20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на разделяемом</a:t>
                      </a:r>
                    </a:p>
                    <a:p>
                      <a:pPr marL="0" algn="ctr" defTabSz="914400" rtl="0" eaLnBrk="1" latinLnBrk="0" hangingPunct="1"/>
                      <a:r>
                        <a:rPr lang="ru-RU" sz="20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участке памяти</a:t>
                      </a:r>
                      <a:endParaRPr lang="LID4096" sz="20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LID4096" sz="20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8387925"/>
                  </a:ext>
                </a:extLst>
              </a:tr>
              <a:tr h="60940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b="1" kern="1200" dirty="0" err="1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7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UnmapViewOfFile</a:t>
                      </a:r>
                      <a:endParaRPr lang="LID4096" sz="20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8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munmap</a:t>
                      </a:r>
                      <a:endParaRPr lang="LID4096" sz="20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73849"/>
                  </a:ext>
                </a:extLst>
              </a:tr>
              <a:tr h="6765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kern="1200" dirty="0" err="1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9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CloseHandle</a:t>
                      </a:r>
                      <a:endParaRPr lang="LID4096" sz="20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1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close</a:t>
                      </a:r>
                      <a:r>
                        <a:rPr lang="en-US" sz="20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+ </a:t>
                      </a:r>
                      <a:r>
                        <a:rPr lang="en-US" sz="20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11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shm_unlink</a:t>
                      </a:r>
                      <a:endParaRPr lang="LID4096" sz="20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80515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908812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lang="ru-RU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Сигнал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1BA808-C3DE-7C0E-BA2D-81B0CBE57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2999" y="1515682"/>
            <a:ext cx="10210800" cy="4351338"/>
          </a:xfrm>
        </p:spPr>
        <p:txBody>
          <a:bodyPr/>
          <a:lstStyle/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Сигнал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– это оповещение процесса о том, что произошло некое событие. Иногда сигналы также описываются как программные прерывания. Сигналы аналогичны аппаратным прерываниям в том смысле, что они останавливают нормальное выполнение программы. В большинстве случаев невозможно предсказать, когда именно будет доставлен тот или иной сигнал</a:t>
            </a: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3" name="Объект 4">
            <a:extLst>
              <a:ext uri="{FF2B5EF4-FFF2-40B4-BE49-F238E27FC236}">
                <a16:creationId xmlns:a16="http://schemas.microsoft.com/office/drawing/2014/main" id="{9144512E-A820-8F06-B7B1-59010D7D30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0188" y="4550401"/>
            <a:ext cx="8111624" cy="1791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41080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lang="ru-RU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Сигнал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1BA808-C3DE-7C0E-BA2D-81B0CBE57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2999" y="1515682"/>
            <a:ext cx="10210800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Когда сигнал послан процессу, операционная система прерывает выполнение процесса, при этом, если процесс установил собственный обработчик сигнала, операционная система запускает этот обработчик, передав ему информацию о сигнале, если процесс не установил обработчик, то выполняется обработчик по умолчанию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Сигналы могут возникать синхронно с ошибкой в приложении, например SIGFPE (ошибка вычислений с плавающей запятой) и SIGSEGV (ошибка адресации), но большинство сигналов является асинхронными</a:t>
            </a:r>
          </a:p>
          <a:p>
            <a:pPr marL="0" indent="0">
              <a:buNone/>
            </a:pP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391615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lang="ru-RU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Сигнал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1BA808-C3DE-7C0E-BA2D-81B0CBE57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2999" y="1515682"/>
            <a:ext cx="10210800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Сигналы могут посылаться процессу, если система обнаруживает программное событие, например, когда пользователь дает команду прервать или остановить выполнение, или получен сигнал на завершение от другого процесса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Сигналы могут прийти непосредственно от ядра ОС, когда возникает сбой аппаратных средств ЭВМ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Система определяет набор сигналов, которые могут быть отправлены процессу</a:t>
            </a: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107746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lang="ru-RU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Сигнал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1BA808-C3DE-7C0E-BA2D-81B0CBE57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2999" y="1515681"/>
            <a:ext cx="10210800" cy="483939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Отдельные сигналы подразделяются на три класса: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Системные сигналы (ошибка аппаратуры, системная ошибка и т.д.)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Сигналы от устройств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Сигналы, определенные пользователем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Механизм передачи сигналов состоит из следующих частей: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Установление и обозначение сигналов в форме целочисленных значений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Маркер в строке таблицы процессов для прибывших сигналов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Таблица с адресами функций, которые определяют реакцию на прибывающие сигналы</a:t>
            </a:r>
          </a:p>
          <a:p>
            <a:pPr marL="0" indent="0"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5466405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lang="ru-RU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Сигнал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1BA808-C3DE-7C0E-BA2D-81B0CBE57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2999" y="1515681"/>
            <a:ext cx="10210800" cy="48393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Как только сигнал приходит, он отмечается записью в таблице процессов. Если этот сигнал предназначен для процесса, то по таблице указателей функций в структуре описания процесса выясняется, как нужно реагировать на этот сигнал. При этом номер сигнала служит индексом таблицы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Известно три варианта реакции на сигналы: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Вызов собственной функции обработки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Игнорирование сигнала (не работает для SIGKILL)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Использование предварительно установленной функции обработки по умолчанию</a:t>
            </a:r>
          </a:p>
        </p:txBody>
      </p:sp>
    </p:spTree>
    <p:extLst>
      <p:ext uri="{BB962C8B-B14F-4D97-AF65-F5344CB8AC3E}">
        <p14:creationId xmlns:p14="http://schemas.microsoft.com/office/powerpoint/2010/main" val="389296771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lang="ru-RU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Сигнал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1BA808-C3DE-7C0E-BA2D-81B0CBE57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2999" y="1515681"/>
            <a:ext cx="10210800" cy="483939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Сигналы посылаются: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 терминала, нажатием специальных клавиш или комбинаций (например, нажатие Ctrl-C генерирует SIGINT, Ctrl-\ SIGQUIT, а Ctrl-Z SIGTSTP)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Ядром системы: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возникновении аппаратных исключений (недопустимых инструкций, нарушениях при обращении в память, системных сбоях и т. п.)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ошибочных системных вызовах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для информирования о событиях ввода-вывода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Одним процессом другому (или самому себе):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из С-кода с помощью системного вызова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kill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()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из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shell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утилитой /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bin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/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kill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(она позволяет задавать сигнал как числом, так и символьным обозначением)</a:t>
            </a:r>
          </a:p>
        </p:txBody>
      </p:sp>
    </p:spTree>
    <p:extLst>
      <p:ext uri="{BB962C8B-B14F-4D97-AF65-F5344CB8AC3E}">
        <p14:creationId xmlns:p14="http://schemas.microsoft.com/office/powerpoint/2010/main" val="148524743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975775-7036-98AF-A483-822007F372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6523" y="1186961"/>
            <a:ext cx="11558954" cy="960194"/>
          </a:xfrm>
          <a:ln>
            <a:noFill/>
          </a:ln>
          <a:effectLst/>
        </p:spPr>
        <p:txBody>
          <a:bodyPr/>
          <a:lstStyle/>
          <a:p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Операционные системы</a:t>
            </a: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649BFEE-497D-21FD-61AE-CA3D267537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10810" y="3697763"/>
            <a:ext cx="9170377" cy="46183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 lnSpcReduction="10000"/>
          </a:bodyPr>
          <a:lstStyle/>
          <a:p>
            <a:r>
              <a:rPr lang="ru-RU" sz="2800" b="1" dirty="0">
                <a:latin typeface="Verdana" panose="020B0604030504040204" pitchFamily="34" charset="0"/>
                <a:ea typeface="Verdana" panose="020B0604030504040204" pitchFamily="34" charset="0"/>
              </a:rPr>
              <a:t>Управление процессами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D3AED9-28E1-DDF9-E07D-185D5DD54F4C}"/>
              </a:ext>
            </a:extLst>
          </p:cNvPr>
          <p:cNvSpPr txBox="1"/>
          <p:nvPr/>
        </p:nvSpPr>
        <p:spPr>
          <a:xfrm>
            <a:off x="3200400" y="650631"/>
            <a:ext cx="5627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LID4096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77C454-9338-E7F4-034B-E11CD51ED0FB}"/>
              </a:ext>
            </a:extLst>
          </p:cNvPr>
          <p:cNvSpPr txBox="1"/>
          <p:nvPr/>
        </p:nvSpPr>
        <p:spPr>
          <a:xfrm>
            <a:off x="5191861" y="3051019"/>
            <a:ext cx="180827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latin typeface="Cambria" panose="02040503050406030204" pitchFamily="18" charset="0"/>
                <a:ea typeface="Cambria" panose="02040503050406030204" pitchFamily="18" charset="0"/>
              </a:rPr>
              <a:t>Лекция 4</a:t>
            </a:r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519E2ADD-505C-77F2-DF62-A29BD8ED577A}"/>
              </a:ext>
            </a:extLst>
          </p:cNvPr>
          <p:cNvCxnSpPr/>
          <p:nvPr/>
        </p:nvCxnSpPr>
        <p:spPr>
          <a:xfrm>
            <a:off x="4339704" y="3574239"/>
            <a:ext cx="350954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185572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13355</TotalTime>
  <Words>4285</Words>
  <Application>Microsoft Office PowerPoint</Application>
  <PresentationFormat>Широкоэкранный</PresentationFormat>
  <Paragraphs>484</Paragraphs>
  <Slides>85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85</vt:i4>
      </vt:variant>
    </vt:vector>
  </HeadingPairs>
  <TitlesOfParts>
    <vt:vector size="92" baseType="lpstr">
      <vt:lpstr>Arial</vt:lpstr>
      <vt:lpstr>Calibri</vt:lpstr>
      <vt:lpstr>Calibri Light</vt:lpstr>
      <vt:lpstr>Cambria</vt:lpstr>
      <vt:lpstr>Verdana</vt:lpstr>
      <vt:lpstr>Wingdings</vt:lpstr>
      <vt:lpstr>Тема Office</vt:lpstr>
      <vt:lpstr>Операционные системы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Операционные системы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Операционные системы</dc:title>
  <dc:creator>Pavel Bernatsky</dc:creator>
  <cp:lastModifiedBy>Manmade</cp:lastModifiedBy>
  <cp:revision>178</cp:revision>
  <dcterms:created xsi:type="dcterms:W3CDTF">2024-09-04T11:03:42Z</dcterms:created>
  <dcterms:modified xsi:type="dcterms:W3CDTF">2025-11-28T07:55:05Z</dcterms:modified>
</cp:coreProperties>
</file>