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9"/>
  </p:notesMasterIdLst>
  <p:sldIdLst>
    <p:sldId id="256" r:id="rId2"/>
    <p:sldId id="322" r:id="rId3"/>
    <p:sldId id="2435" r:id="rId4"/>
    <p:sldId id="2783" r:id="rId5"/>
    <p:sldId id="2784" r:id="rId6"/>
    <p:sldId id="2785" r:id="rId7"/>
    <p:sldId id="2786" r:id="rId8"/>
    <p:sldId id="2787" r:id="rId9"/>
    <p:sldId id="2788" r:id="rId10"/>
    <p:sldId id="2789" r:id="rId11"/>
    <p:sldId id="2790" r:id="rId12"/>
    <p:sldId id="2791" r:id="rId13"/>
    <p:sldId id="2792" r:id="rId14"/>
    <p:sldId id="2793" r:id="rId15"/>
    <p:sldId id="2794" r:id="rId16"/>
    <p:sldId id="2795" r:id="rId17"/>
    <p:sldId id="2796" r:id="rId18"/>
    <p:sldId id="2797" r:id="rId19"/>
    <p:sldId id="2798" r:id="rId20"/>
    <p:sldId id="2799" r:id="rId21"/>
    <p:sldId id="2800" r:id="rId22"/>
    <p:sldId id="2802" r:id="rId23"/>
    <p:sldId id="2801" r:id="rId24"/>
    <p:sldId id="2803" r:id="rId25"/>
    <p:sldId id="2804" r:id="rId26"/>
    <p:sldId id="2805" r:id="rId27"/>
    <p:sldId id="2806" r:id="rId28"/>
    <p:sldId id="2807" r:id="rId29"/>
    <p:sldId id="2808" r:id="rId30"/>
    <p:sldId id="2809" r:id="rId31"/>
    <p:sldId id="2810" r:id="rId32"/>
    <p:sldId id="2811" r:id="rId33"/>
    <p:sldId id="2812" r:id="rId34"/>
    <p:sldId id="2814" r:id="rId35"/>
    <p:sldId id="2815" r:id="rId36"/>
    <p:sldId id="2816" r:id="rId37"/>
    <p:sldId id="2817" r:id="rId38"/>
    <p:sldId id="2819" r:id="rId39"/>
    <p:sldId id="2820" r:id="rId40"/>
    <p:sldId id="2821" r:id="rId41"/>
    <p:sldId id="2822" r:id="rId42"/>
    <p:sldId id="458" r:id="rId43"/>
    <p:sldId id="476" r:id="rId44"/>
    <p:sldId id="472" r:id="rId45"/>
    <p:sldId id="477" r:id="rId46"/>
    <p:sldId id="474" r:id="rId47"/>
    <p:sldId id="475" r:id="rId48"/>
    <p:sldId id="479" r:id="rId49"/>
    <p:sldId id="489" r:id="rId50"/>
    <p:sldId id="487" r:id="rId51"/>
    <p:sldId id="488" r:id="rId52"/>
    <p:sldId id="480" r:id="rId53"/>
    <p:sldId id="490" r:id="rId54"/>
    <p:sldId id="491" r:id="rId55"/>
    <p:sldId id="492" r:id="rId56"/>
    <p:sldId id="493" r:id="rId57"/>
    <p:sldId id="2782" r:id="rId58"/>
  </p:sldIdLst>
  <p:sldSz cx="12192000" cy="6858000"/>
  <p:notesSz cx="6858000" cy="91440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465B88BE-7067-4E01-A3DC-10AFCF848BC8}">
          <p14:sldIdLst>
            <p14:sldId id="256"/>
            <p14:sldId id="322"/>
            <p14:sldId id="2435"/>
            <p14:sldId id="2783"/>
            <p14:sldId id="2784"/>
            <p14:sldId id="2785"/>
            <p14:sldId id="2786"/>
            <p14:sldId id="2787"/>
            <p14:sldId id="2788"/>
            <p14:sldId id="2789"/>
            <p14:sldId id="2790"/>
            <p14:sldId id="2791"/>
            <p14:sldId id="2792"/>
            <p14:sldId id="2793"/>
            <p14:sldId id="2794"/>
            <p14:sldId id="2795"/>
            <p14:sldId id="2796"/>
            <p14:sldId id="2797"/>
            <p14:sldId id="2798"/>
            <p14:sldId id="2799"/>
            <p14:sldId id="2800"/>
            <p14:sldId id="2802"/>
            <p14:sldId id="2801"/>
            <p14:sldId id="2803"/>
            <p14:sldId id="2804"/>
            <p14:sldId id="2805"/>
            <p14:sldId id="2806"/>
            <p14:sldId id="2807"/>
            <p14:sldId id="2808"/>
            <p14:sldId id="2809"/>
            <p14:sldId id="2810"/>
            <p14:sldId id="2811"/>
            <p14:sldId id="2812"/>
            <p14:sldId id="2814"/>
            <p14:sldId id="2815"/>
            <p14:sldId id="2816"/>
            <p14:sldId id="2817"/>
            <p14:sldId id="2819"/>
            <p14:sldId id="2820"/>
            <p14:sldId id="2821"/>
            <p14:sldId id="2822"/>
            <p14:sldId id="458"/>
            <p14:sldId id="476"/>
            <p14:sldId id="472"/>
            <p14:sldId id="477"/>
            <p14:sldId id="474"/>
            <p14:sldId id="475"/>
            <p14:sldId id="479"/>
            <p14:sldId id="489"/>
            <p14:sldId id="487"/>
            <p14:sldId id="488"/>
            <p14:sldId id="480"/>
            <p14:sldId id="490"/>
            <p14:sldId id="491"/>
            <p14:sldId id="492"/>
            <p14:sldId id="493"/>
            <p14:sldId id="278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avel Bernatsky" initials="PB" lastIdx="1" clrIdx="0">
    <p:extLst>
      <p:ext uri="{19B8F6BF-5375-455C-9EA6-DF929625EA0E}">
        <p15:presenceInfo xmlns:p15="http://schemas.microsoft.com/office/powerpoint/2012/main" userId="ccc84f90653f6d99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10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" y="11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E1C54A-6947-426C-B525-F25AAC6D8000}" type="datetimeFigureOut">
              <a:rPr lang="LID4096" smtClean="0"/>
              <a:t>12/29/2025</a:t>
            </a:fld>
            <a:endParaRPr lang="LID4096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LID4096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5E16E5-A75C-4DD5-8B93-6FB68F18C130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609758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F47616F-E2AF-5AFF-C83A-FE3735AD8C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FF40183-988B-BA61-B91E-493895FD9C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LID4096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F93C7B4-DBE6-06CE-CFC7-F4ED4D997D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700BE-7692-4207-B54B-A48E0B87749C}" type="datetimeFigureOut">
              <a:rPr lang="LID4096" smtClean="0"/>
              <a:t>12/29/2025</a:t>
            </a:fld>
            <a:endParaRPr lang="LID4096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B5BB8FF-A395-C430-3789-0945A5312B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9F6F5BE-4CB2-9257-FD2E-739215DBF0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14CC9-68D5-47AD-8438-7B4A21BFF56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0954622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8F2D562-7427-3307-029D-4B44232FB0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B8B9DD3-38AD-093A-348B-69D8AF9585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F409026-C297-8D81-0690-BCF909A21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700BE-7692-4207-B54B-A48E0B87749C}" type="datetimeFigureOut">
              <a:rPr lang="LID4096" smtClean="0"/>
              <a:t>12/29/2025</a:t>
            </a:fld>
            <a:endParaRPr lang="LID4096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3B93BB5-71D6-265C-76BF-7BA55253D9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5B812ED-7C3E-2E99-174E-7CBA5506E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14CC9-68D5-47AD-8438-7B4A21BFF56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9283644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A27F112-08AD-1D83-FA9D-D723E27CAE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9D4462B-7C02-3784-D700-720E99BA1E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7B8AEC1-27F7-FAA3-29A1-66B8783B8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700BE-7692-4207-B54B-A48E0B87749C}" type="datetimeFigureOut">
              <a:rPr lang="LID4096" smtClean="0"/>
              <a:t>12/29/2025</a:t>
            </a:fld>
            <a:endParaRPr lang="LID4096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59F6EE4-5AF4-CE7C-B7F4-C587BFECE7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9262F68-CBA3-0915-2295-961EC87EC1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14CC9-68D5-47AD-8438-7B4A21BFF56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627019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EAAB05-2830-EFAE-DE4B-ACD17427A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14D6307-654D-D982-4407-B8F3D79466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E186F62-1DB1-3C6F-EA13-795572FAE5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7940FA2-011F-64EB-05FB-8559EF7752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700BE-7692-4207-B54B-A48E0B87749C}" type="datetimeFigureOut">
              <a:rPr lang="LID4096" smtClean="0"/>
              <a:t>12/29/2025</a:t>
            </a:fld>
            <a:endParaRPr lang="LID4096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D7AD932-F2FD-1AF1-F4D9-F5E82D0C68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3145922-4144-9D1A-7394-C37497389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14CC9-68D5-47AD-8438-7B4A21BFF56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6937523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94C79E9-E032-A699-2CFB-44AC928323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B2F1728-CD76-7149-9437-8308AF8E6C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E31FA6F-EC02-4DE3-6650-B80F00E860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B6F9C784-C313-EF39-B97C-F19B68E627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B9EC93D1-A12D-D057-6BE7-78586123AF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339B00CC-01F6-7087-C302-940F9C98E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700BE-7692-4207-B54B-A48E0B87749C}" type="datetimeFigureOut">
              <a:rPr lang="LID4096" smtClean="0"/>
              <a:t>12/29/2025</a:t>
            </a:fld>
            <a:endParaRPr lang="LID4096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C6EBCC5B-A9F4-C18A-35F5-2949CEAAC7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E3B8B959-499F-742D-E1FF-78941C4BC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14CC9-68D5-47AD-8438-7B4A21BFF56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1102900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81B2447-25C4-6DCF-DAD4-FEDF21FF17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F846070A-CABC-8A01-79F7-51A84F443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700BE-7692-4207-B54B-A48E0B87749C}" type="datetimeFigureOut">
              <a:rPr lang="LID4096" smtClean="0"/>
              <a:t>12/29/2025</a:t>
            </a:fld>
            <a:endParaRPr lang="LID4096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36485DBC-EE1F-353D-3249-9E99780A50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1FD416B2-2B57-8CF9-D053-EF6A7AB1F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14CC9-68D5-47AD-8438-7B4A21BFF56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2366943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AA9FDE4F-142C-5FCB-A615-EDAA13534A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700BE-7692-4207-B54B-A48E0B87749C}" type="datetimeFigureOut">
              <a:rPr lang="LID4096" smtClean="0"/>
              <a:t>12/29/2025</a:t>
            </a:fld>
            <a:endParaRPr lang="LID4096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0B6EB5D2-B75C-FB77-8F63-19FA53844E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BB97733-0993-8A78-D35D-65EA8B9F81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14CC9-68D5-47AD-8438-7B4A21BFF56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000510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D8FC8E-4425-CC0C-710F-98C6425E3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473CCAC-EA76-40D6-17B2-7C2AFD4353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3FDA7B0-EDAC-58A1-8AED-C4E8D631B6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7C5F31B-981C-419A-6E49-3095113FB2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700BE-7692-4207-B54B-A48E0B87749C}" type="datetimeFigureOut">
              <a:rPr lang="LID4096" smtClean="0"/>
              <a:t>12/29/2025</a:t>
            </a:fld>
            <a:endParaRPr lang="LID4096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98C04E2-0ACD-F790-199B-7863EDE027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70F2067-A078-C57A-9204-3A8B2F260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14CC9-68D5-47AD-8438-7B4A21BFF56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39211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129DED-D98F-B6A2-AD7C-772F99A344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300C5605-1482-0713-0D51-A3FAC78156A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ID4096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6A60C0B-E2FB-D11A-ADBF-D996E01CFA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4DE09DD-B690-CF21-DFC4-F02331B63D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700BE-7692-4207-B54B-A48E0B87749C}" type="datetimeFigureOut">
              <a:rPr lang="LID4096" smtClean="0"/>
              <a:t>12/29/2025</a:t>
            </a:fld>
            <a:endParaRPr lang="LID4096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D16318B-2EDE-3598-7847-C4B4239553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97F3B72-6E6E-8853-E9C1-9458DC7C6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14CC9-68D5-47AD-8438-7B4A21BFF56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2114097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1432ABC-7F92-53F8-6B38-14EBA795ED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C74F8DD-3073-73DB-0FEC-83EE799CF0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D52118E-3EA2-A9A4-2BC2-E44B3237E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700BE-7692-4207-B54B-A48E0B87749C}" type="datetimeFigureOut">
              <a:rPr lang="LID4096" smtClean="0"/>
              <a:t>12/29/2025</a:t>
            </a:fld>
            <a:endParaRPr lang="LID4096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F9690F8-6FA6-1F50-D67E-E66228911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D72A8B7-B8F9-CA99-A4E2-0D1A64111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14CC9-68D5-47AD-8438-7B4A21BFF56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6926785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704C6878-D0A6-5DB7-DDA4-5524F63A10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4290E6A-E317-C5F4-3234-CA514674E1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927F236-BB3C-2C98-8A01-D57936776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700BE-7692-4207-B54B-A48E0B87749C}" type="datetimeFigureOut">
              <a:rPr lang="LID4096" smtClean="0"/>
              <a:t>12/29/2025</a:t>
            </a:fld>
            <a:endParaRPr lang="LID4096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FB6E046-C620-4F58-405E-9C01035990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D06496C-B074-7D9D-1BB6-63F00672AC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14CC9-68D5-47AD-8438-7B4A21BFF56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018114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78D0170-EF02-F5B2-75D2-863D125522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17FE9A8-6239-E8DA-5893-CC54DCF5A6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5C7A97B-8B60-4C6E-4780-AF77C5AA11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4700BE-7692-4207-B54B-A48E0B87749C}" type="datetimeFigureOut">
              <a:rPr lang="LID4096" smtClean="0"/>
              <a:t>12/29/2025</a:t>
            </a:fld>
            <a:endParaRPr lang="LID4096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09804F4-87F9-55E6-92A8-EB0A9D1E61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E4F28E9-786F-C124-9986-B7AAB37E4D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414CC9-68D5-47AD-8438-7B4A21BFF56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5003678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learn.microsoft.com/en-us/windows/win32/api/fileapi/nf-fileapi-createfilea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hyperlink" Target="https://pubs.opengroup.org/onlinepubs/9799919799/functions/open.html" TargetMode="Externa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learn.microsoft.com/en-us/windows/desktop/api/handleapi/nf-handleapi-closehandle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hyperlink" Target="https://pubs.opengroup.org/onlinepubs/9799919799/functions/close.html" TargetMode="Externa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learn.microsoft.com/en-us/windows/desktop/api/fileapi/nf-fileapi-readfile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hyperlink" Target="https://pubs.opengroup.org/onlinepubs/9799919799/functions/read.html#tag_17_476" TargetMode="Externa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s://learn.microsoft.com/en-us/windows/desktop/api/fileapi/nf-fileapi-writefile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hyperlink" Target="https://pubs.opengroup.org/onlinepubs/9799919799/functions/write.html#tag_17_699" TargetMode="Externa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hyperlink" Target="https://learn.microsoft.com/en-us/windows/win32/api/fileapi/nf-fileapi-setfilepointerex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hyperlink" Target="https://pubs.opengroup.org/onlinepubs/9799919799/functions/lseek.html" TargetMode="Externa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5.png"/><Relationship Id="rId2" Type="http://schemas.openxmlformats.org/officeDocument/2006/relationships/hyperlink" Target="https://pubs.opengroup.org/onlinepubs/9799919799/functions/fstatat.html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learn.microsoft.com/en-us/windows/win32/api/fileapi/nf-fileapi-setfileattributesa" TargetMode="External"/><Relationship Id="rId5" Type="http://schemas.openxmlformats.org/officeDocument/2006/relationships/image" Target="../media/image14.png"/><Relationship Id="rId4" Type="http://schemas.openxmlformats.org/officeDocument/2006/relationships/hyperlink" Target="https://learn.microsoft.com/en-us/windows/win32/api/fileapi/nf-fileapi-getfileattributesa" TargetMode="Externa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hyperlink" Target="https://learn.microsoft.com/en-us/windows/win32/api/fileapi/nf-fileapi-unlockfile" TargetMode="External"/><Relationship Id="rId2" Type="http://schemas.openxmlformats.org/officeDocument/2006/relationships/hyperlink" Target="https://pubs.opengroup.org/onlinepubs/9799919799/functions/fcntl.html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hyperlink" Target="https://learn.microsoft.com/en-us/windows/win32/api/fileapi/nf-fileapi-lockfile" TargetMode="Externa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hyperlink" Target="https://learn.microsoft.com/en-us/windows/win32/api/fileapi/nf-fileapi-flushfilebuffers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hyperlink" Target="https://pubs.opengroup.org/onlinepubs/9799919799/functions/fsync.html" TargetMode="Externa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hyperlink" Target="https://learn.microsoft.com/en-us/windows/win32/api/winbase/nf-winbase-movefile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hyperlink" Target="https://learn.microsoft.com/en-us/windows/win32/api/winbase/nf-winbase-copyfile" TargetMode="Externa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hyperlink" Target="https://learn.microsoft.com/en-us/windows/win32/api/winbase/nf-winbase-replacefilea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hyperlink" Target="https://learn.microsoft.com/en-us/windows/win32/api/winbase/nf-winbase-getfileinformationbyhandleex" TargetMode="Externa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hyperlink" Target="https://learn.microsoft.com/en-us/windows/win32/api/winbase/nf-winbase-createdirectory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hyperlink" Target="https://pubs.opengroup.org/onlinepubs/9799919799/functions/mkdir.html" TargetMode="Externa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hyperlink" Target="https://learn.microsoft.com/en-us/windows/win32/api/fileapi/nf-fileapi-removedirectorya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hyperlink" Target="https://pubs.opengroup.org/onlinepubs/9799919799/functions/rmdir.html" TargetMode="Externa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hyperlink" Target="https://learn.microsoft.com/en-us/windows/win32/api/winbase/nf-winbase-movefile" TargetMode="Externa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7" Type="http://schemas.openxmlformats.org/officeDocument/2006/relationships/image" Target="../media/image33.png"/><Relationship Id="rId2" Type="http://schemas.openxmlformats.org/officeDocument/2006/relationships/hyperlink" Target="https://learn.microsoft.com/en-us/windows/desktop/api/FileAPI/nf-fileapi-findfirstchangenotificationa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learn.microsoft.com/en-us/windows/desktop/api/FileAPI/nf-fileapi-findclosechangenotification" TargetMode="External"/><Relationship Id="rId5" Type="http://schemas.openxmlformats.org/officeDocument/2006/relationships/image" Target="../media/image32.png"/><Relationship Id="rId4" Type="http://schemas.openxmlformats.org/officeDocument/2006/relationships/hyperlink" Target="https://learn.microsoft.com/en-us/windows/desktop/api/FileAPI/nf-fileapi-findnextchangenotification" TargetMode="Externa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7" Type="http://schemas.openxmlformats.org/officeDocument/2006/relationships/image" Target="../media/image36.png"/><Relationship Id="rId2" Type="http://schemas.openxmlformats.org/officeDocument/2006/relationships/hyperlink" Target="https://www.man7.org/linux/man-pages/man2/inotify_init.2.html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man7.org/linux/man-pages/man2/inotify_rm_watch.2.html" TargetMode="External"/><Relationship Id="rId5" Type="http://schemas.openxmlformats.org/officeDocument/2006/relationships/image" Target="../media/image35.png"/><Relationship Id="rId4" Type="http://schemas.openxmlformats.org/officeDocument/2006/relationships/hyperlink" Target="https://www.man7.org/linux/man-pages/man2/inotify_add_watch.2.html" TargetMode="Externa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A975775-7036-98AF-A483-822007F372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6523" y="1186961"/>
            <a:ext cx="11558954" cy="960194"/>
          </a:xfrm>
          <a:ln>
            <a:noFill/>
          </a:ln>
          <a:effectLst/>
        </p:spPr>
        <p:txBody>
          <a:bodyPr/>
          <a:lstStyle/>
          <a:p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Операционные системы</a:t>
            </a:r>
            <a:endParaRPr lang="LID4096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649BFEE-497D-21FD-61AE-CA3D267537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18086" y="3635622"/>
            <a:ext cx="5155828" cy="461839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Autofit/>
          </a:bodyPr>
          <a:lstStyle/>
          <a:p>
            <a:r>
              <a:rPr lang="ru-RU" sz="2800" b="1" dirty="0">
                <a:latin typeface="Verdana" panose="020B0604030504040204" pitchFamily="34" charset="0"/>
                <a:ea typeface="Verdana" panose="020B0604030504040204" pitchFamily="34" charset="0"/>
              </a:rPr>
              <a:t>Операции над файлами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BD3AED9-28E1-DDF9-E07D-185D5DD54F4C}"/>
              </a:ext>
            </a:extLst>
          </p:cNvPr>
          <p:cNvSpPr txBox="1"/>
          <p:nvPr/>
        </p:nvSpPr>
        <p:spPr>
          <a:xfrm>
            <a:off x="3200402" y="650631"/>
            <a:ext cx="56270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LID4096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277C454-9338-E7F4-034B-E11CD51ED0FB}"/>
              </a:ext>
            </a:extLst>
          </p:cNvPr>
          <p:cNvSpPr txBox="1"/>
          <p:nvPr/>
        </p:nvSpPr>
        <p:spPr>
          <a:xfrm>
            <a:off x="5147592" y="3051019"/>
            <a:ext cx="189682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dirty="0">
                <a:latin typeface="Cambria" panose="02040503050406030204" pitchFamily="18" charset="0"/>
                <a:ea typeface="Cambria" panose="02040503050406030204" pitchFamily="18" charset="0"/>
              </a:rPr>
              <a:t>Лекция 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1</a:t>
            </a:r>
            <a:r>
              <a:rPr lang="ru-RU" sz="2800" dirty="0">
                <a:latin typeface="Cambria" panose="02040503050406030204" pitchFamily="18" charset="0"/>
                <a:ea typeface="Cambria" panose="02040503050406030204" pitchFamily="18" charset="0"/>
              </a:rPr>
              <a:t>7</a:t>
            </a:r>
          </a:p>
        </p:txBody>
      </p: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519E2ADD-505C-77F2-DF62-A29BD8ED577A}"/>
              </a:ext>
            </a:extLst>
          </p:cNvPr>
          <p:cNvCxnSpPr>
            <a:cxnSpLocks/>
          </p:cNvCxnSpPr>
          <p:nvPr/>
        </p:nvCxnSpPr>
        <p:spPr>
          <a:xfrm>
            <a:off x="4341228" y="3574239"/>
            <a:ext cx="350954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9860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4693"/>
            <a:ext cx="10515600" cy="4998183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Файловые операции и способы их организации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Открытие файла, обмен данными с файлом, блокировки файлов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Стандартные файлы ввода-вывода, </a:t>
            </a:r>
            <a:r>
              <a:rPr lang="ru-RU">
                <a:latin typeface="Cambria" panose="02040503050406030204" pitchFamily="18" charset="0"/>
                <a:ea typeface="Cambria" panose="02040503050406030204" pitchFamily="18" charset="0"/>
              </a:rPr>
              <a:t>перенаправление вывода</a:t>
            </a:r>
            <a:endParaRPr lang="ru-RU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921328" y="365128"/>
          <a:ext cx="10432472" cy="1018309"/>
        </p:xfrm>
        <a:graphic>
          <a:graphicData uri="http://schemas.openxmlformats.org/drawingml/2006/table">
            <a:tbl>
              <a:tblPr/>
              <a:tblGrid>
                <a:gridCol w="10432472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r>
                        <a:rPr kumimoji="0" lang="ru-RU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+mj-cs"/>
                        </a:rPr>
                        <a:t>План лекции</a:t>
                      </a:r>
                      <a:endParaRPr lang="LID4096" dirty="0"/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041007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 lnSpcReduction="10000"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Файловая система ОС предоставляет пользователям набор операций для работы с файлами, оформленный в виде системных вызовов, таких, например, как </a:t>
            </a:r>
            <a:r>
              <a:rPr lang="en-US" b="1" i="1" dirty="0" err="1">
                <a:latin typeface="Cambria" panose="02040503050406030204" pitchFamily="18" charset="0"/>
                <a:ea typeface="Cambria" panose="02040503050406030204" pitchFamily="18" charset="0"/>
              </a:rPr>
              <a:t>creat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(создать файл)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Чаще всего с одним и тем же файлом пользователь выполняет не одну операцию, а последовательность операций. Например, при работе текстового редактора с файлом, в котором содержится некоторый документ, пользователь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обычно считывает несколько страниц текста, редактирует эти данные и записывает их на место считанных, а затем считывает страницы из другой области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файла и т. п.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После большого количества операций чтения и записи пользователь завершает работу с данным файлом и переходит к другому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7531752"/>
              </p:ext>
            </p:extLst>
          </p:nvPr>
        </p:nvGraphicFramePr>
        <p:xfrm>
          <a:off x="879348" y="365128"/>
          <a:ext cx="10433304" cy="1097280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3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ФС с запоминанием и без запоминания</a:t>
                      </a:r>
                    </a:p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3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состояния операций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18917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5088989"/>
          </a:xfrm>
        </p:spPr>
        <p:txBody>
          <a:bodyPr wrap="square">
            <a:normAutofit fontScale="92500" lnSpcReduction="10000"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Какие бы операции над файлом ни выполнялись операционной системой,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b="1" i="1" dirty="0" err="1">
                <a:latin typeface="Cambria" panose="02040503050406030204" pitchFamily="18" charset="0"/>
                <a:ea typeface="Cambria" panose="02040503050406030204" pitchFamily="18" charset="0"/>
              </a:rPr>
              <a:t>read</a:t>
            </a:r>
            <a:r>
              <a:rPr lang="ru-RU" b="1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или </a:t>
            </a:r>
            <a:r>
              <a:rPr lang="ru-RU" b="1" i="1" dirty="0" err="1">
                <a:latin typeface="Cambria" panose="02040503050406030204" pitchFamily="18" charset="0"/>
                <a:ea typeface="Cambria" panose="02040503050406030204" pitchFamily="18" charset="0"/>
              </a:rPr>
              <a:t>write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ru-RU" b="1" i="1" dirty="0" err="1">
                <a:latin typeface="Cambria" panose="02040503050406030204" pitchFamily="18" charset="0"/>
                <a:ea typeface="Cambria" panose="02040503050406030204" pitchFamily="18" charset="0"/>
              </a:rPr>
              <a:t>creat</a:t>
            </a:r>
            <a:r>
              <a:rPr lang="ru-RU" b="1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или </a:t>
            </a:r>
            <a:r>
              <a:rPr lang="ru-RU" b="1" i="1" dirty="0" err="1">
                <a:latin typeface="Cambria" panose="02040503050406030204" pitchFamily="18" charset="0"/>
                <a:ea typeface="Cambria" panose="02040503050406030204" pitchFamily="18" charset="0"/>
              </a:rPr>
              <a:t>delete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, они непременно включают ряд универсальных действий, повторяемых в неизменном виде при выполнении любой операции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1.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По символьному имени файла ищутся его характеристики, которые хранятся в файловой системе на диске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2. Характеристики файла копируются в оперативную память, так как только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таким образом программный код может их использовать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3. На основании характеристик файла проверяются права пользователя на выполнение запрошенной операции (чтение, запись, удаление, просмотр атрибутов файла)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4. Очищается область памяти, отведенная под временное хранение характеристик файла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8"/>
          <a:ext cx="10433304" cy="1097280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3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ФС с запоминанием и без запоминания</a:t>
                      </a:r>
                    </a:p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3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состояния операций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894779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Помимо таких универсальных действий, каждая операция с файлом включает ряд </a:t>
            </a:r>
            <a:r>
              <a:rPr lang="ru-RU" b="1" i="1" dirty="0">
                <a:latin typeface="Cambria" panose="02040503050406030204" pitchFamily="18" charset="0"/>
                <a:ea typeface="Cambria" panose="02040503050406030204" pitchFamily="18" charset="0"/>
              </a:rPr>
              <a:t>специфических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для этой операции действий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Например, считывание данных файла присуще только операции </a:t>
            </a:r>
            <a:r>
              <a:rPr lang="ru-RU" b="1" i="1" dirty="0" err="1">
                <a:latin typeface="Cambria" panose="02040503050406030204" pitchFamily="18" charset="0"/>
                <a:ea typeface="Cambria" panose="02040503050406030204" pitchFamily="18" charset="0"/>
              </a:rPr>
              <a:t>read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(читать из файла), а запись новых данных в файл происходит только при выполнении операции </a:t>
            </a:r>
            <a:r>
              <a:rPr lang="ru-RU" b="1" i="1" dirty="0" err="1">
                <a:latin typeface="Cambria" panose="02040503050406030204" pitchFamily="18" charset="0"/>
                <a:ea typeface="Cambria" panose="02040503050406030204" pitchFamily="18" charset="0"/>
              </a:rPr>
              <a:t>write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(записать в файл)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Пусть имеется некая последовательность операций с одним и тем же файлом X, например: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read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(X),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write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(X), ...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Операционная система может выполнить эту последовательность двумя способами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8"/>
          <a:ext cx="10433304" cy="1097280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3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ФС с запоминанием и без запоминания</a:t>
                      </a:r>
                    </a:p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3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состояния операций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562150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Первый подход состоит в последовательном выполнении для каждой операции всех относящихся к ней действий, как универсальных, так и специфических (а)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То есть когда из прикладной программы поступает системный вызов на выполнение операции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read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(X), ФС ее выполняет, отсылает ответ, а затем удаляет из своих внутренних таблиц всю информацию о выполненной операции и «с чистого листа» приступает к выполнению операции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write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(X)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8"/>
          <a:ext cx="10433304" cy="1097280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3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ФС с запоминанием и без запоминания</a:t>
                      </a:r>
                    </a:p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3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состояния операций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706829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 соответствии со вторым подходом универсальные действия выполняются лишь в начале и в конце последовательности операций, а для каждой промежуточной операции выполняются только специфические действия (б)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То есть если первой была выполнена операция чтения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read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(X), то при выполнении следующей операции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write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(X) вовсе не требуется снова производить поиск и перенос в оперативную память адреса файла и других его характеристик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Действительно, эта информация уже была найдена во время выполнения предыдущей операции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read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(X ), достаточно просто ее сохранить для повторного использования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8"/>
          <a:ext cx="10433304" cy="1097280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3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ФС с запоминанием и без запоминания</a:t>
                      </a:r>
                    </a:p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3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состояния операций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951461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8"/>
          <a:ext cx="10433304" cy="1097280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3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ФС с запоминанием и без запоминания</a:t>
                      </a:r>
                    </a:p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3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состояния операций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850259E7-AD52-6198-7EE5-1EFBB4E4F0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48616"/>
            <a:ext cx="12192000" cy="3076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05561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 первом случае файловую систему относят к типу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ФС без запоминания состояния операций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(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stateless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). ФС такого типа не хранит никакой информации о предыдущих операциях, все операции выполняются абсолютно независимо друг от друга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Во втором случае ФС запоминает информацию, относящуюся к универсальным действиям, полученную ею при выполнении самой первой операции с тем, чтобы использовать ее для выполнения всех последующих операций с файлом, вплоть до самой последней. Такие ФС относят к типу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ФС с запоминаниям состояния операций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(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stateful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)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8"/>
          <a:ext cx="10433304" cy="1097280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3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ФС с запоминанием и без запоминания</a:t>
                      </a:r>
                    </a:p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3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состояния операций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270914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 lnSpcReduction="10000"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Преимуществом первого способа является его большая устойчивость к сбоям в работе системы, так как каждая операция является самодостаточной и не зависит от результата предыдущей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Поэтому первый способ иногда применяется в распределенных сетевых файловых системах (например, в Network File System, NFS компании Sun), когда сбои из-за потерь пакетов или отказов одного из сетевых узлов более вероятны, чем при локальном доступе к файлам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Однако большинство файловых систем поддерживает второй способ организации, при котором файловая система сохраняет информацию о предыдущих операциях, как более экономичный и быстрый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8"/>
          <a:ext cx="10433304" cy="1097280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3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ФС с запоминанием и без запоминания</a:t>
                      </a:r>
                    </a:p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3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состояния операций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076663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 fontScale="92500" lnSpcReduction="10000"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При втором способе в файловой системе вводится два специальных системных вызова: </a:t>
            </a:r>
            <a:r>
              <a:rPr lang="ru-RU" b="1" dirty="0" err="1">
                <a:latin typeface="Cambria" panose="02040503050406030204" pitchFamily="18" charset="0"/>
                <a:ea typeface="Cambria" panose="02040503050406030204" pitchFamily="18" charset="0"/>
              </a:rPr>
              <a:t>open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(открытие файла) и </a:t>
            </a:r>
            <a:r>
              <a:rPr lang="ru-RU" b="1" dirty="0" err="1">
                <a:latin typeface="Cambria" panose="02040503050406030204" pitchFamily="18" charset="0"/>
                <a:ea typeface="Cambria" panose="02040503050406030204" pitchFamily="18" charset="0"/>
              </a:rPr>
              <a:t>close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(закрытие файла)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Системный вызов открытия файла </a:t>
            </a:r>
            <a:r>
              <a:rPr lang="ru-RU" b="1" dirty="0" err="1">
                <a:latin typeface="Cambria" panose="02040503050406030204" pitchFamily="18" charset="0"/>
                <a:ea typeface="Cambria" panose="02040503050406030204" pitchFamily="18" charset="0"/>
              </a:rPr>
              <a:t>open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выполняется перед началом любой последовательности операций с файлом, а вызов закрытия файла </a:t>
            </a:r>
            <a:r>
              <a:rPr lang="ru-RU" b="1" dirty="0" err="1">
                <a:latin typeface="Cambria" panose="02040503050406030204" pitchFamily="18" charset="0"/>
                <a:ea typeface="Cambria" panose="02040503050406030204" pitchFamily="18" charset="0"/>
              </a:rPr>
              <a:t>close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– после окончания работы с файлом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Основной задачей вызова </a:t>
            </a:r>
            <a:r>
              <a:rPr lang="ru-RU" b="1" dirty="0" err="1">
                <a:latin typeface="Cambria" panose="02040503050406030204" pitchFamily="18" charset="0"/>
                <a:ea typeface="Cambria" panose="02040503050406030204" pitchFamily="18" charset="0"/>
              </a:rPr>
              <a:t>open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является преобразование символьного имени файла в его уникальное числовое имя, копирование характеристик файла из дисковой области в буфер оперативной памяти и проверка прав пользователя на выполнение запрошенной операции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Вызов </a:t>
            </a:r>
            <a:r>
              <a:rPr lang="ru-RU" b="1" dirty="0" err="1">
                <a:latin typeface="Cambria" panose="02040503050406030204" pitchFamily="18" charset="0"/>
                <a:ea typeface="Cambria" panose="02040503050406030204" pitchFamily="18" charset="0"/>
              </a:rPr>
              <a:t>close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освобождает буфер с характеристиками файла и делает невозможным продолжение операций с файлом без его повторного открытия</a:t>
            </a:r>
          </a:p>
          <a:p>
            <a:pPr marL="0" indent="0">
              <a:buNone/>
            </a:pPr>
            <a:endParaRPr lang="ru-RU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8"/>
          <a:ext cx="10433304" cy="1097280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3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ФС с запоминанием и без запоминания</a:t>
                      </a:r>
                    </a:p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3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состояния операций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740148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Системный вызов </a:t>
            </a:r>
            <a:r>
              <a:rPr lang="ru-RU" b="1" dirty="0" err="1">
                <a:latin typeface="Cambria" panose="02040503050406030204" pitchFamily="18" charset="0"/>
                <a:ea typeface="Cambria" panose="02040503050406030204" pitchFamily="18" charset="0"/>
              </a:rPr>
              <a:t>open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() в ОС Unix работает с двумя аргументами: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Символьным именем открываемого файла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Параметром, задающим режим открытия файла</a:t>
            </a:r>
          </a:p>
          <a:p>
            <a:pPr marL="0" indent="0">
              <a:buNone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Режим открытия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говорит системе, какие операции будут выполняться с файлом в последовательности операций до закрытия файла по системному вызову </a:t>
            </a:r>
            <a:r>
              <a:rPr lang="ru-RU" b="1" dirty="0" err="1">
                <a:latin typeface="Cambria" panose="02040503050406030204" pitchFamily="18" charset="0"/>
                <a:ea typeface="Cambria" panose="02040503050406030204" pitchFamily="18" charset="0"/>
              </a:rPr>
              <a:t>close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, например, только чтение, только запись или чтение и запись</a:t>
            </a:r>
          </a:p>
          <a:p>
            <a:pPr marL="0" indent="0">
              <a:buNone/>
            </a:pPr>
            <a:endParaRPr lang="ru-RU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2835817"/>
              </p:ext>
            </p:extLst>
          </p:nvPr>
        </p:nvGraphicFramePr>
        <p:xfrm>
          <a:off x="879348" y="365128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Открытие файла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398265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При открытии файла ОС сначала выполняет преобразование первого аргумента системного вызова, то есть символьного имени файла, в его уникальное числовое имя, которым в традиционных файловых системах Unix является номер индексного дескриптора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По номеру индексного дескриптора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i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node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файловая система находит нужную запись на диске и копирует из нее характеристики файла в оперативную память</a:t>
            </a:r>
          </a:p>
          <a:p>
            <a:pPr marL="0" indent="0">
              <a:buNone/>
            </a:pPr>
            <a:endParaRPr lang="ru-RU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8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Открытие файла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637414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Для хранения копии индексного дескриптора используются буферные области системного виртуального пространства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Характеристики индексного дескриптора, перенесенные в оперативную память, помещаются в структуру так называемого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виртуального дескриптора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vnode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(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virtual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node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) 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Структура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vnode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включает поля индексного дескриптора файла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i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node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, а также несколько перечисленных далее дополнительных полей, полезных при выполнении операций с файлом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8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Открытие файла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690121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 fontScale="92500" lnSpcReduction="2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Состояние индексного дескриптора в памяти, отражающее: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заблокирован ли файл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ждет ли снятия блокировки с файла какой-либо процесс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отличается ли представление характеристик файла в памяти от своей дисковой копии в результате изменения содержимого индексного дескриптора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отличается ли представление файла в памяти от своей дисковой копии в результате изменения содержимого файла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является ли файл точкой монтирования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Логический номер устройства файловой системы, содержащей файл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Номер индексного дескриптора. В дисковом индексном дескрипторе это поле отсутствует, так как номер определяется положением дескриптора относительно начала области индексных дескрипторов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Счетчик ссылок на данную структуру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vnode</a:t>
            </a:r>
            <a:endParaRPr lang="ru-RU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8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Открытие файла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68815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 fontScale="92500"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 одним и тем же файлом в какой-то период времени могут работать различные процессы, но операционная система не создает для каждого процесса отдельную копию структуры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vnode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, а для каждого файла, с которым в данный момент работает хотя бы один процесс, хранит ровно одну копию виртуального дескриптора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При очередном открытии файла ОС проверяет, имеется ли в системной памяти структура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vnode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открываемого файла (по номеру логического устройства и номеру индексного дескриптора, которые определяются при преобразовании символьного имени), и если имеется, то счетчик ссылок на нее увеличивается на единицу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При очередном закрытии этого файла счетчик ссылок уменьшается на единицу, и если он становится равным 0, то буфер, хранящий данную структуру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vnode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, считается свободным.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8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Открытие файла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501474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Использование единственной копии характеристик файла и некоторых характеристик файловых операций (например, признака блокировки), общих для всех работающих с файлом процессов, экономит системную память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Тем не менее существуют характеристики, индивидуальные для каждого процесса, выполняющего некоторую последовательность операций с определенным файлом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Для их хранения в Unix используется структура типа 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file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, которая так же, как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и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vnode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, хранится в системной области памяти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8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Открытие файла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688365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При каждом открытии процессом файла ОС проверяет права пользовательского процесса на выполнение запрошенной операции с файлом, и если проверка прошла успешно, создает в системной области памяти новую структуру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b="1" dirty="0" err="1">
                <a:latin typeface="Cambria" panose="02040503050406030204" pitchFamily="18" charset="0"/>
                <a:ea typeface="Cambria" panose="02040503050406030204" pitchFamily="18" charset="0"/>
              </a:rPr>
              <a:t>file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, описывающую как сам открытый файл, так и операции, которые процесс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собирается производить с файлом (например, чтение)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8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Открытие файла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80236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 lnSpcReduction="10000"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Структура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f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il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е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содержит следующие поля: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Признак режима открытия (только для чтения, для чтения и записи и т. п.)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Указатель на структуру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vnode</a:t>
            </a:r>
            <a:endParaRPr lang="ru-RU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Текущее смещение в файле (переменная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offset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) при операциях чтения/записи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Счетчик ссылок на данную структуру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Указатель на структуру, содержащую права процесса, открывшего файл (эта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структура находится в дескрипторе процесса)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Указатели на предыдущую и последующую структуру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file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, связывающие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все такие структуры в двойной список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8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Открытие файла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225776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 fontScale="92500" lnSpcReduction="10000"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Переменная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offset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, хранящаяся в структуре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file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, позволяет ОС запомнить текущее положение условного указателя в последовательности байтов файла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При открытии файла эта переменная указывает на начальный или конечный байт файла в зависимости от заданного режима открытия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После выполнения операций чтения или записи указатель сдвигается на количество байтов, прочитанное или записанное в результате операции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Следующая операция застает указатель в том состоянии, в котором его оставила предыдущая операция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Прикладной программист может явно управлять положением указателя с помощью системного вызова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l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seek</a:t>
            </a:r>
            <a:endParaRPr lang="ru-RU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8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Открытие файла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3456434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При каждом новом открытии какого-либо файла ОС создает новую структуру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fi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l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е и помещает ее в дважды связанный список. Обычно под хранение структур f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il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е в системной области отводится ограниченная область, поэтому общее количество открытых файлов всеми процессами в любой момент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ограничено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8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Открытие файла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307257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01FB744-A6B5-B5A8-09CD-79FEC8C068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4785" y="185285"/>
            <a:ext cx="5582429" cy="6487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05601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После создания структуры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file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операционная система помещает указатель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на нее в таблицу открытых файлов процесса, которая находится в контексте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процесса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Если процесс несколько раз открывает один и тот же файл, то структура f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i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le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создается для каждой операции открытия. Так как контекст процесса-родителя в Unix наследуется процессом-потомком, потомок наследует и указатели на все открытые родителем файлы, получая возможность выполнять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 ними операции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8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Открытие файла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3540924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 fontScale="92500" lnSpcReduction="10000"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Системный вызов </a:t>
            </a:r>
            <a:r>
              <a:rPr lang="ru-RU" b="1" dirty="0" err="1">
                <a:latin typeface="Cambria" panose="02040503050406030204" pitchFamily="18" charset="0"/>
                <a:ea typeface="Cambria" panose="02040503050406030204" pitchFamily="18" charset="0"/>
              </a:rPr>
              <a:t>open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возвращает в пользовательский процесс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дескриптор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файла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, который представляет собой номер записи в таблице открытых файлов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процесса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Дескриптор файла имеет локальное значение только для того процесса, который открыл файл, для разных процессов одно и то же значение дескриптора указывает на разные операции в общем случае с разными файлами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После открытия файла его дескриптор используется во всех дальнейших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операциях с файлом вплоть до явного закрытия файла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Таким образом, дескриптор файла является временным уникальным именем, но не файла, а конкретной последовательности операций с этим файлом, ограниченной командами </a:t>
            </a:r>
            <a:r>
              <a:rPr lang="ru-RU" b="1" dirty="0" err="1">
                <a:latin typeface="Cambria" panose="02040503050406030204" pitchFamily="18" charset="0"/>
                <a:ea typeface="Cambria" panose="02040503050406030204" pitchFamily="18" charset="0"/>
              </a:rPr>
              <a:t>open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и </a:t>
            </a:r>
            <a:r>
              <a:rPr lang="ru-RU" b="1" dirty="0" err="1">
                <a:latin typeface="Cambria" panose="02040503050406030204" pitchFamily="18" charset="0"/>
                <a:ea typeface="Cambria" panose="02040503050406030204" pitchFamily="18" charset="0"/>
              </a:rPr>
              <a:t>close</a:t>
            </a:r>
            <a:endParaRPr lang="ru-RU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8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Открытие файла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5049962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 lnSpcReduction="10000"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Для открытия файла /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bin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/progl.exe в режиме «только для чтения» прикладной программист может использовать следующее выражение на языке С:</a:t>
            </a:r>
          </a:p>
          <a:p>
            <a:pPr marL="0" indent="0" algn="ctr">
              <a:buNone/>
            </a:pP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fd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=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open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("/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bin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/progl.exe”,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O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_RD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O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NLY);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Здесь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fd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–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это целочисленная переменная, сохраняющая значение дескриптора открытого файла. Ее значение должно использоваться в операциях обмена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данными с файлом /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bin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/progl.exe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При неудачной попытке открытия файла (нет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прав для выполнения затребованной операции, неверное имя файла) переменной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fd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присваивается значение -1, которое является индикатором ошибки для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всех системных вызовов Unix</a:t>
            </a:r>
            <a:endParaRPr lang="ru-RU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8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Открытие файла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6609454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Для обмена данными с предварительно открытым файлом в ОС Unix существуют системные вызовы </a:t>
            </a:r>
            <a:r>
              <a:rPr lang="ru-RU" b="1" dirty="0" err="1">
                <a:latin typeface="Cambria" panose="02040503050406030204" pitchFamily="18" charset="0"/>
                <a:ea typeface="Cambria" panose="02040503050406030204" pitchFamily="18" charset="0"/>
              </a:rPr>
              <a:t>read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и </a:t>
            </a:r>
            <a:r>
              <a:rPr lang="ru-RU" b="1" dirty="0" err="1">
                <a:latin typeface="Cambria" panose="02040503050406030204" pitchFamily="18" charset="0"/>
                <a:ea typeface="Cambria" panose="02040503050406030204" pitchFamily="18" charset="0"/>
              </a:rPr>
              <a:t>write</a:t>
            </a:r>
            <a:endParaRPr lang="en-US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 том случае, когда необходима явным образом указать, с какого байта файла читать или записывать данные, используется также системный вызов 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l</a:t>
            </a:r>
            <a:r>
              <a:rPr lang="ru-RU" b="1" dirty="0" err="1">
                <a:latin typeface="Cambria" panose="02040503050406030204" pitchFamily="18" charset="0"/>
                <a:ea typeface="Cambria" panose="02040503050406030204" pitchFamily="18" charset="0"/>
              </a:rPr>
              <a:t>seek</a:t>
            </a:r>
            <a:endParaRPr lang="ru-RU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Системный вызов чтения данных из файла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read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имеет три аргумента:</a:t>
            </a:r>
          </a:p>
          <a:p>
            <a:pPr marL="0" indent="0" algn="ctr">
              <a:buNone/>
            </a:pP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read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(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fd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buffer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nbytes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);</a:t>
            </a:r>
            <a:endParaRPr lang="ru-RU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6524740"/>
              </p:ext>
            </p:extLst>
          </p:nvPr>
        </p:nvGraphicFramePr>
        <p:xfrm>
          <a:off x="879348" y="365128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Обмен данными с файлом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8202082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Первый аргумент f d является целочисленной переменной, имеющей значение дескриптора открытого файла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Второй аргумент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buffer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является указателем на область пользовательской памяти, в которую система должна поместить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считанные данные. Количество байтов этой области памяти задается третьим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целочисленным аргументом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nbytes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Функция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read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возвращает действительное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количество считанных байтов (оно может отличаться от заданного, если, например, была указана область чтения, выходящая за пределы файла) или же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код ошибки -1</a:t>
            </a:r>
            <a:endParaRPr lang="ru-RU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8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Обмен данными с файлом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2875083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Начало дисковой области, которую нужно прочитать с помощью вызова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read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, явно в этом системном вызове не указывается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Чтение начинается с того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байта, который задается смещением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offset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в структуре f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il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е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На это смещение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указывает запись с номером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fd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в таблице открытых файлов процесса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После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выполнения вызова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read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смещение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offset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наращивается на количество считанных байтов</a:t>
            </a:r>
            <a:endParaRPr lang="ru-RU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8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Обмен данными с файлом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38206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Системный вызов записи данных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wr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i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te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аналогичен вызову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read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:</a:t>
            </a:r>
          </a:p>
          <a:p>
            <a:pPr marL="0" indent="0" algn="ctr">
              <a:buNone/>
            </a:pP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wr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i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te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(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fd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buffer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nbytes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)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;</a:t>
            </a:r>
            <a:endParaRPr lang="ru-RU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Функция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write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записывает количество байтов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nbytes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из буфера оперативной памяти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buffer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в файл, описываемый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дескриптором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fd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Функция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write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,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так же как и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read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, возвращает вызвавшей ее программе значение реально переданных ею байтов или код ошибки</a:t>
            </a:r>
            <a:endParaRPr lang="ru-RU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8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Обмен данными с файлом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1773786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Рассмотрим пример, в котором прикладная программа работает с файлом,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состоящем из записей фиксированной длины по 50 байт:</a:t>
            </a:r>
          </a:p>
          <a:p>
            <a:pPr marL="182880" indent="0">
              <a:buNone/>
            </a:pP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fd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= open(‘/doc/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qwery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/basel2.txt", O_RDWR);</a:t>
            </a:r>
          </a:p>
          <a:p>
            <a:pPr marL="182880" indent="0"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read(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fd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, buffer1, 50);</a:t>
            </a:r>
          </a:p>
          <a:p>
            <a:pPr marL="182880" indent="0"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read(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fd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, buffer2, 2500);</a:t>
            </a:r>
          </a:p>
          <a:p>
            <a:pPr marL="182880" indent="0"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……</a:t>
            </a:r>
          </a:p>
          <a:p>
            <a:pPr marL="182880" indent="0">
              <a:buNone/>
            </a:pP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lseek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(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fd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, 150, 0);</a:t>
            </a:r>
          </a:p>
          <a:p>
            <a:pPr marL="182880" indent="0"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write (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fd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, output, 300);</a:t>
            </a:r>
          </a:p>
          <a:p>
            <a:pPr marL="182880" indent="0"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close(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fd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);</a:t>
            </a:r>
            <a:endParaRPr lang="ru-RU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8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Обмен данными с файлом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8285417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 приведенном фрагменте программы после открытия файла /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doc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/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query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/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base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1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2.txt для чтения и записи выполняется чтение первой записи файла, а затем читается область файла, включающая еще 50 записей, со 2 по 51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После обработки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считанных записей (эти инструкции опущены) указатель смещения в файле переводится на начало четвертой записи, и выполняется запись результатов в шесть последовательных записей, начиная с четвертой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Завершается фрагмент закрытием файла с помощью системного вызова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close</a:t>
            </a:r>
            <a:endParaRPr lang="ru-RU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8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Обмен данными с файлом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8506448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 lnSpcReduction="10000"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Все описанные системные вызовы являются синхронными, то есть пользовательский процесс переводится в состояние ожидания до тех пор, пока операция ввода-вывода не завершится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Описанный набор системных вызовов, появившийся в ОС Unix еще в 70-х годах, стал стандартом де-факто для современных операционных систем. Эти традиционные системные вызовы часто в конкретных ОС дополняются оригинальными системными вызовами ввода-вывода, например операциями асинхронного типа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На основе системных вызовов ввода-вывода обычно строятся более мощные библиотечные функции ввода-вывода, составляющие прикладной интерфейс ОС</a:t>
            </a:r>
            <a:endParaRPr lang="ru-RU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8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Обмен данными с файлом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9231354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 fontScale="92500" lnSpcReduction="20000"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Блокировки файлов и отдельных записей в файлах являются средством синхронизации работающих в кооперации процессов, пытающихся использовать один и тот же файл одновременно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Процессы могут иметь соответствующие права доступа к файлу, но одновременное применение этих прав (в особенности права записи) может привести к некорректным результатам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Примером такой ситуации является одновременное редактирование одного и того же документа несколькими пользователями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Если доступ к файлу не управляется блокировками, то каждый пользователь, который имеет право записи в файл, работает со своей копией данных файла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Результат такого редактирования непредсказуем – он зависит от того, в какой последовательности записывали изменения в файл применяемые пользователями приложения-редакторы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360691"/>
              </p:ext>
            </p:extLst>
          </p:nvPr>
        </p:nvGraphicFramePr>
        <p:xfrm>
          <a:off x="879348" y="365128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Блокировки файлов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8289378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Многопользовательские операционные системы обычно поддерживают специальный системный вызов, позволяющий программисту устанавливать и проверять блокировки на файл и его отдельные области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 Unix такой системный вызов называется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fcntl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. В его аргументах указываются дескриптор файла, для которого нужно установить или проверить блокировки, тип операции (блокирование или проверка, блокирование доступа для чтения или для записи), а также область блокирования – смещение от начала файла и размер в байтах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8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Блокировки файлов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5488378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При проверке наличия блокировок, установленных другими процессами, вызов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fcntl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немедленно возвращает управление с сообщением результата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При установке блокировки можно задать два режима работы системного вызова: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 переходом процесса в состояние ожидания в том случае, если блокировку установить невозможно (синхронный системный вызов)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 немедленным возвратом в такой ситуации с сообщением отрицательного результата (асинхронный вызов)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8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Блокировки файлов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7823098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Запрошенная блокировка записи не может быть установлена в том случае, если другой процесс уже установил свою блокировку записи на тот же файл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То есть блокировка записи является </a:t>
            </a:r>
            <a:r>
              <a:rPr lang="ru-RU" b="1" i="1" dirty="0">
                <a:latin typeface="Cambria" panose="02040503050406030204" pitchFamily="18" charset="0"/>
                <a:ea typeface="Cambria" panose="02040503050406030204" pitchFamily="18" charset="0"/>
              </a:rPr>
              <a:t>исключительной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Блокировки чтения не являются исключительными и могут устанавливаться на файл в том случае, если их области действия не перекрываются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Если на какую-то область файла установлена блокировка чтения, то на эту область нельзя установить блокировку записи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8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Блокировки файлов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7418583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 lnSpcReduction="10000"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 Unix существует два режима действия блокировок –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консультативный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(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advisory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) и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обязательный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(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mandatory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)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Основным рекомендуемым для использования режимом является консультативный. При нем операционная система не занимается блокированием операций с файлом, а только устанавливает признаки блокирования областей в структурах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file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, поддерживающих операции с файлами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Кооперирующиеся процессы обязательно должны проверять наличие блокировок на файл, чтобы синхронизировать свою работу. Если же блокировки установлены, но процесс не проверяет их, то операционная система не запрещает доступ процесса к файлу, когда процесс делает системные вызовы </a:t>
            </a:r>
            <a:r>
              <a:rPr lang="ru-RU" b="1" dirty="0" err="1">
                <a:latin typeface="Cambria" panose="02040503050406030204" pitchFamily="18" charset="0"/>
                <a:ea typeface="Cambria" panose="02040503050406030204" pitchFamily="18" charset="0"/>
              </a:rPr>
              <a:t>read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или </a:t>
            </a:r>
            <a:r>
              <a:rPr lang="ru-RU" b="1" dirty="0" err="1">
                <a:latin typeface="Cambria" panose="02040503050406030204" pitchFamily="18" charset="0"/>
                <a:ea typeface="Cambria" panose="02040503050406030204" pitchFamily="18" charset="0"/>
              </a:rPr>
              <a:t>write</a:t>
            </a:r>
            <a:endParaRPr lang="ru-RU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8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Блокировки файлов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2988790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 ОС Unix были введены в свое время понятия стандартных файлов: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Стандартный файл ввода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Стандартный файл вывода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Стандартный файл ошибок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Эти три уже открытых файла существуют у любого пользовательского процесса с момента его возникновения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Процесс в любое время может организовать ввод данных из стандартного файла ввода, выполнив следующий системный вызов: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read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(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stdio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bufer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nbytes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)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7481374"/>
              </p:ext>
            </p:extLst>
          </p:nvPr>
        </p:nvGraphicFramePr>
        <p:xfrm>
          <a:off x="879348" y="365128"/>
          <a:ext cx="10433304" cy="1097280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3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Стандартные файлы ввода и вывода,</a:t>
                      </a:r>
                    </a:p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3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перенаправление вывода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7252954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Здесь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stdio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– предопределённое имя константы, обозначающей дескриптор стандартного файла ввода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Аналогично, так как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stdout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– предопределенное имя дескриптора стандартного файла вывода, процесс может вывести данные в стандартный файл вывода, применив следующий системный вызов: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write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(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st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d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out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buffer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nbytes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)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За стандартным файлом ошибок закреплено имя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stder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r</a:t>
            </a:r>
            <a:endParaRPr lang="ru-RU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8"/>
          <a:ext cx="10433304" cy="1097280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3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Стандартные файлы ввода и вывода,</a:t>
                      </a:r>
                    </a:p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3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перенаправление вывода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4508697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Фактически, при создании нового процесса ОС помещает в его таблицу открытых файлов три записи: с номером 0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–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для стандартного файла ввода (следовательно,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stdin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всегда имеет значение 0), с номером 1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–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для стандартного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файла вывода (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stdout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= 1) и с номером 2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–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для стандартного файла ошибок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(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stder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r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=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2)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Соответственно, создается и три структуры типа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file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, на которые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указывают первые три записи таблицы открытых файлов процесса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8"/>
          <a:ext cx="10433304" cy="1097280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3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Стандартные файлы ввода и вывода,</a:t>
                      </a:r>
                    </a:p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3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перенаправление вывода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4563223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 начальный период существования процесса эти три структуры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file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связываются операционной системой с одним файлом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 качестве этого файла выступает специальный файл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–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терминал, с которого вошел в систему пользователь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Такое назначение стандартных файлов достаточно естественно. Прикладные программы, запускаемые пользователем в ходе сеанса работы, чаще всего выводят результаты и сообщения об ошибках на экран терминала, за которым работает пользователь, и с клавиатуры этого же терминала считывают команды и другие исходные данные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9551983"/>
              </p:ext>
            </p:extLst>
          </p:nvPr>
        </p:nvGraphicFramePr>
        <p:xfrm>
          <a:off x="879348" y="365128"/>
          <a:ext cx="10433304" cy="1097280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3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Стандартные файлы ввода</a:t>
                      </a:r>
                      <a:r>
                        <a:rPr lang="ru-RU" sz="36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 и вывода,</a:t>
                      </a:r>
                    </a:p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36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перенаправление </a:t>
                      </a:r>
                      <a:r>
                        <a:rPr lang="ru-RU" sz="3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вывода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2575990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7FFEC7-E86B-6191-8030-5712EEC354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41E04E5D-7BF4-0750-1580-C32B55F301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0602369"/>
              </p:ext>
            </p:extLst>
          </p:nvPr>
        </p:nvGraphicFramePr>
        <p:xfrm>
          <a:off x="1143000" y="365126"/>
          <a:ext cx="10210800" cy="1018309"/>
        </p:xfrm>
        <a:graphic>
          <a:graphicData uri="http://schemas.openxmlformats.org/drawingml/2006/table">
            <a:tbl>
              <a:tblPr/>
              <a:tblGrid>
                <a:gridCol w="10210800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r>
                        <a:rPr lang="ru-RU" sz="40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Управление файлами – Создание</a:t>
                      </a:r>
                      <a:r>
                        <a:rPr lang="en-US" sz="40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\</a:t>
                      </a:r>
                      <a:r>
                        <a:rPr lang="ru-RU" sz="40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Открытие</a:t>
                      </a:r>
                      <a:endParaRPr lang="LID4096" sz="4000" dirty="0"/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sp>
        <p:nvSpPr>
          <p:cNvPr id="2" name="Rectangle 2">
            <a:extLst>
              <a:ext uri="{FF2B5EF4-FFF2-40B4-BE49-F238E27FC236}">
                <a16:creationId xmlns:a16="http://schemas.microsoft.com/office/drawing/2014/main" id="{70240394-32C3-DA93-89C9-0491255C84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LID4096"/>
          </a:p>
        </p:txBody>
      </p:sp>
      <p:pic>
        <p:nvPicPr>
          <p:cNvPr id="10" name="Рисунок 9">
            <a:hlinkClick r:id="rId2"/>
            <a:extLst>
              <a:ext uri="{FF2B5EF4-FFF2-40B4-BE49-F238E27FC236}">
                <a16:creationId xmlns:a16="http://schemas.microsoft.com/office/drawing/2014/main" id="{59286A09-62F5-DBB9-DA53-92CA1118DA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382948" y="2260381"/>
            <a:ext cx="6054754" cy="199414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2" name="Объект 6">
            <a:extLst>
              <a:ext uri="{FF2B5EF4-FFF2-40B4-BE49-F238E27FC236}">
                <a16:creationId xmlns:a16="http://schemas.microsoft.com/office/drawing/2014/main" id="{44F14F69-AF5C-017B-53DC-7EE72DA516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1656281"/>
            <a:ext cx="3347906" cy="44935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Windows API</a:t>
            </a:r>
            <a:endParaRPr lang="LID4096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3" name="Объект 6">
            <a:extLst>
              <a:ext uri="{FF2B5EF4-FFF2-40B4-BE49-F238E27FC236}">
                <a16:creationId xmlns:a16="http://schemas.microsoft.com/office/drawing/2014/main" id="{E42F4534-665B-2C5C-C0B3-315FDA76517C}"/>
              </a:ext>
            </a:extLst>
          </p:cNvPr>
          <p:cNvSpPr txBox="1">
            <a:spLocks/>
          </p:cNvSpPr>
          <p:nvPr/>
        </p:nvSpPr>
        <p:spPr>
          <a:xfrm>
            <a:off x="1143000" y="4409268"/>
            <a:ext cx="3347906" cy="44935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POSIX API</a:t>
            </a:r>
            <a:endParaRPr lang="LID4096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15" name="Рисунок 14">
            <a:hlinkClick r:id="rId4"/>
            <a:extLst>
              <a:ext uri="{FF2B5EF4-FFF2-40B4-BE49-F238E27FC236}">
                <a16:creationId xmlns:a16="http://schemas.microsoft.com/office/drawing/2014/main" id="{BCEA5195-5D95-D20A-381D-1DC77D81C8D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76662" y="4858623"/>
            <a:ext cx="5267325" cy="111442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3832746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2C275D-B929-A188-A14A-8213403F34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142AFA0D-D19E-CC34-A2D9-6665868380D7}"/>
              </a:ext>
            </a:extLst>
          </p:cNvPr>
          <p:cNvGraphicFramePr>
            <a:graphicFrameLocks noGrp="1"/>
          </p:cNvGraphicFramePr>
          <p:nvPr/>
        </p:nvGraphicFramePr>
        <p:xfrm>
          <a:off x="1143000" y="365126"/>
          <a:ext cx="10210800" cy="1018309"/>
        </p:xfrm>
        <a:graphic>
          <a:graphicData uri="http://schemas.openxmlformats.org/drawingml/2006/table">
            <a:tbl>
              <a:tblPr/>
              <a:tblGrid>
                <a:gridCol w="10210800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r>
                        <a:rPr lang="ru-RU" sz="40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Управление файлами – Закрытие</a:t>
                      </a:r>
                      <a:endParaRPr lang="LID4096" sz="4000" dirty="0"/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sp>
        <p:nvSpPr>
          <p:cNvPr id="2" name="Rectangle 2">
            <a:extLst>
              <a:ext uri="{FF2B5EF4-FFF2-40B4-BE49-F238E27FC236}">
                <a16:creationId xmlns:a16="http://schemas.microsoft.com/office/drawing/2014/main" id="{4080AB3E-8B9E-AFDB-4B62-1700A71123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LID4096"/>
          </a:p>
        </p:txBody>
      </p:sp>
      <p:pic>
        <p:nvPicPr>
          <p:cNvPr id="10" name="Рисунок 9">
            <a:hlinkClick r:id="rId2"/>
            <a:extLst>
              <a:ext uri="{FF2B5EF4-FFF2-40B4-BE49-F238E27FC236}">
                <a16:creationId xmlns:a16="http://schemas.microsoft.com/office/drawing/2014/main" id="{B2937B7F-6B07-07D1-67E0-905CCA4C5B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382948" y="2650033"/>
            <a:ext cx="6054754" cy="121483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2" name="Объект 6">
            <a:extLst>
              <a:ext uri="{FF2B5EF4-FFF2-40B4-BE49-F238E27FC236}">
                <a16:creationId xmlns:a16="http://schemas.microsoft.com/office/drawing/2014/main" id="{657F0816-A15E-5F73-E291-E748E6552A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1656281"/>
            <a:ext cx="3347906" cy="44935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Windows API</a:t>
            </a:r>
            <a:endParaRPr lang="LID4096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3" name="Объект 6">
            <a:extLst>
              <a:ext uri="{FF2B5EF4-FFF2-40B4-BE49-F238E27FC236}">
                <a16:creationId xmlns:a16="http://schemas.microsoft.com/office/drawing/2014/main" id="{84090EFE-4D46-35D1-50BD-16CB15401908}"/>
              </a:ext>
            </a:extLst>
          </p:cNvPr>
          <p:cNvSpPr txBox="1">
            <a:spLocks/>
          </p:cNvSpPr>
          <p:nvPr/>
        </p:nvSpPr>
        <p:spPr>
          <a:xfrm>
            <a:off x="1143000" y="4409268"/>
            <a:ext cx="3347906" cy="44935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POSIX API</a:t>
            </a:r>
            <a:endParaRPr lang="LID4096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15" name="Рисунок 14">
            <a:hlinkClick r:id="rId4"/>
            <a:extLst>
              <a:ext uri="{FF2B5EF4-FFF2-40B4-BE49-F238E27FC236}">
                <a16:creationId xmlns:a16="http://schemas.microsoft.com/office/drawing/2014/main" id="{8DF94404-7A0F-0412-8B62-8C33F2FC79E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203542" y="4858623"/>
            <a:ext cx="4413564" cy="111442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97587035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D1B2F4-D9DF-C604-426F-383ED5658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52409C4D-6B15-5AC8-19DC-638C85827197}"/>
              </a:ext>
            </a:extLst>
          </p:cNvPr>
          <p:cNvGraphicFramePr>
            <a:graphicFrameLocks noGrp="1"/>
          </p:cNvGraphicFramePr>
          <p:nvPr/>
        </p:nvGraphicFramePr>
        <p:xfrm>
          <a:off x="1143000" y="365126"/>
          <a:ext cx="10210800" cy="1018309"/>
        </p:xfrm>
        <a:graphic>
          <a:graphicData uri="http://schemas.openxmlformats.org/drawingml/2006/table">
            <a:tbl>
              <a:tblPr/>
              <a:tblGrid>
                <a:gridCol w="10210800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r>
                        <a:rPr lang="ru-RU" sz="40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Управление файлами – Чтение</a:t>
                      </a:r>
                      <a:endParaRPr lang="LID4096" sz="4000" dirty="0"/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sp>
        <p:nvSpPr>
          <p:cNvPr id="2" name="Rectangle 2">
            <a:extLst>
              <a:ext uri="{FF2B5EF4-FFF2-40B4-BE49-F238E27FC236}">
                <a16:creationId xmlns:a16="http://schemas.microsoft.com/office/drawing/2014/main" id="{21B48AD9-93F5-347C-A462-59EFA749EA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LID4096"/>
          </a:p>
        </p:txBody>
      </p:sp>
      <p:pic>
        <p:nvPicPr>
          <p:cNvPr id="10" name="Рисунок 9">
            <a:hlinkClick r:id="rId2"/>
            <a:extLst>
              <a:ext uri="{FF2B5EF4-FFF2-40B4-BE49-F238E27FC236}">
                <a16:creationId xmlns:a16="http://schemas.microsoft.com/office/drawing/2014/main" id="{94D2086E-9132-0B7A-F3B0-611587E17B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787047" y="2378482"/>
            <a:ext cx="6922706" cy="187663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2" name="Объект 6">
            <a:extLst>
              <a:ext uri="{FF2B5EF4-FFF2-40B4-BE49-F238E27FC236}">
                <a16:creationId xmlns:a16="http://schemas.microsoft.com/office/drawing/2014/main" id="{F41E1CD9-1848-303B-DD91-A9C96F6032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1656281"/>
            <a:ext cx="3347906" cy="44935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Windows API</a:t>
            </a:r>
            <a:endParaRPr lang="LID4096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3" name="Объект 6">
            <a:extLst>
              <a:ext uri="{FF2B5EF4-FFF2-40B4-BE49-F238E27FC236}">
                <a16:creationId xmlns:a16="http://schemas.microsoft.com/office/drawing/2014/main" id="{7B222CB4-CAA4-45BB-B05C-6376AE300958}"/>
              </a:ext>
            </a:extLst>
          </p:cNvPr>
          <p:cNvSpPr txBox="1">
            <a:spLocks/>
          </p:cNvSpPr>
          <p:nvPr/>
        </p:nvSpPr>
        <p:spPr>
          <a:xfrm>
            <a:off x="1143000" y="4409268"/>
            <a:ext cx="3347906" cy="44935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POSIX API</a:t>
            </a:r>
            <a:endParaRPr lang="LID4096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15" name="Рисунок 14">
            <a:hlinkClick r:id="rId4"/>
            <a:extLst>
              <a:ext uri="{FF2B5EF4-FFF2-40B4-BE49-F238E27FC236}">
                <a16:creationId xmlns:a16="http://schemas.microsoft.com/office/drawing/2014/main" id="{7FCD7568-0DB1-959D-D495-A74865B6BFA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857519" y="5012773"/>
            <a:ext cx="6781762" cy="113029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79610123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304F33-579F-6014-263C-D37C85BB80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F10C84E8-69BE-17FA-53CF-86685AF6C9F2}"/>
              </a:ext>
            </a:extLst>
          </p:cNvPr>
          <p:cNvGraphicFramePr>
            <a:graphicFrameLocks noGrp="1"/>
          </p:cNvGraphicFramePr>
          <p:nvPr/>
        </p:nvGraphicFramePr>
        <p:xfrm>
          <a:off x="1143000" y="365126"/>
          <a:ext cx="10210800" cy="1018309"/>
        </p:xfrm>
        <a:graphic>
          <a:graphicData uri="http://schemas.openxmlformats.org/drawingml/2006/table">
            <a:tbl>
              <a:tblPr/>
              <a:tblGrid>
                <a:gridCol w="10210800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r>
                        <a:rPr lang="ru-RU" sz="40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Управление файлами – Запись</a:t>
                      </a:r>
                      <a:endParaRPr lang="LID4096" sz="4000" dirty="0"/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sp>
        <p:nvSpPr>
          <p:cNvPr id="2" name="Rectangle 2">
            <a:extLst>
              <a:ext uri="{FF2B5EF4-FFF2-40B4-BE49-F238E27FC236}">
                <a16:creationId xmlns:a16="http://schemas.microsoft.com/office/drawing/2014/main" id="{558BA700-27B1-BB4B-AFF8-BC40835901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LID4096"/>
          </a:p>
        </p:txBody>
      </p:sp>
      <p:pic>
        <p:nvPicPr>
          <p:cNvPr id="10" name="Рисунок 9">
            <a:hlinkClick r:id="rId2"/>
            <a:extLst>
              <a:ext uri="{FF2B5EF4-FFF2-40B4-BE49-F238E27FC236}">
                <a16:creationId xmlns:a16="http://schemas.microsoft.com/office/drawing/2014/main" id="{A2EFD827-CE9A-01A8-DEE2-C7D2C4A2FA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787000" y="2300424"/>
            <a:ext cx="6922800" cy="191405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2" name="Объект 6">
            <a:extLst>
              <a:ext uri="{FF2B5EF4-FFF2-40B4-BE49-F238E27FC236}">
                <a16:creationId xmlns:a16="http://schemas.microsoft.com/office/drawing/2014/main" id="{9A1C7F47-E0AA-4FFA-B93E-3749052454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1656281"/>
            <a:ext cx="3347906" cy="44935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Windows API</a:t>
            </a:r>
            <a:endParaRPr lang="LID4096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3" name="Объект 6">
            <a:extLst>
              <a:ext uri="{FF2B5EF4-FFF2-40B4-BE49-F238E27FC236}">
                <a16:creationId xmlns:a16="http://schemas.microsoft.com/office/drawing/2014/main" id="{5EFA607B-D753-892F-BE9F-6F152F45EC90}"/>
              </a:ext>
            </a:extLst>
          </p:cNvPr>
          <p:cNvSpPr txBox="1">
            <a:spLocks/>
          </p:cNvSpPr>
          <p:nvPr/>
        </p:nvSpPr>
        <p:spPr>
          <a:xfrm>
            <a:off x="1143000" y="4409268"/>
            <a:ext cx="3347906" cy="44935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POSIX API</a:t>
            </a:r>
            <a:endParaRPr lang="LID4096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15" name="Рисунок 14">
            <a:hlinkClick r:id="rId4"/>
            <a:extLst>
              <a:ext uri="{FF2B5EF4-FFF2-40B4-BE49-F238E27FC236}">
                <a16:creationId xmlns:a16="http://schemas.microsoft.com/office/drawing/2014/main" id="{AA915FAF-BB43-B674-06AF-AA2509621E3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857200" y="4858623"/>
            <a:ext cx="6782400" cy="131752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56089458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8FAABB-06B8-D202-313B-2ED41ABC84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A29984B7-5123-E9B1-A9CA-89BB2BD534C2}"/>
              </a:ext>
            </a:extLst>
          </p:cNvPr>
          <p:cNvGraphicFramePr>
            <a:graphicFrameLocks noGrp="1"/>
          </p:cNvGraphicFramePr>
          <p:nvPr/>
        </p:nvGraphicFramePr>
        <p:xfrm>
          <a:off x="1143000" y="365126"/>
          <a:ext cx="10210800" cy="1018309"/>
        </p:xfrm>
        <a:graphic>
          <a:graphicData uri="http://schemas.openxmlformats.org/drawingml/2006/table">
            <a:tbl>
              <a:tblPr/>
              <a:tblGrid>
                <a:gridCol w="10210800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r>
                        <a:rPr lang="ru-RU" sz="40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Управление файлами – Указатель</a:t>
                      </a:r>
                      <a:endParaRPr lang="LID4096" sz="4000" dirty="0"/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sp>
        <p:nvSpPr>
          <p:cNvPr id="2" name="Rectangle 2">
            <a:extLst>
              <a:ext uri="{FF2B5EF4-FFF2-40B4-BE49-F238E27FC236}">
                <a16:creationId xmlns:a16="http://schemas.microsoft.com/office/drawing/2014/main" id="{473FADCF-C522-5ED6-AF11-1049A4EFFB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LID4096"/>
          </a:p>
        </p:txBody>
      </p:sp>
      <p:pic>
        <p:nvPicPr>
          <p:cNvPr id="10" name="Рисунок 9">
            <a:hlinkClick r:id="rId2"/>
            <a:extLst>
              <a:ext uri="{FF2B5EF4-FFF2-40B4-BE49-F238E27FC236}">
                <a16:creationId xmlns:a16="http://schemas.microsoft.com/office/drawing/2014/main" id="{67EADC63-B097-645C-B4E7-177E407B1D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302548" y="2378482"/>
            <a:ext cx="7586904" cy="175794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2" name="Объект 6">
            <a:extLst>
              <a:ext uri="{FF2B5EF4-FFF2-40B4-BE49-F238E27FC236}">
                <a16:creationId xmlns:a16="http://schemas.microsoft.com/office/drawing/2014/main" id="{88E8EE26-5BA7-E2E7-0CA5-9B2C31BD02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1656281"/>
            <a:ext cx="3347906" cy="44935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Windows API</a:t>
            </a:r>
            <a:endParaRPr lang="LID4096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3" name="Объект 6">
            <a:extLst>
              <a:ext uri="{FF2B5EF4-FFF2-40B4-BE49-F238E27FC236}">
                <a16:creationId xmlns:a16="http://schemas.microsoft.com/office/drawing/2014/main" id="{8269F1CE-A1AB-A8B7-1AE2-A44587342587}"/>
              </a:ext>
            </a:extLst>
          </p:cNvPr>
          <p:cNvSpPr txBox="1">
            <a:spLocks/>
          </p:cNvSpPr>
          <p:nvPr/>
        </p:nvSpPr>
        <p:spPr>
          <a:xfrm>
            <a:off x="1143000" y="4409268"/>
            <a:ext cx="3347906" cy="44935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POSIX API</a:t>
            </a:r>
            <a:endParaRPr lang="LID4096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15" name="Рисунок 14">
            <a:hlinkClick r:id="rId4"/>
            <a:extLst>
              <a:ext uri="{FF2B5EF4-FFF2-40B4-BE49-F238E27FC236}">
                <a16:creationId xmlns:a16="http://schemas.microsoft.com/office/drawing/2014/main" id="{8CCB7F27-FE61-CD94-D4C8-76AF47A302F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456132" y="5003394"/>
            <a:ext cx="5267325" cy="82488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88853780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C5A634-4F2A-D4EE-3FF4-6F70BE44E9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0A2E18B1-15D0-81E0-88A9-792FA8737FB7}"/>
              </a:ext>
            </a:extLst>
          </p:cNvPr>
          <p:cNvGraphicFramePr>
            <a:graphicFrameLocks noGrp="1"/>
          </p:cNvGraphicFramePr>
          <p:nvPr/>
        </p:nvGraphicFramePr>
        <p:xfrm>
          <a:off x="1143000" y="365126"/>
          <a:ext cx="10210800" cy="1018309"/>
        </p:xfrm>
        <a:graphic>
          <a:graphicData uri="http://schemas.openxmlformats.org/drawingml/2006/table">
            <a:tbl>
              <a:tblPr/>
              <a:tblGrid>
                <a:gridCol w="10210800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r>
                        <a:rPr lang="ru-RU" sz="40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Управление файлами – Атрибуты</a:t>
                      </a:r>
                      <a:endParaRPr lang="LID4096" sz="4000" dirty="0"/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sp>
        <p:nvSpPr>
          <p:cNvPr id="2" name="Rectangle 2">
            <a:extLst>
              <a:ext uri="{FF2B5EF4-FFF2-40B4-BE49-F238E27FC236}">
                <a16:creationId xmlns:a16="http://schemas.microsoft.com/office/drawing/2014/main" id="{AC285300-C1F7-B914-9492-4D42B6A6BA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LID4096"/>
          </a:p>
        </p:txBody>
      </p:sp>
      <p:sp>
        <p:nvSpPr>
          <p:cNvPr id="12" name="Объект 6">
            <a:extLst>
              <a:ext uri="{FF2B5EF4-FFF2-40B4-BE49-F238E27FC236}">
                <a16:creationId xmlns:a16="http://schemas.microsoft.com/office/drawing/2014/main" id="{5AD48798-605A-EF34-F08A-ACE726A240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1656281"/>
            <a:ext cx="3347906" cy="44935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Windows API</a:t>
            </a:r>
            <a:endParaRPr lang="LID4096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3" name="Объект 6">
            <a:extLst>
              <a:ext uri="{FF2B5EF4-FFF2-40B4-BE49-F238E27FC236}">
                <a16:creationId xmlns:a16="http://schemas.microsoft.com/office/drawing/2014/main" id="{A6406BC0-DA30-D72B-6D9C-B374F500D795}"/>
              </a:ext>
            </a:extLst>
          </p:cNvPr>
          <p:cNvSpPr txBox="1">
            <a:spLocks/>
          </p:cNvSpPr>
          <p:nvPr/>
        </p:nvSpPr>
        <p:spPr>
          <a:xfrm>
            <a:off x="1143000" y="4409268"/>
            <a:ext cx="3347906" cy="44935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POSIX API</a:t>
            </a:r>
            <a:endParaRPr lang="LID4096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15" name="Рисунок 14">
            <a:hlinkClick r:id="rId2"/>
            <a:extLst>
              <a:ext uri="{FF2B5EF4-FFF2-40B4-BE49-F238E27FC236}">
                <a16:creationId xmlns:a16="http://schemas.microsoft.com/office/drawing/2014/main" id="{F25AE0CE-DC12-56D1-CFE7-51637B495C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442106" y="4858623"/>
            <a:ext cx="5783163" cy="154217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" name="Рисунок 3">
            <a:hlinkClick r:id="rId4"/>
            <a:extLst>
              <a:ext uri="{FF2B5EF4-FFF2-40B4-BE49-F238E27FC236}">
                <a16:creationId xmlns:a16="http://schemas.microsoft.com/office/drawing/2014/main" id="{D735AA5F-9D63-3800-6C6F-A688CB2C166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" y="2143126"/>
            <a:ext cx="5190688" cy="121656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7" name="Рисунок 6">
            <a:hlinkClick r:id="rId6"/>
            <a:extLst>
              <a:ext uri="{FF2B5EF4-FFF2-40B4-BE49-F238E27FC236}">
                <a16:creationId xmlns:a16="http://schemas.microsoft.com/office/drawing/2014/main" id="{D64BD8BB-8BAA-5324-11DF-1C30E68BA67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77344" y="3011613"/>
            <a:ext cx="5503178" cy="125305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85399287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9FCAD6-8052-7075-DDA4-58FF97E205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1A6C533D-4FF6-2D3F-B79D-BF3134F344D5}"/>
              </a:ext>
            </a:extLst>
          </p:cNvPr>
          <p:cNvGraphicFramePr>
            <a:graphicFrameLocks noGrp="1"/>
          </p:cNvGraphicFramePr>
          <p:nvPr/>
        </p:nvGraphicFramePr>
        <p:xfrm>
          <a:off x="1143000" y="365126"/>
          <a:ext cx="10210800" cy="1018309"/>
        </p:xfrm>
        <a:graphic>
          <a:graphicData uri="http://schemas.openxmlformats.org/drawingml/2006/table">
            <a:tbl>
              <a:tblPr/>
              <a:tblGrid>
                <a:gridCol w="10210800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r>
                        <a:rPr lang="ru-RU" sz="40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Управление файлами – Блокирование</a:t>
                      </a:r>
                      <a:endParaRPr lang="LID4096" sz="4000" dirty="0"/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sp>
        <p:nvSpPr>
          <p:cNvPr id="2" name="Rectangle 2">
            <a:extLst>
              <a:ext uri="{FF2B5EF4-FFF2-40B4-BE49-F238E27FC236}">
                <a16:creationId xmlns:a16="http://schemas.microsoft.com/office/drawing/2014/main" id="{331223D5-8EBB-D6D8-F50A-8CDC77B946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LID4096"/>
          </a:p>
        </p:txBody>
      </p:sp>
      <p:sp>
        <p:nvSpPr>
          <p:cNvPr id="12" name="Объект 6">
            <a:extLst>
              <a:ext uri="{FF2B5EF4-FFF2-40B4-BE49-F238E27FC236}">
                <a16:creationId xmlns:a16="http://schemas.microsoft.com/office/drawing/2014/main" id="{44344AC0-E9CA-839F-009C-9B7B7CC17A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1656281"/>
            <a:ext cx="3347906" cy="44935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Windows API</a:t>
            </a:r>
            <a:endParaRPr lang="LID4096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15" name="Рисунок 14">
            <a:hlinkClick r:id="rId2"/>
            <a:extLst>
              <a:ext uri="{FF2B5EF4-FFF2-40B4-BE49-F238E27FC236}">
                <a16:creationId xmlns:a16="http://schemas.microsoft.com/office/drawing/2014/main" id="{483A7FBF-A09C-8841-26B7-8C3DBA7A8B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087780" y="4858623"/>
            <a:ext cx="4321239" cy="111442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Объект 6">
            <a:extLst>
              <a:ext uri="{FF2B5EF4-FFF2-40B4-BE49-F238E27FC236}">
                <a16:creationId xmlns:a16="http://schemas.microsoft.com/office/drawing/2014/main" id="{9F5540C3-EB43-5555-C596-CD90EB85E2C7}"/>
              </a:ext>
            </a:extLst>
          </p:cNvPr>
          <p:cNvSpPr txBox="1">
            <a:spLocks/>
          </p:cNvSpPr>
          <p:nvPr/>
        </p:nvSpPr>
        <p:spPr>
          <a:xfrm>
            <a:off x="1143000" y="4409268"/>
            <a:ext cx="3347906" cy="44935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POSIX API</a:t>
            </a:r>
            <a:endParaRPr lang="LID4096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pSp>
        <p:nvGrpSpPr>
          <p:cNvPr id="17" name="Группа 16">
            <a:extLst>
              <a:ext uri="{FF2B5EF4-FFF2-40B4-BE49-F238E27FC236}">
                <a16:creationId xmlns:a16="http://schemas.microsoft.com/office/drawing/2014/main" id="{71986FE3-AE9C-80CC-B1F5-C73E9E50C618}"/>
              </a:ext>
            </a:extLst>
          </p:cNvPr>
          <p:cNvGrpSpPr/>
          <p:nvPr/>
        </p:nvGrpSpPr>
        <p:grpSpPr>
          <a:xfrm>
            <a:off x="1360012" y="2236339"/>
            <a:ext cx="6054754" cy="1587846"/>
            <a:chOff x="1631048" y="2226819"/>
            <a:chExt cx="6054754" cy="1587846"/>
          </a:xfrm>
        </p:grpSpPr>
        <p:pic>
          <p:nvPicPr>
            <p:cNvPr id="9" name="Рисунок 8">
              <a:hlinkClick r:id="rId4"/>
              <a:extLst>
                <a:ext uri="{FF2B5EF4-FFF2-40B4-BE49-F238E27FC236}">
                  <a16:creationId xmlns:a16="http://schemas.microsoft.com/office/drawing/2014/main" id="{96762748-2FED-1649-772C-9CD09EB3806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631048" y="2226819"/>
              <a:ext cx="6054754" cy="1587846"/>
            </a:xfrm>
            <a:prstGeom prst="rect">
              <a:avLst/>
            </a:prstGeom>
            <a:solidFill>
              <a:srgbClr val="FFFFFF">
                <a:shade val="85000"/>
              </a:srgbClr>
            </a:solidFill>
            <a:ln w="88900" cap="sq">
              <a:solidFill>
                <a:srgbClr val="FFFFFF"/>
              </a:solidFill>
              <a:miter lim="800000"/>
            </a:ln>
            <a:effectLst>
              <a:outerShdw blurRad="55000" dist="18000" dir="54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twoPt" dir="t">
                <a:rot lat="0" lon="0" rev="7200000"/>
              </a:lightRig>
            </a:scene3d>
            <a:sp3d>
              <a:bevelT w="25400" h="19050"/>
              <a:contourClr>
                <a:srgbClr val="FFFFFF"/>
              </a:contourClr>
            </a:sp3d>
          </p:spPr>
        </p:pic>
        <p:pic>
          <p:nvPicPr>
            <p:cNvPr id="14" name="Рисунок 13">
              <a:extLst>
                <a:ext uri="{FF2B5EF4-FFF2-40B4-BE49-F238E27FC236}">
                  <a16:creationId xmlns:a16="http://schemas.microsoft.com/office/drawing/2014/main" id="{A6AD17CC-81D6-E59A-EF02-A9F72B301CD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293079" y="2237985"/>
              <a:ext cx="812072" cy="164952"/>
            </a:xfrm>
            <a:prstGeom prst="rect">
              <a:avLst/>
            </a:prstGeom>
          </p:spPr>
        </p:pic>
        <p:sp>
          <p:nvSpPr>
            <p:cNvPr id="16" name="Прямоугольник 15">
              <a:extLst>
                <a:ext uri="{FF2B5EF4-FFF2-40B4-BE49-F238E27FC236}">
                  <a16:creationId xmlns:a16="http://schemas.microsoft.com/office/drawing/2014/main" id="{E790EE23-E829-F46F-1867-4997937DBBCC}"/>
                </a:ext>
              </a:extLst>
            </p:cNvPr>
            <p:cNvSpPr/>
            <p:nvPr/>
          </p:nvSpPr>
          <p:spPr>
            <a:xfrm>
              <a:off x="2177415" y="2253615"/>
              <a:ext cx="115664" cy="13525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endParaRPr>
            </a:p>
          </p:txBody>
        </p:sp>
      </p:grpSp>
      <p:pic>
        <p:nvPicPr>
          <p:cNvPr id="10" name="Рисунок 9">
            <a:hlinkClick r:id="rId7"/>
            <a:extLst>
              <a:ext uri="{FF2B5EF4-FFF2-40B4-BE49-F238E27FC236}">
                <a16:creationId xmlns:a16="http://schemas.microsoft.com/office/drawing/2014/main" id="{D7ACC904-BFFD-5EE4-B805-F9BBB4763C9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648159" y="2398390"/>
            <a:ext cx="6054754" cy="158784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83189157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CA94B2-A4AF-056A-1CAC-F1D1A924E9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668FCD64-8BF2-C3DE-45ED-43312F498F29}"/>
              </a:ext>
            </a:extLst>
          </p:cNvPr>
          <p:cNvGraphicFramePr>
            <a:graphicFrameLocks noGrp="1"/>
          </p:cNvGraphicFramePr>
          <p:nvPr/>
        </p:nvGraphicFramePr>
        <p:xfrm>
          <a:off x="1143000" y="365126"/>
          <a:ext cx="10210800" cy="1018309"/>
        </p:xfrm>
        <a:graphic>
          <a:graphicData uri="http://schemas.openxmlformats.org/drawingml/2006/table">
            <a:tbl>
              <a:tblPr/>
              <a:tblGrid>
                <a:gridCol w="10210800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r>
                        <a:rPr lang="ru-RU" sz="40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Управление файлами – Сброс буфера</a:t>
                      </a:r>
                      <a:endParaRPr lang="LID4096" sz="4000" dirty="0"/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sp>
        <p:nvSpPr>
          <p:cNvPr id="2" name="Rectangle 2">
            <a:extLst>
              <a:ext uri="{FF2B5EF4-FFF2-40B4-BE49-F238E27FC236}">
                <a16:creationId xmlns:a16="http://schemas.microsoft.com/office/drawing/2014/main" id="{3FEE271A-CAC3-88EF-56E4-CE40688927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LID4096"/>
          </a:p>
        </p:txBody>
      </p:sp>
      <p:sp>
        <p:nvSpPr>
          <p:cNvPr id="12" name="Объект 6">
            <a:extLst>
              <a:ext uri="{FF2B5EF4-FFF2-40B4-BE49-F238E27FC236}">
                <a16:creationId xmlns:a16="http://schemas.microsoft.com/office/drawing/2014/main" id="{92511192-3689-F5FE-7148-2A7F8BF1CC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1656281"/>
            <a:ext cx="3347906" cy="44935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Windows API</a:t>
            </a:r>
            <a:endParaRPr lang="LID4096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" name="Объект 6">
            <a:extLst>
              <a:ext uri="{FF2B5EF4-FFF2-40B4-BE49-F238E27FC236}">
                <a16:creationId xmlns:a16="http://schemas.microsoft.com/office/drawing/2014/main" id="{70B9AA36-5777-01D7-0B38-A8620819E36B}"/>
              </a:ext>
            </a:extLst>
          </p:cNvPr>
          <p:cNvSpPr txBox="1">
            <a:spLocks/>
          </p:cNvSpPr>
          <p:nvPr/>
        </p:nvSpPr>
        <p:spPr>
          <a:xfrm>
            <a:off x="1143000" y="4409268"/>
            <a:ext cx="3347906" cy="44935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POSIX API</a:t>
            </a:r>
            <a:endParaRPr lang="LID4096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4" name="Рисунок 3">
            <a:hlinkClick r:id="rId2"/>
            <a:extLst>
              <a:ext uri="{FF2B5EF4-FFF2-40B4-BE49-F238E27FC236}">
                <a16:creationId xmlns:a16="http://schemas.microsoft.com/office/drawing/2014/main" id="{0D1B8BE5-6EE5-D11D-2560-0DE126929C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4662" y="2492379"/>
            <a:ext cx="6162675" cy="12573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7" name="Рисунок 6">
            <a:hlinkClick r:id="rId4"/>
            <a:extLst>
              <a:ext uri="{FF2B5EF4-FFF2-40B4-BE49-F238E27FC236}">
                <a16:creationId xmlns:a16="http://schemas.microsoft.com/office/drawing/2014/main" id="{11D69AB0-3BE2-F90E-1A2C-1FAC92DD04C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37376" y="4799900"/>
            <a:ext cx="4717245" cy="1066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45817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3769FB-4C7D-A37B-8A21-B80A665C7B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E4B37B8D-5FA4-29BE-53FC-260BFB417248}"/>
              </a:ext>
            </a:extLst>
          </p:cNvPr>
          <p:cNvGraphicFramePr>
            <a:graphicFrameLocks noGrp="1"/>
          </p:cNvGraphicFramePr>
          <p:nvPr/>
        </p:nvGraphicFramePr>
        <p:xfrm>
          <a:off x="1143000" y="365126"/>
          <a:ext cx="10210800" cy="1018309"/>
        </p:xfrm>
        <a:graphic>
          <a:graphicData uri="http://schemas.openxmlformats.org/drawingml/2006/table">
            <a:tbl>
              <a:tblPr/>
              <a:tblGrid>
                <a:gridCol w="10210800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r>
                        <a:rPr lang="ru-RU" sz="40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Управление файлами – </a:t>
                      </a:r>
                      <a:r>
                        <a:rPr lang="en-US" sz="4000" dirty="0" err="1">
                          <a:latin typeface="Cambria" panose="02040503050406030204" pitchFamily="18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WinAPI</a:t>
                      </a:r>
                      <a:endParaRPr lang="LID4096" sz="4000" dirty="0"/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sp>
        <p:nvSpPr>
          <p:cNvPr id="2" name="Rectangle 2">
            <a:extLst>
              <a:ext uri="{FF2B5EF4-FFF2-40B4-BE49-F238E27FC236}">
                <a16:creationId xmlns:a16="http://schemas.microsoft.com/office/drawing/2014/main" id="{B21C11B2-6236-C7F1-E7E0-53A5B2E369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LID4096"/>
          </a:p>
        </p:txBody>
      </p:sp>
      <p:sp>
        <p:nvSpPr>
          <p:cNvPr id="12" name="Объект 6">
            <a:extLst>
              <a:ext uri="{FF2B5EF4-FFF2-40B4-BE49-F238E27FC236}">
                <a16:creationId xmlns:a16="http://schemas.microsoft.com/office/drawing/2014/main" id="{11012861-AAFC-C6AB-2C0D-D2827AF7F9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1656281"/>
            <a:ext cx="3347906" cy="449355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Копирование файла</a:t>
            </a:r>
            <a:endParaRPr lang="LID4096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3" name="Рисунок 2">
            <a:hlinkClick r:id="rId2"/>
            <a:extLst>
              <a:ext uri="{FF2B5EF4-FFF2-40B4-BE49-F238E27FC236}">
                <a16:creationId xmlns:a16="http://schemas.microsoft.com/office/drawing/2014/main" id="{A509DC0D-6BDB-21B6-1449-23B0E57A44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775521" y="4179677"/>
            <a:ext cx="6054754" cy="109543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4" name="Объект 6">
            <a:extLst>
              <a:ext uri="{FF2B5EF4-FFF2-40B4-BE49-F238E27FC236}">
                <a16:creationId xmlns:a16="http://schemas.microsoft.com/office/drawing/2014/main" id="{9FBBA1B4-80CA-71A9-19FA-CCD8EA30AECA}"/>
              </a:ext>
            </a:extLst>
          </p:cNvPr>
          <p:cNvSpPr txBox="1">
            <a:spLocks/>
          </p:cNvSpPr>
          <p:nvPr/>
        </p:nvSpPr>
        <p:spPr>
          <a:xfrm>
            <a:off x="1143000" y="4015548"/>
            <a:ext cx="3347906" cy="44935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Перемещение файла</a:t>
            </a:r>
            <a:endParaRPr lang="LID4096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" name="Объект 6">
            <a:extLst>
              <a:ext uri="{FF2B5EF4-FFF2-40B4-BE49-F238E27FC236}">
                <a16:creationId xmlns:a16="http://schemas.microsoft.com/office/drawing/2014/main" id="{60E82950-3F7B-FA60-656E-6BA562623B9F}"/>
              </a:ext>
            </a:extLst>
          </p:cNvPr>
          <p:cNvSpPr txBox="1">
            <a:spLocks/>
          </p:cNvSpPr>
          <p:nvPr/>
        </p:nvSpPr>
        <p:spPr>
          <a:xfrm>
            <a:off x="1143000" y="4464903"/>
            <a:ext cx="3347906" cy="1095432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По сути можно использовать для переименования файла</a:t>
            </a:r>
            <a:endParaRPr lang="LID4096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pSp>
        <p:nvGrpSpPr>
          <p:cNvPr id="20" name="Группа 19">
            <a:extLst>
              <a:ext uri="{FF2B5EF4-FFF2-40B4-BE49-F238E27FC236}">
                <a16:creationId xmlns:a16="http://schemas.microsoft.com/office/drawing/2014/main" id="{19425C62-9F4D-CDFC-04F3-C5041E04DBE8}"/>
              </a:ext>
            </a:extLst>
          </p:cNvPr>
          <p:cNvGrpSpPr/>
          <p:nvPr/>
        </p:nvGrpSpPr>
        <p:grpSpPr>
          <a:xfrm>
            <a:off x="4657344" y="1656281"/>
            <a:ext cx="6278880" cy="1324663"/>
            <a:chOff x="4657344" y="1656281"/>
            <a:chExt cx="6278880" cy="1324663"/>
          </a:xfrm>
        </p:grpSpPr>
        <p:sp>
          <p:nvSpPr>
            <p:cNvPr id="19" name="Прямоугольник 18">
              <a:extLst>
                <a:ext uri="{FF2B5EF4-FFF2-40B4-BE49-F238E27FC236}">
                  <a16:creationId xmlns:a16="http://schemas.microsoft.com/office/drawing/2014/main" id="{06ACAF91-4555-60AA-8D73-18CA1FE2707A}"/>
                </a:ext>
              </a:extLst>
            </p:cNvPr>
            <p:cNvSpPr/>
            <p:nvPr/>
          </p:nvSpPr>
          <p:spPr>
            <a:xfrm>
              <a:off x="4657344" y="1656281"/>
              <a:ext cx="6278880" cy="132466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grpSp>
          <p:nvGrpSpPr>
            <p:cNvPr id="14" name="Группа 13">
              <a:extLst>
                <a:ext uri="{FF2B5EF4-FFF2-40B4-BE49-F238E27FC236}">
                  <a16:creationId xmlns:a16="http://schemas.microsoft.com/office/drawing/2014/main" id="{A0B8315D-1750-ADA3-FB7A-55DC1EA067D1}"/>
                </a:ext>
              </a:extLst>
            </p:cNvPr>
            <p:cNvGrpSpPr/>
            <p:nvPr/>
          </p:nvGrpSpPr>
          <p:grpSpPr>
            <a:xfrm>
              <a:off x="4775521" y="1748847"/>
              <a:ext cx="6054754" cy="1181947"/>
              <a:chOff x="4775521" y="1748847"/>
              <a:chExt cx="6054754" cy="1181947"/>
            </a:xfrm>
          </p:grpSpPr>
          <p:pic>
            <p:nvPicPr>
              <p:cNvPr id="10" name="Рисунок 9">
                <a:hlinkClick r:id="rId4"/>
                <a:extLst>
                  <a:ext uri="{FF2B5EF4-FFF2-40B4-BE49-F238E27FC236}">
                    <a16:creationId xmlns:a16="http://schemas.microsoft.com/office/drawing/2014/main" id="{BBAE9133-4E5C-9341-7A86-CCEC51CEA26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71162"/>
              <a:stretch/>
            </p:blipFill>
            <p:spPr>
              <a:xfrm>
                <a:off x="4775521" y="1748847"/>
                <a:ext cx="6054754" cy="574903"/>
              </a:xfrm>
              <a:prstGeom prst="rect">
                <a:avLst/>
              </a:prstGeom>
              <a:solidFill>
                <a:srgbClr val="FFFFFF">
                  <a:shade val="85000"/>
                </a:srgbClr>
              </a:solidFill>
              <a:ln w="88900" cap="sq">
                <a:solidFill>
                  <a:srgbClr val="FFFFFF"/>
                </a:solidFill>
                <a:miter lim="800000"/>
              </a:ln>
              <a:effectLst/>
            </p:spPr>
          </p:pic>
          <p:pic>
            <p:nvPicPr>
              <p:cNvPr id="11" name="Рисунок 10">
                <a:hlinkClick r:id="rId4"/>
                <a:extLst>
                  <a:ext uri="{FF2B5EF4-FFF2-40B4-BE49-F238E27FC236}">
                    <a16:creationId xmlns:a16="http://schemas.microsoft.com/office/drawing/2014/main" id="{198FB969-CE88-8522-5C60-8B4308628ED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rcRect t="61853"/>
              <a:stretch/>
            </p:blipFill>
            <p:spPr>
              <a:xfrm>
                <a:off x="4775521" y="2170260"/>
                <a:ext cx="6054754" cy="76053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</p:pic>
        </p:grpSp>
      </p:grpSp>
    </p:spTree>
    <p:extLst>
      <p:ext uri="{BB962C8B-B14F-4D97-AF65-F5344CB8AC3E}">
        <p14:creationId xmlns:p14="http://schemas.microsoft.com/office/powerpoint/2010/main" val="54955466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378D33-8CE9-FBFA-F2FA-D8642EC9A8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B8154CCD-CD3B-64DD-DBD5-EC2AAED26742}"/>
              </a:ext>
            </a:extLst>
          </p:cNvPr>
          <p:cNvGraphicFramePr>
            <a:graphicFrameLocks noGrp="1"/>
          </p:cNvGraphicFramePr>
          <p:nvPr/>
        </p:nvGraphicFramePr>
        <p:xfrm>
          <a:off x="1143000" y="365126"/>
          <a:ext cx="10210800" cy="1018309"/>
        </p:xfrm>
        <a:graphic>
          <a:graphicData uri="http://schemas.openxmlformats.org/drawingml/2006/table">
            <a:tbl>
              <a:tblPr/>
              <a:tblGrid>
                <a:gridCol w="10210800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r>
                        <a:rPr lang="ru-RU" sz="40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Управление файлами – </a:t>
                      </a:r>
                      <a:r>
                        <a:rPr lang="en-US" sz="4000" dirty="0" err="1">
                          <a:latin typeface="Cambria" panose="02040503050406030204" pitchFamily="18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WinAPI</a:t>
                      </a:r>
                      <a:endParaRPr lang="LID4096" sz="4000" dirty="0"/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sp>
        <p:nvSpPr>
          <p:cNvPr id="2" name="Rectangle 2">
            <a:extLst>
              <a:ext uri="{FF2B5EF4-FFF2-40B4-BE49-F238E27FC236}">
                <a16:creationId xmlns:a16="http://schemas.microsoft.com/office/drawing/2014/main" id="{887B033A-63D6-0C2F-4F0D-660CC3633C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LID4096"/>
          </a:p>
        </p:txBody>
      </p:sp>
      <p:pic>
        <p:nvPicPr>
          <p:cNvPr id="10" name="Рисунок 9">
            <a:hlinkClick r:id="rId2"/>
            <a:extLst>
              <a:ext uri="{FF2B5EF4-FFF2-40B4-BE49-F238E27FC236}">
                <a16:creationId xmlns:a16="http://schemas.microsoft.com/office/drawing/2014/main" id="{7916E460-7055-0490-AB6F-C064B00E29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490906" y="1731444"/>
            <a:ext cx="6569168" cy="189375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2" name="Объект 6">
            <a:extLst>
              <a:ext uri="{FF2B5EF4-FFF2-40B4-BE49-F238E27FC236}">
                <a16:creationId xmlns:a16="http://schemas.microsoft.com/office/drawing/2014/main" id="{57059D61-4633-FDFD-0FFA-B895E08E29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1656281"/>
            <a:ext cx="3347906" cy="44935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Замещение файла</a:t>
            </a:r>
            <a:endParaRPr lang="LID4096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3" name="Рисунок 2">
            <a:hlinkClick r:id="rId4"/>
            <a:extLst>
              <a:ext uri="{FF2B5EF4-FFF2-40B4-BE49-F238E27FC236}">
                <a16:creationId xmlns:a16="http://schemas.microsoft.com/office/drawing/2014/main" id="{2CAFA51F-190F-4605-2A69-229983100EF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527310" y="4179677"/>
            <a:ext cx="6551176" cy="179601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4" name="Объект 6">
            <a:extLst>
              <a:ext uri="{FF2B5EF4-FFF2-40B4-BE49-F238E27FC236}">
                <a16:creationId xmlns:a16="http://schemas.microsoft.com/office/drawing/2014/main" id="{47F59C2D-44F4-694B-376D-BF772ADF459F}"/>
              </a:ext>
            </a:extLst>
          </p:cNvPr>
          <p:cNvSpPr txBox="1">
            <a:spLocks/>
          </p:cNvSpPr>
          <p:nvPr/>
        </p:nvSpPr>
        <p:spPr>
          <a:xfrm>
            <a:off x="1143000" y="4179677"/>
            <a:ext cx="3347906" cy="449355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Информация о файле</a:t>
            </a:r>
            <a:endParaRPr lang="LID4096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957121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205427-3777-2C44-8E72-1DC1BD36DB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E7D87789-5067-ADBB-A64C-CA8A59C1D1D2}"/>
              </a:ext>
            </a:extLst>
          </p:cNvPr>
          <p:cNvGraphicFramePr>
            <a:graphicFrameLocks noGrp="1"/>
          </p:cNvGraphicFramePr>
          <p:nvPr/>
        </p:nvGraphicFramePr>
        <p:xfrm>
          <a:off x="1143000" y="365126"/>
          <a:ext cx="10210800" cy="1018309"/>
        </p:xfrm>
        <a:graphic>
          <a:graphicData uri="http://schemas.openxmlformats.org/drawingml/2006/table">
            <a:tbl>
              <a:tblPr/>
              <a:tblGrid>
                <a:gridCol w="10210800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r>
                        <a:rPr lang="ru-RU" sz="40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Управление файлами – Создание каталога</a:t>
                      </a:r>
                      <a:endParaRPr lang="LID4096" sz="4000" dirty="0"/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sp>
        <p:nvSpPr>
          <p:cNvPr id="2" name="Rectangle 2">
            <a:extLst>
              <a:ext uri="{FF2B5EF4-FFF2-40B4-BE49-F238E27FC236}">
                <a16:creationId xmlns:a16="http://schemas.microsoft.com/office/drawing/2014/main" id="{DD1D12B6-F4E1-4882-204D-4CBC2AD8C5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LID4096"/>
          </a:p>
        </p:txBody>
      </p:sp>
      <p:pic>
        <p:nvPicPr>
          <p:cNvPr id="10" name="Рисунок 9">
            <a:hlinkClick r:id="rId2"/>
            <a:extLst>
              <a:ext uri="{FF2B5EF4-FFF2-40B4-BE49-F238E27FC236}">
                <a16:creationId xmlns:a16="http://schemas.microsoft.com/office/drawing/2014/main" id="{D8B57982-98EA-8CB7-C444-CF30A90C30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282845" y="2378482"/>
            <a:ext cx="7918822" cy="137611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2" name="Объект 6">
            <a:extLst>
              <a:ext uri="{FF2B5EF4-FFF2-40B4-BE49-F238E27FC236}">
                <a16:creationId xmlns:a16="http://schemas.microsoft.com/office/drawing/2014/main" id="{C0C74301-0F33-C494-CBB0-8FF6589D08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1656281"/>
            <a:ext cx="3347906" cy="44935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Windows API</a:t>
            </a:r>
            <a:endParaRPr lang="LID4096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3" name="Объект 6">
            <a:extLst>
              <a:ext uri="{FF2B5EF4-FFF2-40B4-BE49-F238E27FC236}">
                <a16:creationId xmlns:a16="http://schemas.microsoft.com/office/drawing/2014/main" id="{456D65F0-2A4D-80B8-ABAD-C4D8D949A66A}"/>
              </a:ext>
            </a:extLst>
          </p:cNvPr>
          <p:cNvSpPr txBox="1">
            <a:spLocks/>
          </p:cNvSpPr>
          <p:nvPr/>
        </p:nvSpPr>
        <p:spPr>
          <a:xfrm>
            <a:off x="1143000" y="4409268"/>
            <a:ext cx="3347906" cy="44935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POSIX API</a:t>
            </a:r>
            <a:endParaRPr lang="LID4096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15" name="Рисунок 14">
            <a:hlinkClick r:id="rId4"/>
            <a:extLst>
              <a:ext uri="{FF2B5EF4-FFF2-40B4-BE49-F238E27FC236}">
                <a16:creationId xmlns:a16="http://schemas.microsoft.com/office/drawing/2014/main" id="{6488D856-F453-80C8-7926-9E224158D07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398727" y="4858623"/>
            <a:ext cx="5394546" cy="169317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31254475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8F13CB-F289-DC5A-56F0-49898F9C2A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A881DC89-D66E-8B47-0295-29FAD70942D7}"/>
              </a:ext>
            </a:extLst>
          </p:cNvPr>
          <p:cNvGraphicFramePr>
            <a:graphicFrameLocks noGrp="1"/>
          </p:cNvGraphicFramePr>
          <p:nvPr/>
        </p:nvGraphicFramePr>
        <p:xfrm>
          <a:off x="1143000" y="365126"/>
          <a:ext cx="10210800" cy="1018309"/>
        </p:xfrm>
        <a:graphic>
          <a:graphicData uri="http://schemas.openxmlformats.org/drawingml/2006/table">
            <a:tbl>
              <a:tblPr/>
              <a:tblGrid>
                <a:gridCol w="10210800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r>
                        <a:rPr lang="ru-RU" sz="40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Управление файлами – Удаление каталога</a:t>
                      </a:r>
                      <a:endParaRPr lang="LID4096" sz="4000" dirty="0"/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sp>
        <p:nvSpPr>
          <p:cNvPr id="2" name="Rectangle 2">
            <a:extLst>
              <a:ext uri="{FF2B5EF4-FFF2-40B4-BE49-F238E27FC236}">
                <a16:creationId xmlns:a16="http://schemas.microsoft.com/office/drawing/2014/main" id="{99E0D2AB-3D53-2953-9B34-F299550949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LID4096"/>
          </a:p>
        </p:txBody>
      </p:sp>
      <p:pic>
        <p:nvPicPr>
          <p:cNvPr id="10" name="Рисунок 9">
            <a:hlinkClick r:id="rId2"/>
            <a:extLst>
              <a:ext uri="{FF2B5EF4-FFF2-40B4-BE49-F238E27FC236}">
                <a16:creationId xmlns:a16="http://schemas.microsoft.com/office/drawing/2014/main" id="{243E4105-AD21-689A-74B7-583DFB985C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679114" y="2378482"/>
            <a:ext cx="7126283" cy="137611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2" name="Объект 6">
            <a:extLst>
              <a:ext uri="{FF2B5EF4-FFF2-40B4-BE49-F238E27FC236}">
                <a16:creationId xmlns:a16="http://schemas.microsoft.com/office/drawing/2014/main" id="{CE7D1A39-AD41-1288-7929-9ACB4F6F2F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1656281"/>
            <a:ext cx="3347906" cy="44935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Windows API</a:t>
            </a:r>
            <a:endParaRPr lang="LID4096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3" name="Объект 6">
            <a:extLst>
              <a:ext uri="{FF2B5EF4-FFF2-40B4-BE49-F238E27FC236}">
                <a16:creationId xmlns:a16="http://schemas.microsoft.com/office/drawing/2014/main" id="{0FF74512-A80F-5F00-6BBC-200EBFE0B9DE}"/>
              </a:ext>
            </a:extLst>
          </p:cNvPr>
          <p:cNvSpPr txBox="1">
            <a:spLocks/>
          </p:cNvSpPr>
          <p:nvPr/>
        </p:nvSpPr>
        <p:spPr>
          <a:xfrm>
            <a:off x="1143000" y="4409268"/>
            <a:ext cx="3347906" cy="44935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POSIX API</a:t>
            </a:r>
            <a:endParaRPr lang="LID4096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15" name="Рисунок 14">
            <a:hlinkClick r:id="rId4"/>
            <a:extLst>
              <a:ext uri="{FF2B5EF4-FFF2-40B4-BE49-F238E27FC236}">
                <a16:creationId xmlns:a16="http://schemas.microsoft.com/office/drawing/2014/main" id="{7B685AE7-F51B-3BC0-6B19-4CBE75E82A7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398727" y="4975982"/>
            <a:ext cx="5394546" cy="145846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66430560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AED57D-CC11-145F-3C8A-1F67F811AB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B7D72D5E-2EF5-4F66-1C7B-F934C7FC9C3C}"/>
              </a:ext>
            </a:extLst>
          </p:cNvPr>
          <p:cNvGraphicFramePr>
            <a:graphicFrameLocks noGrp="1"/>
          </p:cNvGraphicFramePr>
          <p:nvPr/>
        </p:nvGraphicFramePr>
        <p:xfrm>
          <a:off x="1143000" y="365126"/>
          <a:ext cx="10210800" cy="1018309"/>
        </p:xfrm>
        <a:graphic>
          <a:graphicData uri="http://schemas.openxmlformats.org/drawingml/2006/table">
            <a:tbl>
              <a:tblPr/>
              <a:tblGrid>
                <a:gridCol w="10210800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r>
                        <a:rPr lang="ru-RU" sz="36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Управление файлами – Перемещение каталога</a:t>
                      </a:r>
                      <a:endParaRPr lang="LID4096" sz="3600" dirty="0"/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sp>
        <p:nvSpPr>
          <p:cNvPr id="2" name="Rectangle 2">
            <a:extLst>
              <a:ext uri="{FF2B5EF4-FFF2-40B4-BE49-F238E27FC236}">
                <a16:creationId xmlns:a16="http://schemas.microsoft.com/office/drawing/2014/main" id="{6EAD88A3-9E38-D332-E18F-CB129A504C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LID4096"/>
          </a:p>
        </p:txBody>
      </p:sp>
      <p:pic>
        <p:nvPicPr>
          <p:cNvPr id="10" name="Рисунок 9">
            <a:hlinkClick r:id="rId2"/>
            <a:extLst>
              <a:ext uri="{FF2B5EF4-FFF2-40B4-BE49-F238E27FC236}">
                <a16:creationId xmlns:a16="http://schemas.microsoft.com/office/drawing/2014/main" id="{1D335C0A-BB8E-F61C-0EB4-2949D52505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679114" y="2431625"/>
            <a:ext cx="7126283" cy="126982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2" name="Объект 6">
            <a:extLst>
              <a:ext uri="{FF2B5EF4-FFF2-40B4-BE49-F238E27FC236}">
                <a16:creationId xmlns:a16="http://schemas.microsoft.com/office/drawing/2014/main" id="{694B7BAC-0AC3-9223-3252-6518DFA7F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2999" y="1656281"/>
            <a:ext cx="9871745" cy="44935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Windows API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(ограничение: только в рамках одного тома)</a:t>
            </a:r>
            <a:endParaRPr lang="LID4096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3" name="Объект 6">
            <a:extLst>
              <a:ext uri="{FF2B5EF4-FFF2-40B4-BE49-F238E27FC236}">
                <a16:creationId xmlns:a16="http://schemas.microsoft.com/office/drawing/2014/main" id="{59F7D01A-47BD-92AA-5F3B-025BF132D30E}"/>
              </a:ext>
            </a:extLst>
          </p:cNvPr>
          <p:cNvSpPr txBox="1">
            <a:spLocks/>
          </p:cNvSpPr>
          <p:nvPr/>
        </p:nvSpPr>
        <p:spPr>
          <a:xfrm>
            <a:off x="1142998" y="4409268"/>
            <a:ext cx="8957347" cy="44935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POSIX API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– стандартная функция отсутствует </a:t>
            </a:r>
            <a:endParaRPr lang="LID4096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963729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21ECC8-7CE7-DB40-5FBA-1239DF8D4C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571FE84D-7E76-4E48-A7E4-B0C08CCF2C8B}"/>
              </a:ext>
            </a:extLst>
          </p:cNvPr>
          <p:cNvGraphicFramePr>
            <a:graphicFrameLocks noGrp="1"/>
          </p:cNvGraphicFramePr>
          <p:nvPr/>
        </p:nvGraphicFramePr>
        <p:xfrm>
          <a:off x="1142999" y="365126"/>
          <a:ext cx="10366695" cy="1018309"/>
        </p:xfrm>
        <a:graphic>
          <a:graphicData uri="http://schemas.openxmlformats.org/drawingml/2006/table">
            <a:tbl>
              <a:tblPr/>
              <a:tblGrid>
                <a:gridCol w="10366695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r>
                        <a:rPr lang="ru-RU" sz="36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Управление файлами – Наблюдение за каталогом</a:t>
                      </a:r>
                      <a:endParaRPr lang="LID4096" sz="3600" dirty="0"/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sp>
        <p:nvSpPr>
          <p:cNvPr id="2" name="Rectangle 2">
            <a:extLst>
              <a:ext uri="{FF2B5EF4-FFF2-40B4-BE49-F238E27FC236}">
                <a16:creationId xmlns:a16="http://schemas.microsoft.com/office/drawing/2014/main" id="{D22D263B-B878-3909-7D29-BBF6C9B13D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LID4096"/>
          </a:p>
        </p:txBody>
      </p:sp>
      <p:pic>
        <p:nvPicPr>
          <p:cNvPr id="10" name="Рисунок 9">
            <a:hlinkClick r:id="rId2"/>
            <a:extLst>
              <a:ext uri="{FF2B5EF4-FFF2-40B4-BE49-F238E27FC236}">
                <a16:creationId xmlns:a16="http://schemas.microsoft.com/office/drawing/2014/main" id="{D5E8632D-38D3-8554-CA5A-6BC5F90188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29731" y="2183538"/>
            <a:ext cx="4996615" cy="142562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2" name="Объект 6">
            <a:extLst>
              <a:ext uri="{FF2B5EF4-FFF2-40B4-BE49-F238E27FC236}">
                <a16:creationId xmlns:a16="http://schemas.microsoft.com/office/drawing/2014/main" id="{38A2E69C-498B-39F1-916D-45DD1F6E57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2999" y="1656281"/>
            <a:ext cx="9871745" cy="44935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Windows API</a:t>
            </a:r>
            <a:endParaRPr lang="LID4096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4" name="Рисунок 3">
            <a:hlinkClick r:id="rId4"/>
            <a:extLst>
              <a:ext uri="{FF2B5EF4-FFF2-40B4-BE49-F238E27FC236}">
                <a16:creationId xmlns:a16="http://schemas.microsoft.com/office/drawing/2014/main" id="{D17C2B43-8356-F8A1-AA14-182058230C5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89651" y="3357432"/>
            <a:ext cx="9934575" cy="120015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7" name="Рисунок 6">
            <a:hlinkClick r:id="rId6"/>
            <a:extLst>
              <a:ext uri="{FF2B5EF4-FFF2-40B4-BE49-F238E27FC236}">
                <a16:creationId xmlns:a16="http://schemas.microsoft.com/office/drawing/2014/main" id="{26CCF0DA-C194-52ED-FC5B-6267379C7CE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29731" y="4602302"/>
            <a:ext cx="9820275" cy="12192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63704056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EE3DD8-357B-3F2E-68BF-F8BCB438D0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3C65146-F15C-3A84-8D55-371EDA0574D1}"/>
              </a:ext>
            </a:extLst>
          </p:cNvPr>
          <p:cNvGraphicFramePr>
            <a:graphicFrameLocks noGrp="1"/>
          </p:cNvGraphicFramePr>
          <p:nvPr/>
        </p:nvGraphicFramePr>
        <p:xfrm>
          <a:off x="1142999" y="365126"/>
          <a:ext cx="10366695" cy="1018309"/>
        </p:xfrm>
        <a:graphic>
          <a:graphicData uri="http://schemas.openxmlformats.org/drawingml/2006/table">
            <a:tbl>
              <a:tblPr/>
              <a:tblGrid>
                <a:gridCol w="10366695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r>
                        <a:rPr lang="ru-RU" sz="36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Управление файлами – Наблюдение за каталогом</a:t>
                      </a:r>
                      <a:endParaRPr lang="LID4096" sz="3600" dirty="0"/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sp>
        <p:nvSpPr>
          <p:cNvPr id="2" name="Rectangle 2">
            <a:extLst>
              <a:ext uri="{FF2B5EF4-FFF2-40B4-BE49-F238E27FC236}">
                <a16:creationId xmlns:a16="http://schemas.microsoft.com/office/drawing/2014/main" id="{77114A6A-1041-359A-5EFD-5FFB9F7088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LID4096"/>
          </a:p>
        </p:txBody>
      </p:sp>
      <p:pic>
        <p:nvPicPr>
          <p:cNvPr id="10" name="Рисунок 9">
            <a:hlinkClick r:id="rId2"/>
            <a:extLst>
              <a:ext uri="{FF2B5EF4-FFF2-40B4-BE49-F238E27FC236}">
                <a16:creationId xmlns:a16="http://schemas.microsoft.com/office/drawing/2014/main" id="{70B4AA86-DB51-A0A7-F214-D9E01A3E72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29731" y="2150356"/>
            <a:ext cx="4227293" cy="142562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2" name="Объект 6">
            <a:extLst>
              <a:ext uri="{FF2B5EF4-FFF2-40B4-BE49-F238E27FC236}">
                <a16:creationId xmlns:a16="http://schemas.microsoft.com/office/drawing/2014/main" id="{4EDD6F5F-0CE3-06E7-A7D8-72C15C7BBF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2999" y="1656281"/>
            <a:ext cx="9871745" cy="44935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Linux API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(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not POSIX)</a:t>
            </a:r>
            <a:endParaRPr lang="LID4096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4" name="Рисунок 3">
            <a:hlinkClick r:id="rId4"/>
            <a:extLst>
              <a:ext uri="{FF2B5EF4-FFF2-40B4-BE49-F238E27FC236}">
                <a16:creationId xmlns:a16="http://schemas.microsoft.com/office/drawing/2014/main" id="{B5AD9565-A926-CFBF-593A-5FD10AFE416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82542" y="3381250"/>
            <a:ext cx="9298459" cy="120015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7" name="Рисунок 6">
            <a:hlinkClick r:id="rId6"/>
            <a:extLst>
              <a:ext uri="{FF2B5EF4-FFF2-40B4-BE49-F238E27FC236}">
                <a16:creationId xmlns:a16="http://schemas.microsoft.com/office/drawing/2014/main" id="{266A5BFF-02FD-1E9E-5E7E-ADB39B0AF6D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29731" y="4581400"/>
            <a:ext cx="6722691" cy="12192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49659477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A975775-7036-98AF-A483-822007F372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6523" y="1186961"/>
            <a:ext cx="11558954" cy="960194"/>
          </a:xfrm>
          <a:ln>
            <a:noFill/>
          </a:ln>
          <a:effectLst/>
        </p:spPr>
        <p:txBody>
          <a:bodyPr/>
          <a:lstStyle/>
          <a:p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Операционные системы</a:t>
            </a:r>
            <a:endParaRPr lang="LID4096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649BFEE-497D-21FD-61AE-CA3D267537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18086" y="3635622"/>
            <a:ext cx="5155828" cy="461839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Autofit/>
          </a:bodyPr>
          <a:lstStyle/>
          <a:p>
            <a:r>
              <a:rPr lang="ru-RU" sz="2800" b="1" dirty="0">
                <a:latin typeface="Verdana" panose="020B0604030504040204" pitchFamily="34" charset="0"/>
                <a:ea typeface="Verdana" panose="020B0604030504040204" pitchFamily="34" charset="0"/>
              </a:rPr>
              <a:t>Операции над файлами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BD3AED9-28E1-DDF9-E07D-185D5DD54F4C}"/>
              </a:ext>
            </a:extLst>
          </p:cNvPr>
          <p:cNvSpPr txBox="1"/>
          <p:nvPr/>
        </p:nvSpPr>
        <p:spPr>
          <a:xfrm>
            <a:off x="3200402" y="650631"/>
            <a:ext cx="56270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LID4096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277C454-9338-E7F4-034B-E11CD51ED0FB}"/>
              </a:ext>
            </a:extLst>
          </p:cNvPr>
          <p:cNvSpPr txBox="1"/>
          <p:nvPr/>
        </p:nvSpPr>
        <p:spPr>
          <a:xfrm>
            <a:off x="5147592" y="3051019"/>
            <a:ext cx="189682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dirty="0">
                <a:latin typeface="Cambria" panose="02040503050406030204" pitchFamily="18" charset="0"/>
                <a:ea typeface="Cambria" panose="02040503050406030204" pitchFamily="18" charset="0"/>
              </a:rPr>
              <a:t>Лекция 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1</a:t>
            </a:r>
            <a:r>
              <a:rPr lang="ru-RU" sz="2800" dirty="0">
                <a:latin typeface="Cambria" panose="02040503050406030204" pitchFamily="18" charset="0"/>
                <a:ea typeface="Cambria" panose="02040503050406030204" pitchFamily="18" charset="0"/>
              </a:rPr>
              <a:t>7</a:t>
            </a:r>
          </a:p>
        </p:txBody>
      </p: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519E2ADD-505C-77F2-DF62-A29BD8ED577A}"/>
              </a:ext>
            </a:extLst>
          </p:cNvPr>
          <p:cNvCxnSpPr>
            <a:cxnSpLocks/>
          </p:cNvCxnSpPr>
          <p:nvPr/>
        </p:nvCxnSpPr>
        <p:spPr>
          <a:xfrm>
            <a:off x="4341228" y="3574239"/>
            <a:ext cx="350954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772689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43820</TotalTime>
  <Words>3235</Words>
  <Application>Microsoft Office PowerPoint</Application>
  <PresentationFormat>Widescreen</PresentationFormat>
  <Paragraphs>240</Paragraphs>
  <Slides>57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57</vt:i4>
      </vt:variant>
    </vt:vector>
  </HeadingPairs>
  <TitlesOfParts>
    <vt:vector size="64" baseType="lpstr">
      <vt:lpstr>Arial</vt:lpstr>
      <vt:lpstr>Calibri</vt:lpstr>
      <vt:lpstr>Calibri Light</vt:lpstr>
      <vt:lpstr>Cambria</vt:lpstr>
      <vt:lpstr>Verdana</vt:lpstr>
      <vt:lpstr>Wingdings</vt:lpstr>
      <vt:lpstr>Тема Office</vt:lpstr>
      <vt:lpstr>Операционные системы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Операционные системы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Pavel Bernatsky</dc:creator>
  <cp:lastModifiedBy>Pavel Bernatsky</cp:lastModifiedBy>
  <cp:revision>1933</cp:revision>
  <cp:lastPrinted>2025-11-01T06:17:20Z</cp:lastPrinted>
  <dcterms:created xsi:type="dcterms:W3CDTF">2024-09-04T11:03:42Z</dcterms:created>
  <dcterms:modified xsi:type="dcterms:W3CDTF">2025-12-28T22:15:31Z</dcterms:modified>
</cp:coreProperties>
</file>