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322" r:id="rId3"/>
    <p:sldId id="2176" r:id="rId4"/>
    <p:sldId id="2371" r:id="rId5"/>
    <p:sldId id="2372" r:id="rId6"/>
    <p:sldId id="2373" r:id="rId7"/>
    <p:sldId id="2374" r:id="rId8"/>
    <p:sldId id="2375" r:id="rId9"/>
    <p:sldId id="2377" r:id="rId10"/>
    <p:sldId id="2378" r:id="rId11"/>
    <p:sldId id="2379" r:id="rId12"/>
    <p:sldId id="2412" r:id="rId13"/>
    <p:sldId id="2380" r:id="rId14"/>
    <p:sldId id="2381" r:id="rId15"/>
    <p:sldId id="2382" r:id="rId16"/>
    <p:sldId id="2383" r:id="rId17"/>
    <p:sldId id="2384" r:id="rId18"/>
    <p:sldId id="2385" r:id="rId19"/>
    <p:sldId id="2386" r:id="rId20"/>
    <p:sldId id="2387" r:id="rId21"/>
    <p:sldId id="2388" r:id="rId22"/>
    <p:sldId id="2389" r:id="rId23"/>
    <p:sldId id="2390" r:id="rId24"/>
    <p:sldId id="2391" r:id="rId25"/>
    <p:sldId id="2392" r:id="rId26"/>
    <p:sldId id="2393" r:id="rId27"/>
    <p:sldId id="2396" r:id="rId28"/>
    <p:sldId id="2394" r:id="rId29"/>
    <p:sldId id="2403" r:id="rId30"/>
    <p:sldId id="2404" r:id="rId31"/>
    <p:sldId id="2405" r:id="rId32"/>
    <p:sldId id="2408" r:id="rId33"/>
    <p:sldId id="2409" r:id="rId34"/>
    <p:sldId id="2410" r:id="rId35"/>
    <p:sldId id="2406" r:id="rId36"/>
    <p:sldId id="2413" r:id="rId37"/>
    <p:sldId id="2414" r:id="rId38"/>
    <p:sldId id="2411" r:id="rId39"/>
    <p:sldId id="2407" r:id="rId40"/>
    <p:sldId id="2376" r:id="rId41"/>
    <p:sldId id="2397" r:id="rId42"/>
    <p:sldId id="2398" r:id="rId43"/>
    <p:sldId id="2399" r:id="rId44"/>
    <p:sldId id="2400" r:id="rId45"/>
    <p:sldId id="2401" r:id="rId46"/>
    <p:sldId id="2402" r:id="rId47"/>
    <p:sldId id="2370" r:id="rId4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176"/>
            <p14:sldId id="2371"/>
            <p14:sldId id="2372"/>
            <p14:sldId id="2373"/>
            <p14:sldId id="2374"/>
            <p14:sldId id="2375"/>
            <p14:sldId id="2377"/>
            <p14:sldId id="2378"/>
            <p14:sldId id="2379"/>
            <p14:sldId id="2412"/>
            <p14:sldId id="2380"/>
            <p14:sldId id="2381"/>
            <p14:sldId id="2382"/>
            <p14:sldId id="2383"/>
            <p14:sldId id="2384"/>
            <p14:sldId id="2385"/>
            <p14:sldId id="2386"/>
            <p14:sldId id="2387"/>
            <p14:sldId id="2388"/>
            <p14:sldId id="2389"/>
            <p14:sldId id="2390"/>
            <p14:sldId id="2391"/>
            <p14:sldId id="2392"/>
            <p14:sldId id="2393"/>
            <p14:sldId id="2396"/>
            <p14:sldId id="2394"/>
            <p14:sldId id="2403"/>
            <p14:sldId id="2404"/>
            <p14:sldId id="2405"/>
            <p14:sldId id="2408"/>
            <p14:sldId id="2409"/>
            <p14:sldId id="2410"/>
            <p14:sldId id="2406"/>
            <p14:sldId id="2413"/>
            <p14:sldId id="2414"/>
            <p14:sldId id="2411"/>
            <p14:sldId id="2407"/>
            <p14:sldId id="2376"/>
            <p14:sldId id="2397"/>
            <p14:sldId id="2398"/>
            <p14:sldId id="2399"/>
            <p14:sldId id="2400"/>
            <p14:sldId id="2401"/>
            <p14:sldId id="2402"/>
            <p14:sldId id="23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kernel.org/doc/html/v5.8/x86/x86_64/mm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4892" y="3635620"/>
            <a:ext cx="4602216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Управление памятью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0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11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ОС по управлению памятью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Типы адресов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Виртуальное адресное пространство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Способы структуризации виртуального адресного пространства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Подходы к преобразованию виртуальных адресов в физические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Классификация методов распределения памяти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6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Вот и настало время затронуть второй после процессора по важности и интенсивности использования компонент ЭВМ, а именно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Память является важнейшим ресурсом, требующим тщательного управления со стороны мультипрограммной операционной системы. Под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памятью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рамках лекций подразумевается оперативная память компьютера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отличие от памяти жесткого диска, которую называют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внешней памятью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оперативной памяти для сохранения информации требуется постоянное электропитание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Особая роль памяти объясняется тем, что процессор может выполнять инструкции программы только в том случае, если они находятся в памяти. Память распределяется как между модулями прикладных программ, так и между модулями самой операционной системы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4128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Управление 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73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ранних ОС управление памятью сводилось просто к загрузке программы и ее данных с некоторого внешнего накопителя (перфоленты, магнитной ленты или магнитного диска) в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появлением мультипрограммирования перед ОС были поставлены новые задачи, связанные с распределением имеющейся памяти между несколькими одновременно выполняющимися программами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Управление 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120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Функциями ОС по управлению памятью в мультипрограммной системе являются: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Отслеживание свободной и занятой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Выделение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процессам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освобождение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завершении процессов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Вытеснение кодов и данных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процессов из оперативной памяти на диск (полное или частичное), когда размеры основной памяти недостаточны для размещения в ней всех процессов,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возвращение их в оперативную память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когда в ней освобождается место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Настройка адресов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программы на конкретную область физической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Защита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запрет выполняемому процессу записывать данные в память, назначенной другому процессу, или читать их оттуда. Эта функция, как правило, реализуется программными модулями ОС в тесном взаимодействии с аппаратными средствами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Управление 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08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Помимо первоначального выделения памяти процессам при их создании, ОС должна также заниматься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динамическим распределением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то есть выполнять запросы приложений во время выполнения на выделение им дополнительной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того как приложение перестает нуждаться в дополнительной памяти, оно может возвратить ее системе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Выделение памяти случайной длины в случайные моменты времени из общего пула памяти приводит к фрагментации и, вследствие этого, к неэффективному ее использованию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Дефрагментация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тоже является функцией операционной системы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Управление 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118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время работы операционной системы ей часто приходится создавать новые служебные информационные структуры, такие как описатели процессов и потоков, различные таблицы распределения ресурсов, буферы, используемые процессами для обмена данными, синхронизирующие объекты и т. п.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эти системные объекты требуют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некоторых ОС заранее (во время установки) резервируется некоторый фиксированный объем памяти для системных нужд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других же ОС используется более гибкий подход, при котором память для системных целей выделяется динамически. В таком случае разные подсистемы ОС при создании своих таблиц, объектов, структур и т. п. обращаются к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подсистеме управления памятью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запросами (также известной как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диспетчер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Управление 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820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идентификации переменных и команд на разных этапах жизненного цикла программы используются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символьные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имена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метки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адреса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физические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адреса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23338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Типы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5D97424-CF2A-6D74-AD79-62817AABE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312" y="3053869"/>
            <a:ext cx="5563376" cy="34390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6671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Символьные имена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метки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присваивает пользователь при написании программы на алгоритмическом языке или ассемблере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Виртуальные, математические, или логические, адреса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вырабатывает транслятор, переводящий программу на машинный язык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во время трансляции в общем случае неизвестно, в какое место оперативной памяти будет загружена программа, то транслятор присваивает переменным и командам условные виртуальные адреса, обычно считая по умолчанию, что начальным адресом программы будет нулевой адрес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67409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Типы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59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Физические адреса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соответствуют номерам ячеек оперативной памяти, где в действительности расположены или будут расположены переменные и команды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Совокупность виртуальных адресов процесса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виртуальным адресным пространством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Диапазон возможных адресов виртуального пространства у всех процессов является одним и тем же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при использовании 32-разрядных виртуальных адресов этот диапазон задается границами 00000000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FFFFFFFF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74297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Типы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535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3446948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то же время каждый процесс имеет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собственное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виртуальное адресное пространство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транслятор присваивает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виртуальные адреса переменным и кодам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каждой программе независимо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483288"/>
              </p:ext>
            </p:extLst>
          </p:nvPr>
        </p:nvGraphicFramePr>
        <p:xfrm>
          <a:off x="879348" y="365126"/>
          <a:ext cx="3446948" cy="1018309"/>
        </p:xfrm>
        <a:graphic>
          <a:graphicData uri="http://schemas.openxmlformats.org/drawingml/2006/table">
            <a:tbl>
              <a:tblPr/>
              <a:tblGrid>
                <a:gridCol w="3446948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C5A2F1B-476A-3746-2662-31607A3C0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96" y="113359"/>
            <a:ext cx="7906853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88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LID4096" sz="2800" dirty="0">
                <a:latin typeface="Cambria" panose="02040503050406030204" pitchFamily="18" charset="0"/>
                <a:ea typeface="Cambria" panose="02040503050406030204" pitchFamily="18" charset="0"/>
              </a:rPr>
              <a:t>Преобразование линейного адреса процесса в виртуальный адрес выполняется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LID4096" sz="2800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операционной системой посредством настройки регистров процессора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LID4096" sz="2800" dirty="0">
                <a:latin typeface="Cambria" panose="02040503050406030204" pitchFamily="18" charset="0"/>
                <a:ea typeface="Cambria" panose="02040503050406030204" pitchFamily="18" charset="0"/>
              </a:rPr>
              <a:t>Обычно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LID4096" sz="2800" dirty="0">
                <a:latin typeface="Cambria" panose="02040503050406030204" pitchFamily="18" charset="0"/>
                <a:ea typeface="Cambria" panose="02040503050406030204" pitchFamily="18" charset="0"/>
              </a:rPr>
              <a:t>линейный адрес процесса отличается от виртуального адреса только интерпретацией бит в этом адресе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LID4096" sz="2800" dirty="0">
                <a:latin typeface="Cambria" panose="02040503050406030204" pitchFamily="18" charset="0"/>
                <a:ea typeface="Cambria" panose="02040503050406030204" pitchFamily="18" charset="0"/>
              </a:rPr>
              <a:t>Преобразование виртуального адреса в физический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LID4096" sz="2800" dirty="0">
                <a:latin typeface="Cambria" panose="02040503050406030204" pitchFamily="18" charset="0"/>
                <a:ea typeface="Cambria" panose="02040503050406030204" pitchFamily="18" charset="0"/>
              </a:rPr>
              <a:t>адрес выполняется аппаратным образом, а именно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LID4096" sz="2800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процессором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Типы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780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Совпадение виртуальных адресов переменных и команд различных процессов не приводит к конфликтам, так как в том случае, когда эти переменные одновременно присутствуют в памяти, операционная система отображает их на разные физические адреса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необходимо, чтобы несколько процессов разделяли общие данные или коды, операционная система отображает соответствующие участки виртуального адресного пространства этих процессов на один и тот же участок физической памяти </a:t>
            </a:r>
            <a:r>
              <a:rPr lang="ru-RU" sz="1800" dirty="0">
                <a:latin typeface="Cambria" panose="02040503050406030204" pitchFamily="18" charset="0"/>
                <a:ea typeface="Cambria" panose="02040503050406030204" pitchFamily="18" charset="0"/>
              </a:rPr>
              <a:t>(вы с ними уже знакомы с такими механизмами, которые используют общую память, это ваши любимые файлы отображенные в память)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80857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743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разных операционных системах используются разные способы структуризации виртуального адресного пространства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одних ОС виртуальное адресное пространство процесса подобно физической памяти представлено в виде непрерывной последовательности виртуальных адресов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Такую структуру адресного пространства называют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линейной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плоской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flat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виртуальным адресом является единственное число, представляющее собой смещение относительно начала (обычно это значение 000...000) виртуального адресного пространства (а)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Адрес такого типа называют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линейным виртуальным адресом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93842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Способы структуризации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344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других ОС виртуальное адресное пространство делится на части, называемые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(или секциями, или областями, или другими терминами)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 случае говорят, что виртуальное адресное пространство имеет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сегментированную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структуру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позиционирования данных здесь помимо линейного виртуального адреса может быть использован виртуальный адрес, учитывающий разбиение на сегменты и представляющий собой пару чисел (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где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определяет сегмент, 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смещение внутри сегмента (б)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Существуют и более сложные способы структуризации виртуального адресного пространства, когда виртуальный адрес образуется тремя или даже более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числами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24670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Способы структуризации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38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1725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Способы структуризации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367BCEF-D7A4-C881-56AB-C47B1DDC6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968" y="2026793"/>
            <a:ext cx="7440063" cy="41725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166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Задачей операционной системы является отображение индивидуальных виртуальных адресных пространств всех одновременно выполняющихся процессов на общую физическую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ОС отображает либо все виртуальное адресное пространство, либо только определенную его часть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Процедура преобразования виртуальных адресов в физические должна быть максимально прозрачна для пользователя и программиста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52740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Подходы к преобразованию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692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Существует два принципиально отличающихся подхода к преобразованию виртуальных адресов в физические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первом случае замена виртуальных адресов физическими выполняется один раз для каждого процесса во время начальной загрузки программы в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Специальная системная программа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перемещающий загрузчик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на основании имеющихся у нее исходных данных о начальном адресе физической памяти, в которую предстоит загружать программу, а также информации, предоставленной транслятором об адресно-зависимых элементах программы, выполняет загрузку программы, совмещая ее с заменой виртуальных адресов физическими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43774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Подходы к преобразованию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330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Второй способ заключается в том, что программа загружается в память в неизмененном виде в виртуальных адресах, то есть операнды инструкций и адреса переходов имеют те значения, которые выработал транслятор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наиболее простом случае, когда виртуальная и физическая память процесса представляют собой единые непрерывные области адресов, операционная система выполняет преобразование виртуальных адресов в физические по следующей схеме: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загрузке операционная система фиксирует смещение действительного расположения программного кода относительно виртуального адресного пространства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время выполнения программы при каждом обращении к оперативной памяти выполняется преобразование виртуального адреса в физический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31956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Подходы к преобразованию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366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Подходы к преобразованию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0BAFE29-BE1B-8325-DF16-8A35A5B66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14" y="1951765"/>
            <a:ext cx="8926171" cy="41249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9354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Пусть, например, операционная система использует линейно структурированное виртуальное адресное пространство, и пусть некоторая программа, работающая под управлением этой ОС, загружена в физическую память, начиная с физического адреса S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Операционная система запоминает значение начального смещения S и во время выполнения программы помещает его в специальный регистр процессора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обращении к памяти виртуальные адреса данной программы преобразуются в физические путем прибавления к ним смещения S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при выполнении инструкции MOV пересылки данных, находящихся по адресу VA, виртуальный адрес VA заменяется физическим адресом VA+S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Подходы к преобразованию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062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62141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Последний способ является более гибким: в то время как перемещающий загрузчик жестко привязывает программу к первоначально выделенному ей участку памяти, динамическое преобразование виртуальных адресов позволяет перемещать программный код процесса в течение всего периода его выполнения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использование перемещающего загрузчика более экономично, так как в этом случае преобразование каждого виртуального адреса происходит только один раз во время загрузки, а при динамическом преобразовании – при каждом обращении по данному адресу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некоторых случаях (обычно в специализированных системах), когда заранее точно известно, в какой области оперативной памяти будет выполняться программа, транслятор выдает исполняемый код сразу в физических адресах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Подходы к преобразованию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15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Необходимо различать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максимально возможное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виртуальное адресное пространство процесса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назначенное (выделенное)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процессу виртуальное адресное пространство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первом случае речь идет о максимальном размере виртуального адресного пространства, определяемом архитектурой компьютера, на котором работает ОС, и, в частности, разрядностью его схем адресации (32-разрядная, 64-разрядная и т. п.)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при работе на компьютерах с 32-разрядными процессорами Intel Pentium операционная система может предоставить каждому процессу виртуальное адресное пространство размером до 4 Гбайт (2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32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это значение представляет собой только потенциально возможный размер виртуального адресного пространства, который редко на практике бывает необходим процессу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использует только часть доступного ему виртуального адресного пространства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Подходы к преобразованию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850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262725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Назначенное виртуальное адресное пространство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представляет собой набор виртуальных адресов, действительно нужных процессу для работы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адреса первоначально назначает программе транслятор на основании текста программы, когда создает кодовый (текстовый) сегмент, а также сегмент или сегменты данных, с которыми работает программа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Затем при создании процесса ОС фиксирует назначенное виртуальное адресное пространство в своих системных таблицах. В ходе своего выполнения процесс может увеличить размер первоначального назначенного виртуального ему адресного пространства, запросив у ОС создания дополнительных сегментов или увеличения размера существующих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Подходы к преобразованию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282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842101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любом случае операционная система обычно следит за корректностью использования процессом виртуальных адресов – процессу не разрешается оперировать виртуальным адресом, выходящим за пределы назначенных ему сегментов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Максимальный размер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виртуального адресного пространства ограничивается только разрядностью адреса, присущей данной архитектуре компьютера, и,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как правило, не совпадает с объемом физической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имеющимся в компьютере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Подходы к преобразованию адресов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68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Сегодня для машин универсального назначения типична ситуация, когда объем виртуального адресного пространства превышает доступный объем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таком случае операционная система для хранения данных виртуального адресного пространства процесса, не помещающихся в оперативную память, использует внешнюю память, которая в современных компьютерах представлена жесткими дисками (а)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на этом принципе основана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виртуальная память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наиболее совершенный механизм, используемый в операционных системах для управления памятью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96246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506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Файлы во внешней памяти которые используются для  хранения данных виртуальных адресных пространств различных процессов в современных ОС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файлом подкачки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соотношение объемов виртуальной и физической памяти может быть и обратным. Так, в мини-компьютерах 80-х годов разрядности поля адреса нередко не хватало для того, чтобы охватить всю имеющуюся оперативную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Несколько процессов могло быть загружено в память одновременно и целиком (б)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628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552717"/>
              </p:ext>
            </p:extLst>
          </p:nvPr>
        </p:nvGraphicFramePr>
        <p:xfrm>
          <a:off x="186612" y="328550"/>
          <a:ext cx="3409546" cy="1341120"/>
        </p:xfrm>
        <a:graphic>
          <a:graphicData uri="http://schemas.openxmlformats.org/drawingml/2006/table">
            <a:tbl>
              <a:tblPr/>
              <a:tblGrid>
                <a:gridCol w="3409546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7045907-EEDD-E3C1-15BC-AA77F0C1F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158" y="87743"/>
            <a:ext cx="8595842" cy="668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48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время работы процесса постоянно выполняются переходы от прикладных кодов к кодам ОС, которые вызываются либо явно из прикладных процессов как системные функции, либо как реакция на внешние события или на исключительные ситуации, возникающие при некорректном поведении прикладных кодов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того чтобы упростить передачу управления от прикладного кода коду ОС, а также для легкого доступа модулей ОС к прикладным данным (например, для вывода их на внешнее устройство), в большинстве ОС ее сегменты разделяют виртуальное адресное пространство с прикладными сегментами активного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 есть сегменты ОС и сегменты активного процесса образуют единое виртуальное адресное пространство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0866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636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Обычно виртуальное адресное пространство процесса делится на две непрерывные части: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системную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пользовательскую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некоторых ОС (например, ОС семейства Windows NT, OS/2) эти части имеют одинаковый размер – по 2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ГиБ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хотя в принципе деление может и другим, например, 1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ГиБ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для ОС и 3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ГиБ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для прикладных программ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Деление виртуального адресного пространства на две непрерывные области не является обязательным – можно представить себе ОС, которая обходится без него, чередуя свои сегменты и сегменты прикладных программ и размещая их в виртуальном адресном пространстве в произвольном порядке 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2838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7262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19F462-081E-B4AE-BC6E-D8E66DE739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25" b="3701"/>
          <a:stretch/>
        </p:blipFill>
        <p:spPr>
          <a:xfrm>
            <a:off x="2961392" y="1581006"/>
            <a:ext cx="6269217" cy="51732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6534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2" name="Объект 3">
            <a:extLst>
              <a:ext uri="{FF2B5EF4-FFF2-40B4-BE49-F238E27FC236}">
                <a16:creationId xmlns:a16="http://schemas.microsoft.com/office/drawing/2014/main" id="{CDD06058-FE32-97A7-2735-DFBC9A1B6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685" y="1956608"/>
            <a:ext cx="8304630" cy="43513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40915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5" name="Объект 7">
            <a:hlinkClick r:id="rId2"/>
            <a:extLst>
              <a:ext uri="{FF2B5EF4-FFF2-40B4-BE49-F238E27FC236}">
                <a16:creationId xmlns:a16="http://schemas.microsoft.com/office/drawing/2014/main" id="{1674280E-F840-E28C-DAB0-A73AFB08C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38352" y="1462768"/>
            <a:ext cx="5454011" cy="52426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20CB28-EA7E-A3C3-F670-0F0394399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591" y="1462768"/>
            <a:ext cx="3758266" cy="52459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754262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139E1-C6C5-5C41-C2A7-9A8662D2B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9">
            <a:extLst>
              <a:ext uri="{FF2B5EF4-FFF2-40B4-BE49-F238E27FC236}">
                <a16:creationId xmlns:a16="http://schemas.microsoft.com/office/drawing/2014/main" id="{470337C5-AB22-867C-2CC3-038DED5B1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7229"/>
            <a:ext cx="12192000" cy="551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68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Виды памяти: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Куча (уровень пользователя)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умолчанию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Общая куча, используемая для передачи больших аргументов экземпляру сеанса Csrss.exe процесса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only)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Созданная библиотекой времени выполнения языка С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Стек (уровень пользователя и ядра)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Свободная виртуальная память (уровень пользователя)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Пул памяти (уровень ядра)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Выгружаемый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Невыгружаемый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Резервные списки (уровень ядра)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105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Куча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это регион зарезервированного адресного пространства. Первоначально большей его части физическая память не передается. По мере того, как программа занимает эту область под данные, специальный диспетчер, управляющий кучами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heap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manager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постранично передает ей физическую память (из страничного файла). А при освобождении блоков в куче диспетчер возвращает системе соответствующие страницы физической памяти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Динамическая память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куча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область, из которой память (для переменных) может динамически выделяться в ходе выполнения программы. Верхний конец кучи называют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крайней точкой программы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371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Программный поток должен иметь доступ к временной области памяти для хранения параметров функций, локальных переменных и адреса возврата после вызова функции. Эта часть памяти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стеком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stack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Стек является довольно статичной частью адресного пространства, в том смысле, что практически не существует инструментов взаимодействия с ним на пользовательском уровне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6952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Часть виртуального адресного пространства каждого процесса, отводимая под сегменты ОС,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идентичной для всех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Поэтому при смене активного процесса заменяется только вторая часть виртуального адресного пространства, содержащая его индивидуальные сегменты, как правило, коды и данные прикладной программы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Архитектура современных процессоров отражает эту особенность структуры виртуального адресного пространства, например, в процессорах Intel Pentium существует два типа системных таблиц: одна – для описания сегментов, общих для всех процессов, а другая – для описания индивидуальных сегментов данного процесса. При смене процесса первая таблица остается неизменной, а вторая заменяется новой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409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Виртуальное адресное пространство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682F2B9-FC78-A695-FDCA-4BA3A0F7F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10" y="1698454"/>
            <a:ext cx="8640381" cy="48584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9970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Описанное назначение двух частей виртуального адресного пространства – для сегментов ОС и для сегментов прикладной программы – является типичным, но не абсолютным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Имеются и исключения из общего правила. В некоторых ОС существуют системные процессы, порожденные для решения внутренних задач ОС. В этих процессах отсутствуют сегменты прикладной программы, но они могут расположить некоторые свои сегменты (сегменты ОС) в общей части виртуального адресного пространства, а некоторые – в индивидуальной части, обычно предназначенной для прикладных сегментов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И, наоборот, в общей, системной части виртуального адресного пространства размещаются сегменты прикладного кода, предназначенные для совместного использования несколькими прикладными процессами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95370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44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 страничной памяти в большинстве универсальных операционных систем применяется ко всем сегментам пользовательской части виртуального адресного пространства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Исключения могут составлять специализированные ОС, например ОС реального времени, в которых некоторые сегменты жестко фиксируются в оперативной памяти и, соответственно, никогда не выгружаются на диск – это обеспечивает быструю реакцию определенных приложений на внешние события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6717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Системная часть виртуальной памяти в ОС любого типа включает область, подвергаемую страничному вытеснению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paged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выгружаемый пул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 область, на которую страничное вытеснение не распространяется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non-paged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невыгружаемый пул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невытесняемой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области размещаются модули ОС, требующие быстрой реакции и/или постоянного присутствия в памяти, например диспетчер потоков или код, который управляет заменой страниц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Остальные модули ОС подвергаются страничному вытеснению, как и пользовательские сегменты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8520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Обычно аппаратура накладывает свои ограничения на порядок использования виртуального адресного пространства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Некоторые процессоры (например, MIPS) предусматривают для определенной области системной части адресного пространства особые правила отображения на физическую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виртуальный адрес прямо отображается на физический (последний либо полностью соответствует виртуальному адресу, либо равен его части)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Такая особая область памяти не подвергается страничному вытеснению, и поскольку достаточно трудоемкая процедура преобразования адресов исключается, то доступ к располагаемым здесь кодам и данным осуществляется очень быстро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6164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Следует ли назначать каждому процессу одну непрерывную область физической памяти или можно выделять память «кусками»?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Должны ли сегменты программы, загруженные в память, находиться на одном месте в течение всего периода выполнения процесса или можно их время от времени сдвигать?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 делать, если сегменты программы не помещается в имеющуюся память? 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69746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Алгоритмы распределения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8248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Разные ОС по-разному отвечают на эти и другие базовые вопросы управления памятью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будут рассмотрены наиболее общие подходы к распределению памяти, которые были характерны для разных периодов развития операционных систем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Некоторые из них сохранили актуальность и широко используются в современных ОС, другие же представляют в основном только познавательный интерес, хотя их и сегодня можно встретить в специализированных системах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алгоритмы распределения памяти разделены на два класса: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алгоритмы, в которых используется перемещение сегментов процессов между оперативной памятью и диском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алгоритмы, в которых внешняя память не привлекается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Алгоритмы распределения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721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Алгоритмы распределения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1D2355C-9C05-EC7C-9292-8520B78D2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608" y="1843598"/>
            <a:ext cx="9094783" cy="42645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51597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4892" y="3635620"/>
            <a:ext cx="4602216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Управление памятью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0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11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625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31126</TotalTime>
  <Words>2856</Words>
  <Application>Microsoft Office PowerPoint</Application>
  <PresentationFormat>Widescreen</PresentationFormat>
  <Paragraphs>178</Paragraphs>
  <Slides>47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1230</cp:revision>
  <cp:lastPrinted>2025-11-01T06:17:20Z</cp:lastPrinted>
  <dcterms:created xsi:type="dcterms:W3CDTF">2024-09-04T11:03:42Z</dcterms:created>
  <dcterms:modified xsi:type="dcterms:W3CDTF">2025-11-22T06:17:34Z</dcterms:modified>
</cp:coreProperties>
</file>