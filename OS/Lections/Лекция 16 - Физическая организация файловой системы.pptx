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6"/>
  </p:notesMasterIdLst>
  <p:sldIdLst>
    <p:sldId id="256" r:id="rId2"/>
    <p:sldId id="322" r:id="rId3"/>
    <p:sldId id="2435" r:id="rId4"/>
    <p:sldId id="2711" r:id="rId5"/>
    <p:sldId id="2713" r:id="rId6"/>
    <p:sldId id="2712" r:id="rId7"/>
    <p:sldId id="2714" r:id="rId8"/>
    <p:sldId id="2715" r:id="rId9"/>
    <p:sldId id="2716" r:id="rId10"/>
    <p:sldId id="2717" r:id="rId11"/>
    <p:sldId id="2719" r:id="rId12"/>
    <p:sldId id="2720" r:id="rId13"/>
    <p:sldId id="2718" r:id="rId14"/>
    <p:sldId id="2721" r:id="rId15"/>
    <p:sldId id="2722" r:id="rId16"/>
    <p:sldId id="2724" r:id="rId17"/>
    <p:sldId id="2725" r:id="rId18"/>
    <p:sldId id="2726" r:id="rId19"/>
    <p:sldId id="2727" r:id="rId20"/>
    <p:sldId id="2728" r:id="rId21"/>
    <p:sldId id="2730" r:id="rId22"/>
    <p:sldId id="2723" r:id="rId23"/>
    <p:sldId id="2731" r:id="rId24"/>
    <p:sldId id="2732" r:id="rId25"/>
    <p:sldId id="2733" r:id="rId26"/>
    <p:sldId id="2734" r:id="rId27"/>
    <p:sldId id="2736" r:id="rId28"/>
    <p:sldId id="2737" r:id="rId29"/>
    <p:sldId id="2738" r:id="rId30"/>
    <p:sldId id="2739" r:id="rId31"/>
    <p:sldId id="2740" r:id="rId32"/>
    <p:sldId id="2741" r:id="rId33"/>
    <p:sldId id="2742" r:id="rId34"/>
    <p:sldId id="2743" r:id="rId35"/>
    <p:sldId id="2744" r:id="rId36"/>
    <p:sldId id="2745" r:id="rId37"/>
    <p:sldId id="2746" r:id="rId38"/>
    <p:sldId id="2747" r:id="rId39"/>
    <p:sldId id="2748" r:id="rId40"/>
    <p:sldId id="2749" r:id="rId41"/>
    <p:sldId id="2750" r:id="rId42"/>
    <p:sldId id="2751" r:id="rId43"/>
    <p:sldId id="2752" r:id="rId44"/>
    <p:sldId id="2753" r:id="rId45"/>
    <p:sldId id="2754" r:id="rId46"/>
    <p:sldId id="2735" r:id="rId47"/>
    <p:sldId id="2755" r:id="rId48"/>
    <p:sldId id="2756" r:id="rId49"/>
    <p:sldId id="2757" r:id="rId50"/>
    <p:sldId id="2758" r:id="rId51"/>
    <p:sldId id="2759" r:id="rId52"/>
    <p:sldId id="2760" r:id="rId53"/>
    <p:sldId id="2761" r:id="rId54"/>
    <p:sldId id="2762" r:id="rId55"/>
    <p:sldId id="2763" r:id="rId56"/>
    <p:sldId id="2764" r:id="rId57"/>
    <p:sldId id="2765" r:id="rId58"/>
    <p:sldId id="2766" r:id="rId59"/>
    <p:sldId id="2767" r:id="rId60"/>
    <p:sldId id="2768" r:id="rId61"/>
    <p:sldId id="2769" r:id="rId62"/>
    <p:sldId id="2770" r:id="rId63"/>
    <p:sldId id="2771" r:id="rId64"/>
    <p:sldId id="2772" r:id="rId65"/>
    <p:sldId id="2773" r:id="rId66"/>
    <p:sldId id="2774" r:id="rId67"/>
    <p:sldId id="2775" r:id="rId68"/>
    <p:sldId id="2777" r:id="rId69"/>
    <p:sldId id="2776" r:id="rId70"/>
    <p:sldId id="2778" r:id="rId71"/>
    <p:sldId id="2779" r:id="rId72"/>
    <p:sldId id="2780" r:id="rId73"/>
    <p:sldId id="2781" r:id="rId74"/>
    <p:sldId id="2710" r:id="rId75"/>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465B88BE-7067-4E01-A3DC-10AFCF848BC8}">
          <p14:sldIdLst>
            <p14:sldId id="256"/>
            <p14:sldId id="322"/>
            <p14:sldId id="2435"/>
            <p14:sldId id="2711"/>
            <p14:sldId id="2713"/>
            <p14:sldId id="2712"/>
            <p14:sldId id="2714"/>
            <p14:sldId id="2715"/>
            <p14:sldId id="2716"/>
            <p14:sldId id="2717"/>
            <p14:sldId id="2719"/>
            <p14:sldId id="2720"/>
            <p14:sldId id="2718"/>
            <p14:sldId id="2721"/>
            <p14:sldId id="2722"/>
            <p14:sldId id="2724"/>
            <p14:sldId id="2725"/>
            <p14:sldId id="2726"/>
            <p14:sldId id="2727"/>
            <p14:sldId id="2728"/>
            <p14:sldId id="2730"/>
            <p14:sldId id="2723"/>
            <p14:sldId id="2731"/>
            <p14:sldId id="2732"/>
            <p14:sldId id="2733"/>
            <p14:sldId id="2734"/>
            <p14:sldId id="2736"/>
            <p14:sldId id="2737"/>
            <p14:sldId id="2738"/>
            <p14:sldId id="2739"/>
            <p14:sldId id="2740"/>
            <p14:sldId id="2741"/>
            <p14:sldId id="2742"/>
            <p14:sldId id="2743"/>
            <p14:sldId id="2744"/>
            <p14:sldId id="2745"/>
            <p14:sldId id="2746"/>
            <p14:sldId id="2747"/>
            <p14:sldId id="2748"/>
            <p14:sldId id="2749"/>
            <p14:sldId id="2750"/>
            <p14:sldId id="2751"/>
            <p14:sldId id="2752"/>
            <p14:sldId id="2753"/>
            <p14:sldId id="2754"/>
            <p14:sldId id="2735"/>
            <p14:sldId id="2755"/>
            <p14:sldId id="2756"/>
            <p14:sldId id="2757"/>
            <p14:sldId id="2758"/>
            <p14:sldId id="2759"/>
            <p14:sldId id="2760"/>
            <p14:sldId id="2761"/>
            <p14:sldId id="2762"/>
            <p14:sldId id="2763"/>
            <p14:sldId id="2764"/>
            <p14:sldId id="2765"/>
            <p14:sldId id="2766"/>
            <p14:sldId id="2767"/>
            <p14:sldId id="2768"/>
            <p14:sldId id="2769"/>
            <p14:sldId id="2770"/>
            <p14:sldId id="2771"/>
            <p14:sldId id="2772"/>
            <p14:sldId id="2773"/>
            <p14:sldId id="2774"/>
            <p14:sldId id="2775"/>
            <p14:sldId id="2777"/>
            <p14:sldId id="2776"/>
            <p14:sldId id="2778"/>
            <p14:sldId id="2779"/>
            <p14:sldId id="2780"/>
            <p14:sldId id="2781"/>
            <p14:sldId id="2710"/>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vel Bernatsky" initials="PB" lastIdx="1" clrIdx="0">
    <p:extLst>
      <p:ext uri="{19B8F6BF-5375-455C-9EA6-DF929625EA0E}">
        <p15:presenceInfo xmlns:p15="http://schemas.microsoft.com/office/powerpoint/2012/main" userId="ccc84f90653f6d9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10" autoAdjust="0"/>
    <p:restoredTop sz="94660"/>
  </p:normalViewPr>
  <p:slideViewPr>
    <p:cSldViewPr snapToGrid="0">
      <p:cViewPr varScale="1">
        <p:scale>
          <a:sx n="84" d="100"/>
          <a:sy n="84" d="100"/>
        </p:scale>
        <p:origin x="58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E1C54A-6947-426C-B525-F25AAC6D8000}" type="datetimeFigureOut">
              <a:rPr lang="LID4096" smtClean="0"/>
              <a:t>12/22/2025</a:t>
            </a:fld>
            <a:endParaRPr lang="LID4096"/>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5E16E5-A75C-4DD5-8B93-6FB68F18C130}" type="slidenum">
              <a:rPr lang="LID4096" smtClean="0"/>
              <a:t>‹#›</a:t>
            </a:fld>
            <a:endParaRPr lang="LID4096"/>
          </a:p>
        </p:txBody>
      </p:sp>
    </p:spTree>
    <p:extLst>
      <p:ext uri="{BB962C8B-B14F-4D97-AF65-F5344CB8AC3E}">
        <p14:creationId xmlns:p14="http://schemas.microsoft.com/office/powerpoint/2010/main" val="160975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47616F-E2AF-5AFF-C83A-FE3735AD8C68}"/>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LID4096"/>
          </a:p>
        </p:txBody>
      </p:sp>
      <p:sp>
        <p:nvSpPr>
          <p:cNvPr id="3" name="Подзаголовок 2">
            <a:extLst>
              <a:ext uri="{FF2B5EF4-FFF2-40B4-BE49-F238E27FC236}">
                <a16:creationId xmlns:a16="http://schemas.microsoft.com/office/drawing/2014/main" id="{3FF40183-988B-BA61-B91E-493895FD9C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LID4096"/>
          </a:p>
        </p:txBody>
      </p:sp>
      <p:sp>
        <p:nvSpPr>
          <p:cNvPr id="4" name="Дата 3">
            <a:extLst>
              <a:ext uri="{FF2B5EF4-FFF2-40B4-BE49-F238E27FC236}">
                <a16:creationId xmlns:a16="http://schemas.microsoft.com/office/drawing/2014/main" id="{0F93C7B4-DBE6-06CE-CFC7-F4ED4D997D4E}"/>
              </a:ext>
            </a:extLst>
          </p:cNvPr>
          <p:cNvSpPr>
            <a:spLocks noGrp="1"/>
          </p:cNvSpPr>
          <p:nvPr>
            <p:ph type="dt" sz="half" idx="10"/>
          </p:nvPr>
        </p:nvSpPr>
        <p:spPr/>
        <p:txBody>
          <a:bodyPr/>
          <a:lstStyle/>
          <a:p>
            <a:fld id="{D94700BE-7692-4207-B54B-A48E0B87749C}" type="datetimeFigureOut">
              <a:rPr lang="LID4096" smtClean="0"/>
              <a:t>12/22/2025</a:t>
            </a:fld>
            <a:endParaRPr lang="LID4096"/>
          </a:p>
        </p:txBody>
      </p:sp>
      <p:sp>
        <p:nvSpPr>
          <p:cNvPr id="5" name="Нижний колонтитул 4">
            <a:extLst>
              <a:ext uri="{FF2B5EF4-FFF2-40B4-BE49-F238E27FC236}">
                <a16:creationId xmlns:a16="http://schemas.microsoft.com/office/drawing/2014/main" id="{AB5BB8FF-A395-C430-3789-0945A5312B41}"/>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19F6F5BE-4CB2-9257-FD2E-739215DBF0C3}"/>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09546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F2D562-7427-3307-029D-4B44232FB0CA}"/>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4B8B9DD3-38AD-093A-348B-69D8AF9585B0}"/>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7F409026-C297-8D81-0690-BCF909A212D2}"/>
              </a:ext>
            </a:extLst>
          </p:cNvPr>
          <p:cNvSpPr>
            <a:spLocks noGrp="1"/>
          </p:cNvSpPr>
          <p:nvPr>
            <p:ph type="dt" sz="half" idx="10"/>
          </p:nvPr>
        </p:nvSpPr>
        <p:spPr/>
        <p:txBody>
          <a:bodyPr/>
          <a:lstStyle/>
          <a:p>
            <a:fld id="{D94700BE-7692-4207-B54B-A48E0B87749C}" type="datetimeFigureOut">
              <a:rPr lang="LID4096" smtClean="0"/>
              <a:t>12/22/2025</a:t>
            </a:fld>
            <a:endParaRPr lang="LID4096"/>
          </a:p>
        </p:txBody>
      </p:sp>
      <p:sp>
        <p:nvSpPr>
          <p:cNvPr id="5" name="Нижний колонтитул 4">
            <a:extLst>
              <a:ext uri="{FF2B5EF4-FFF2-40B4-BE49-F238E27FC236}">
                <a16:creationId xmlns:a16="http://schemas.microsoft.com/office/drawing/2014/main" id="{03B93BB5-71D6-265C-76BF-7BA55253D9BB}"/>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45B812ED-7C3E-2E99-174E-7CBA5506EBC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928364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27F112-08AD-1D83-FA9D-D723E27CAE83}"/>
              </a:ext>
            </a:extLst>
          </p:cNvPr>
          <p:cNvSpPr>
            <a:spLocks noGrp="1"/>
          </p:cNvSpPr>
          <p:nvPr>
            <p:ph type="title"/>
          </p:nvPr>
        </p:nvSpPr>
        <p:spPr>
          <a:xfrm>
            <a:off x="831851" y="1709740"/>
            <a:ext cx="10515600" cy="2852737"/>
          </a:xfrm>
        </p:spPr>
        <p:txBody>
          <a:bodyPr anchor="b"/>
          <a:lstStyle>
            <a:lvl1pPr>
              <a:defRPr sz="6000"/>
            </a:lvl1pPr>
          </a:lstStyle>
          <a:p>
            <a:r>
              <a:rPr lang="ru-RU"/>
              <a:t>Образец заголовка</a:t>
            </a:r>
            <a:endParaRPr lang="LID4096"/>
          </a:p>
        </p:txBody>
      </p:sp>
      <p:sp>
        <p:nvSpPr>
          <p:cNvPr id="3" name="Текст 2">
            <a:extLst>
              <a:ext uri="{FF2B5EF4-FFF2-40B4-BE49-F238E27FC236}">
                <a16:creationId xmlns:a16="http://schemas.microsoft.com/office/drawing/2014/main" id="{C9D4462B-7C02-3784-D700-720E99BA1E6B}"/>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E7B8AEC1-27F7-FAA3-29A1-66B8783B85CB}"/>
              </a:ext>
            </a:extLst>
          </p:cNvPr>
          <p:cNvSpPr>
            <a:spLocks noGrp="1"/>
          </p:cNvSpPr>
          <p:nvPr>
            <p:ph type="dt" sz="half" idx="10"/>
          </p:nvPr>
        </p:nvSpPr>
        <p:spPr/>
        <p:txBody>
          <a:bodyPr/>
          <a:lstStyle/>
          <a:p>
            <a:fld id="{D94700BE-7692-4207-B54B-A48E0B87749C}" type="datetimeFigureOut">
              <a:rPr lang="LID4096" smtClean="0"/>
              <a:t>12/22/2025</a:t>
            </a:fld>
            <a:endParaRPr lang="LID4096"/>
          </a:p>
        </p:txBody>
      </p:sp>
      <p:sp>
        <p:nvSpPr>
          <p:cNvPr id="5" name="Нижний колонтитул 4">
            <a:extLst>
              <a:ext uri="{FF2B5EF4-FFF2-40B4-BE49-F238E27FC236}">
                <a16:creationId xmlns:a16="http://schemas.microsoft.com/office/drawing/2014/main" id="{359F6EE4-5AF4-CE7C-B7F4-C587BFECE7E3}"/>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C9262F68-CBA3-0915-2295-961EC87EC1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62701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EAAB05-2830-EFAE-DE4B-ACD17427AF4B}"/>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914D6307-654D-D982-4407-B8F3D79466B9}"/>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Объект 3">
            <a:extLst>
              <a:ext uri="{FF2B5EF4-FFF2-40B4-BE49-F238E27FC236}">
                <a16:creationId xmlns:a16="http://schemas.microsoft.com/office/drawing/2014/main" id="{7E186F62-1DB1-3C6F-EA13-795572FAE52A}"/>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Дата 4">
            <a:extLst>
              <a:ext uri="{FF2B5EF4-FFF2-40B4-BE49-F238E27FC236}">
                <a16:creationId xmlns:a16="http://schemas.microsoft.com/office/drawing/2014/main" id="{D7940FA2-011F-64EB-05FB-8559EF77520E}"/>
              </a:ext>
            </a:extLst>
          </p:cNvPr>
          <p:cNvSpPr>
            <a:spLocks noGrp="1"/>
          </p:cNvSpPr>
          <p:nvPr>
            <p:ph type="dt" sz="half" idx="10"/>
          </p:nvPr>
        </p:nvSpPr>
        <p:spPr/>
        <p:txBody>
          <a:bodyPr/>
          <a:lstStyle/>
          <a:p>
            <a:fld id="{D94700BE-7692-4207-B54B-A48E0B87749C}" type="datetimeFigureOut">
              <a:rPr lang="LID4096" smtClean="0"/>
              <a:t>12/22/2025</a:t>
            </a:fld>
            <a:endParaRPr lang="LID4096"/>
          </a:p>
        </p:txBody>
      </p:sp>
      <p:sp>
        <p:nvSpPr>
          <p:cNvPr id="6" name="Нижний колонтитул 5">
            <a:extLst>
              <a:ext uri="{FF2B5EF4-FFF2-40B4-BE49-F238E27FC236}">
                <a16:creationId xmlns:a16="http://schemas.microsoft.com/office/drawing/2014/main" id="{CD7AD932-F2FD-1AF1-F4D9-F5E82D0C6875}"/>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63145922-4144-9D1A-7394-C37497389C31}"/>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693752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4C79E9-E032-A699-2CFB-44AC928323F6}"/>
              </a:ext>
            </a:extLst>
          </p:cNvPr>
          <p:cNvSpPr>
            <a:spLocks noGrp="1"/>
          </p:cNvSpPr>
          <p:nvPr>
            <p:ph type="title"/>
          </p:nvPr>
        </p:nvSpPr>
        <p:spPr>
          <a:xfrm>
            <a:off x="839788" y="365127"/>
            <a:ext cx="10515600" cy="1325563"/>
          </a:xfrm>
        </p:spPr>
        <p:txBody>
          <a:bodyPr/>
          <a:lstStyle/>
          <a:p>
            <a:r>
              <a:rPr lang="ru-RU"/>
              <a:t>Образец заголовка</a:t>
            </a:r>
            <a:endParaRPr lang="LID4096"/>
          </a:p>
        </p:txBody>
      </p:sp>
      <p:sp>
        <p:nvSpPr>
          <p:cNvPr id="3" name="Текст 2">
            <a:extLst>
              <a:ext uri="{FF2B5EF4-FFF2-40B4-BE49-F238E27FC236}">
                <a16:creationId xmlns:a16="http://schemas.microsoft.com/office/drawing/2014/main" id="{4B2F1728-CD76-7149-9437-8308AF8E6C44}"/>
              </a:ext>
            </a:extLst>
          </p:cNvPr>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5E31FA6F-EC02-4DE3-6650-B80F00E860A0}"/>
              </a:ext>
            </a:extLst>
          </p:cNvPr>
          <p:cNvSpPr>
            <a:spLocks noGrp="1"/>
          </p:cNvSpPr>
          <p:nvPr>
            <p:ph sz="half" idx="2"/>
          </p:nvPr>
        </p:nvSpPr>
        <p:spPr>
          <a:xfrm>
            <a:off x="839789"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Текст 4">
            <a:extLst>
              <a:ext uri="{FF2B5EF4-FFF2-40B4-BE49-F238E27FC236}">
                <a16:creationId xmlns:a16="http://schemas.microsoft.com/office/drawing/2014/main" id="{B6F9C784-C313-EF39-B97C-F19B68E62794}"/>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B9EC93D1-A12D-D057-6BE7-78586123AF07}"/>
              </a:ext>
            </a:extLst>
          </p:cNvPr>
          <p:cNvSpPr>
            <a:spLocks noGrp="1"/>
          </p:cNvSpPr>
          <p:nvPr>
            <p:ph sz="quarter" idx="4"/>
          </p:nvPr>
        </p:nvSpPr>
        <p:spPr>
          <a:xfrm>
            <a:off x="6172201"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7" name="Дата 6">
            <a:extLst>
              <a:ext uri="{FF2B5EF4-FFF2-40B4-BE49-F238E27FC236}">
                <a16:creationId xmlns:a16="http://schemas.microsoft.com/office/drawing/2014/main" id="{339B00CC-01F6-7087-C302-940F9C98E580}"/>
              </a:ext>
            </a:extLst>
          </p:cNvPr>
          <p:cNvSpPr>
            <a:spLocks noGrp="1"/>
          </p:cNvSpPr>
          <p:nvPr>
            <p:ph type="dt" sz="half" idx="10"/>
          </p:nvPr>
        </p:nvSpPr>
        <p:spPr/>
        <p:txBody>
          <a:bodyPr/>
          <a:lstStyle/>
          <a:p>
            <a:fld id="{D94700BE-7692-4207-B54B-A48E0B87749C}" type="datetimeFigureOut">
              <a:rPr lang="LID4096" smtClean="0"/>
              <a:t>12/22/2025</a:t>
            </a:fld>
            <a:endParaRPr lang="LID4096"/>
          </a:p>
        </p:txBody>
      </p:sp>
      <p:sp>
        <p:nvSpPr>
          <p:cNvPr id="8" name="Нижний колонтитул 7">
            <a:extLst>
              <a:ext uri="{FF2B5EF4-FFF2-40B4-BE49-F238E27FC236}">
                <a16:creationId xmlns:a16="http://schemas.microsoft.com/office/drawing/2014/main" id="{C6EBCC5B-A9F4-C18A-35F5-2949CEAAC7AC}"/>
              </a:ext>
            </a:extLst>
          </p:cNvPr>
          <p:cNvSpPr>
            <a:spLocks noGrp="1"/>
          </p:cNvSpPr>
          <p:nvPr>
            <p:ph type="ftr" sz="quarter" idx="11"/>
          </p:nvPr>
        </p:nvSpPr>
        <p:spPr/>
        <p:txBody>
          <a:bodyPr/>
          <a:lstStyle/>
          <a:p>
            <a:endParaRPr lang="LID4096"/>
          </a:p>
        </p:txBody>
      </p:sp>
      <p:sp>
        <p:nvSpPr>
          <p:cNvPr id="9" name="Номер слайда 8">
            <a:extLst>
              <a:ext uri="{FF2B5EF4-FFF2-40B4-BE49-F238E27FC236}">
                <a16:creationId xmlns:a16="http://schemas.microsoft.com/office/drawing/2014/main" id="{E3B8B959-499F-742D-E1FF-78941C4BCA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110290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1B2447-25C4-6DCF-DAD4-FEDF21FF174E}"/>
              </a:ext>
            </a:extLst>
          </p:cNvPr>
          <p:cNvSpPr>
            <a:spLocks noGrp="1"/>
          </p:cNvSpPr>
          <p:nvPr>
            <p:ph type="title"/>
          </p:nvPr>
        </p:nvSpPr>
        <p:spPr/>
        <p:txBody>
          <a:bodyPr/>
          <a:lstStyle/>
          <a:p>
            <a:r>
              <a:rPr lang="ru-RU"/>
              <a:t>Образец заголовка</a:t>
            </a:r>
            <a:endParaRPr lang="LID4096"/>
          </a:p>
        </p:txBody>
      </p:sp>
      <p:sp>
        <p:nvSpPr>
          <p:cNvPr id="3" name="Дата 2">
            <a:extLst>
              <a:ext uri="{FF2B5EF4-FFF2-40B4-BE49-F238E27FC236}">
                <a16:creationId xmlns:a16="http://schemas.microsoft.com/office/drawing/2014/main" id="{F846070A-CABC-8A01-79F7-51A84F4435BC}"/>
              </a:ext>
            </a:extLst>
          </p:cNvPr>
          <p:cNvSpPr>
            <a:spLocks noGrp="1"/>
          </p:cNvSpPr>
          <p:nvPr>
            <p:ph type="dt" sz="half" idx="10"/>
          </p:nvPr>
        </p:nvSpPr>
        <p:spPr/>
        <p:txBody>
          <a:bodyPr/>
          <a:lstStyle/>
          <a:p>
            <a:fld id="{D94700BE-7692-4207-B54B-A48E0B87749C}" type="datetimeFigureOut">
              <a:rPr lang="LID4096" smtClean="0"/>
              <a:t>12/22/2025</a:t>
            </a:fld>
            <a:endParaRPr lang="LID4096"/>
          </a:p>
        </p:txBody>
      </p:sp>
      <p:sp>
        <p:nvSpPr>
          <p:cNvPr id="4" name="Нижний колонтитул 3">
            <a:extLst>
              <a:ext uri="{FF2B5EF4-FFF2-40B4-BE49-F238E27FC236}">
                <a16:creationId xmlns:a16="http://schemas.microsoft.com/office/drawing/2014/main" id="{36485DBC-EE1F-353D-3249-9E99780A5007}"/>
              </a:ext>
            </a:extLst>
          </p:cNvPr>
          <p:cNvSpPr>
            <a:spLocks noGrp="1"/>
          </p:cNvSpPr>
          <p:nvPr>
            <p:ph type="ftr" sz="quarter" idx="11"/>
          </p:nvPr>
        </p:nvSpPr>
        <p:spPr/>
        <p:txBody>
          <a:bodyPr/>
          <a:lstStyle/>
          <a:p>
            <a:endParaRPr lang="LID4096"/>
          </a:p>
        </p:txBody>
      </p:sp>
      <p:sp>
        <p:nvSpPr>
          <p:cNvPr id="5" name="Номер слайда 4">
            <a:extLst>
              <a:ext uri="{FF2B5EF4-FFF2-40B4-BE49-F238E27FC236}">
                <a16:creationId xmlns:a16="http://schemas.microsoft.com/office/drawing/2014/main" id="{1FD416B2-2B57-8CF9-D053-EF6A7AB1FEFA}"/>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36694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AA9FDE4F-142C-5FCB-A615-EDAA13534AC7}"/>
              </a:ext>
            </a:extLst>
          </p:cNvPr>
          <p:cNvSpPr>
            <a:spLocks noGrp="1"/>
          </p:cNvSpPr>
          <p:nvPr>
            <p:ph type="dt" sz="half" idx="10"/>
          </p:nvPr>
        </p:nvSpPr>
        <p:spPr/>
        <p:txBody>
          <a:bodyPr/>
          <a:lstStyle/>
          <a:p>
            <a:fld id="{D94700BE-7692-4207-B54B-A48E0B87749C}" type="datetimeFigureOut">
              <a:rPr lang="LID4096" smtClean="0"/>
              <a:t>12/22/2025</a:t>
            </a:fld>
            <a:endParaRPr lang="LID4096"/>
          </a:p>
        </p:txBody>
      </p:sp>
      <p:sp>
        <p:nvSpPr>
          <p:cNvPr id="3" name="Нижний колонтитул 2">
            <a:extLst>
              <a:ext uri="{FF2B5EF4-FFF2-40B4-BE49-F238E27FC236}">
                <a16:creationId xmlns:a16="http://schemas.microsoft.com/office/drawing/2014/main" id="{0B6EB5D2-B75C-FB77-8F63-19FA53844E71}"/>
              </a:ext>
            </a:extLst>
          </p:cNvPr>
          <p:cNvSpPr>
            <a:spLocks noGrp="1"/>
          </p:cNvSpPr>
          <p:nvPr>
            <p:ph type="ftr" sz="quarter" idx="11"/>
          </p:nvPr>
        </p:nvSpPr>
        <p:spPr/>
        <p:txBody>
          <a:bodyPr/>
          <a:lstStyle/>
          <a:p>
            <a:endParaRPr lang="LID4096"/>
          </a:p>
        </p:txBody>
      </p:sp>
      <p:sp>
        <p:nvSpPr>
          <p:cNvPr id="4" name="Номер слайда 3">
            <a:extLst>
              <a:ext uri="{FF2B5EF4-FFF2-40B4-BE49-F238E27FC236}">
                <a16:creationId xmlns:a16="http://schemas.microsoft.com/office/drawing/2014/main" id="{DBB97733-0993-8A78-D35D-65EA8B9F81A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00051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D8FC8E-4425-CC0C-710F-98C6425E307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Объект 2">
            <a:extLst>
              <a:ext uri="{FF2B5EF4-FFF2-40B4-BE49-F238E27FC236}">
                <a16:creationId xmlns:a16="http://schemas.microsoft.com/office/drawing/2014/main" id="{E473CCAC-EA76-40D6-17B2-7C2AFD4353B5}"/>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Текст 3">
            <a:extLst>
              <a:ext uri="{FF2B5EF4-FFF2-40B4-BE49-F238E27FC236}">
                <a16:creationId xmlns:a16="http://schemas.microsoft.com/office/drawing/2014/main" id="{23FDA7B0-EDAC-58A1-8AED-C4E8D631B6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7C5F31B-981C-419A-6E49-3095113FB273}"/>
              </a:ext>
            </a:extLst>
          </p:cNvPr>
          <p:cNvSpPr>
            <a:spLocks noGrp="1"/>
          </p:cNvSpPr>
          <p:nvPr>
            <p:ph type="dt" sz="half" idx="10"/>
          </p:nvPr>
        </p:nvSpPr>
        <p:spPr/>
        <p:txBody>
          <a:bodyPr/>
          <a:lstStyle/>
          <a:p>
            <a:fld id="{D94700BE-7692-4207-B54B-A48E0B87749C}" type="datetimeFigureOut">
              <a:rPr lang="LID4096" smtClean="0"/>
              <a:t>12/22/2025</a:t>
            </a:fld>
            <a:endParaRPr lang="LID4096"/>
          </a:p>
        </p:txBody>
      </p:sp>
      <p:sp>
        <p:nvSpPr>
          <p:cNvPr id="6" name="Нижний колонтитул 5">
            <a:extLst>
              <a:ext uri="{FF2B5EF4-FFF2-40B4-BE49-F238E27FC236}">
                <a16:creationId xmlns:a16="http://schemas.microsoft.com/office/drawing/2014/main" id="{098C04E2-0ACD-F790-199B-7863EDE0279D}"/>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870F2067-A078-C57A-9204-3A8B2F2607FC}"/>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39211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129DED-D98F-B6A2-AD7C-772F99A3449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Рисунок 2">
            <a:extLst>
              <a:ext uri="{FF2B5EF4-FFF2-40B4-BE49-F238E27FC236}">
                <a16:creationId xmlns:a16="http://schemas.microsoft.com/office/drawing/2014/main" id="{300C5605-1482-0713-0D51-A3FAC78156A6}"/>
              </a:ext>
            </a:extLst>
          </p:cNvPr>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Текст 3">
            <a:extLst>
              <a:ext uri="{FF2B5EF4-FFF2-40B4-BE49-F238E27FC236}">
                <a16:creationId xmlns:a16="http://schemas.microsoft.com/office/drawing/2014/main" id="{56A60C0B-E2FB-D11A-ADBF-D996E01CFA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4DE09DD-B690-CF21-DFC4-F02331B63D5A}"/>
              </a:ext>
            </a:extLst>
          </p:cNvPr>
          <p:cNvSpPr>
            <a:spLocks noGrp="1"/>
          </p:cNvSpPr>
          <p:nvPr>
            <p:ph type="dt" sz="half" idx="10"/>
          </p:nvPr>
        </p:nvSpPr>
        <p:spPr/>
        <p:txBody>
          <a:bodyPr/>
          <a:lstStyle/>
          <a:p>
            <a:fld id="{D94700BE-7692-4207-B54B-A48E0B87749C}" type="datetimeFigureOut">
              <a:rPr lang="LID4096" smtClean="0"/>
              <a:t>12/22/2025</a:t>
            </a:fld>
            <a:endParaRPr lang="LID4096"/>
          </a:p>
        </p:txBody>
      </p:sp>
      <p:sp>
        <p:nvSpPr>
          <p:cNvPr id="6" name="Нижний колонтитул 5">
            <a:extLst>
              <a:ext uri="{FF2B5EF4-FFF2-40B4-BE49-F238E27FC236}">
                <a16:creationId xmlns:a16="http://schemas.microsoft.com/office/drawing/2014/main" id="{0D16318B-2EDE-3598-7847-C4B423955311}"/>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097F3B72-6E6E-8853-E9C1-9458DC7C6736}"/>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11409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432ABC-7F92-53F8-6B38-14EBA795ED3A}"/>
              </a:ext>
            </a:extLst>
          </p:cNvPr>
          <p:cNvSpPr>
            <a:spLocks noGrp="1"/>
          </p:cNvSpPr>
          <p:nvPr>
            <p:ph type="title"/>
          </p:nvPr>
        </p:nvSpPr>
        <p:spPr/>
        <p:txBody>
          <a:bodyPr/>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DC74F8DD-3073-73DB-0FEC-83EE799CF0DF}"/>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D52118E-3EA2-A9A4-2BC2-E44B3237E1B2}"/>
              </a:ext>
            </a:extLst>
          </p:cNvPr>
          <p:cNvSpPr>
            <a:spLocks noGrp="1"/>
          </p:cNvSpPr>
          <p:nvPr>
            <p:ph type="dt" sz="half" idx="10"/>
          </p:nvPr>
        </p:nvSpPr>
        <p:spPr/>
        <p:txBody>
          <a:bodyPr/>
          <a:lstStyle/>
          <a:p>
            <a:fld id="{D94700BE-7692-4207-B54B-A48E0B87749C}" type="datetimeFigureOut">
              <a:rPr lang="LID4096" smtClean="0"/>
              <a:t>12/22/2025</a:t>
            </a:fld>
            <a:endParaRPr lang="LID4096"/>
          </a:p>
        </p:txBody>
      </p:sp>
      <p:sp>
        <p:nvSpPr>
          <p:cNvPr id="5" name="Нижний колонтитул 4">
            <a:extLst>
              <a:ext uri="{FF2B5EF4-FFF2-40B4-BE49-F238E27FC236}">
                <a16:creationId xmlns:a16="http://schemas.microsoft.com/office/drawing/2014/main" id="{DF9690F8-6FA6-1F50-D67E-E66228911A2A}"/>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72A8B7-B8F9-CA99-A4E2-0D1A64111FD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692678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704C6878-D0A6-5DB7-DDA4-5524F63A10D4}"/>
              </a:ext>
            </a:extLst>
          </p:cNvPr>
          <p:cNvSpPr>
            <a:spLocks noGrp="1"/>
          </p:cNvSpPr>
          <p:nvPr>
            <p:ph type="title" orient="vert"/>
          </p:nvPr>
        </p:nvSpPr>
        <p:spPr>
          <a:xfrm>
            <a:off x="8724901" y="365125"/>
            <a:ext cx="2628900" cy="5811838"/>
          </a:xfrm>
        </p:spPr>
        <p:txBody>
          <a:bodyPr vert="eaVert"/>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74290E6A-E317-C5F4-3234-CA514674E1C7}"/>
              </a:ext>
            </a:extLst>
          </p:cNvPr>
          <p:cNvSpPr>
            <a:spLocks noGrp="1"/>
          </p:cNvSpPr>
          <p:nvPr>
            <p:ph type="body" orient="vert" idx="1"/>
          </p:nvPr>
        </p:nvSpPr>
        <p:spPr>
          <a:xfrm>
            <a:off x="838201"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6927F236-BB3C-2C98-8A01-D57936776076}"/>
              </a:ext>
            </a:extLst>
          </p:cNvPr>
          <p:cNvSpPr>
            <a:spLocks noGrp="1"/>
          </p:cNvSpPr>
          <p:nvPr>
            <p:ph type="dt" sz="half" idx="10"/>
          </p:nvPr>
        </p:nvSpPr>
        <p:spPr/>
        <p:txBody>
          <a:bodyPr/>
          <a:lstStyle/>
          <a:p>
            <a:fld id="{D94700BE-7692-4207-B54B-A48E0B87749C}" type="datetimeFigureOut">
              <a:rPr lang="LID4096" smtClean="0"/>
              <a:t>12/22/2025</a:t>
            </a:fld>
            <a:endParaRPr lang="LID4096"/>
          </a:p>
        </p:txBody>
      </p:sp>
      <p:sp>
        <p:nvSpPr>
          <p:cNvPr id="5" name="Нижний колонтитул 4">
            <a:extLst>
              <a:ext uri="{FF2B5EF4-FFF2-40B4-BE49-F238E27FC236}">
                <a16:creationId xmlns:a16="http://schemas.microsoft.com/office/drawing/2014/main" id="{6FB6E046-C620-4F58-405E-9C0103599089}"/>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06496C-B074-7D9D-1BB6-63F00672ACE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01811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8D0170-EF02-F5B2-75D2-863D12552210}"/>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ru-RU"/>
              <a:t>Образец заголовка</a:t>
            </a:r>
            <a:endParaRPr lang="LID4096"/>
          </a:p>
        </p:txBody>
      </p:sp>
      <p:sp>
        <p:nvSpPr>
          <p:cNvPr id="3" name="Текст 2">
            <a:extLst>
              <a:ext uri="{FF2B5EF4-FFF2-40B4-BE49-F238E27FC236}">
                <a16:creationId xmlns:a16="http://schemas.microsoft.com/office/drawing/2014/main" id="{117FE9A8-6239-E8DA-5893-CC54DCF5A6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5C7A97B-8B60-4C6E-4780-AF77C5AA119F}"/>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4700BE-7692-4207-B54B-A48E0B87749C}" type="datetimeFigureOut">
              <a:rPr lang="LID4096" smtClean="0"/>
              <a:t>12/22/2025</a:t>
            </a:fld>
            <a:endParaRPr lang="LID4096"/>
          </a:p>
        </p:txBody>
      </p:sp>
      <p:sp>
        <p:nvSpPr>
          <p:cNvPr id="5" name="Нижний колонтитул 4">
            <a:extLst>
              <a:ext uri="{FF2B5EF4-FFF2-40B4-BE49-F238E27FC236}">
                <a16:creationId xmlns:a16="http://schemas.microsoft.com/office/drawing/2014/main" id="{F09804F4-87F9-55E6-92A8-EB0A9D1E61E4}"/>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ID4096"/>
          </a:p>
        </p:txBody>
      </p:sp>
      <p:sp>
        <p:nvSpPr>
          <p:cNvPr id="6" name="Номер слайда 5">
            <a:extLst>
              <a:ext uri="{FF2B5EF4-FFF2-40B4-BE49-F238E27FC236}">
                <a16:creationId xmlns:a16="http://schemas.microsoft.com/office/drawing/2014/main" id="{9E4F28E9-786F-C124-9986-B7AAB37E4D44}"/>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414CC9-68D5-47AD-8438-7B4A21BFF56F}" type="slidenum">
              <a:rPr lang="LID4096" smtClean="0"/>
              <a:t>‹#›</a:t>
            </a:fld>
            <a:endParaRPr lang="LID4096"/>
          </a:p>
        </p:txBody>
      </p:sp>
    </p:spTree>
    <p:extLst>
      <p:ext uri="{BB962C8B-B14F-4D97-AF65-F5344CB8AC3E}">
        <p14:creationId xmlns:p14="http://schemas.microsoft.com/office/powerpoint/2010/main" val="3500367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 Target="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slide" Target="slide6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2013068" y="3635622"/>
            <a:ext cx="8165864" cy="461839"/>
          </a:xfrm>
          <a:effectLst>
            <a:outerShdw blurRad="50800" dist="38100" dir="2700000" algn="tl" rotWithShape="0">
              <a:prstClr val="black">
                <a:alpha val="40000"/>
              </a:prstClr>
            </a:outerShdw>
          </a:effectLst>
        </p:spPr>
        <p:txBody>
          <a:bodyPr>
            <a:noAutofit/>
          </a:bodyPr>
          <a:lstStyle/>
          <a:p>
            <a:r>
              <a:rPr lang="ru-RU" sz="2800" b="1" dirty="0">
                <a:latin typeface="Verdana" panose="020B0604030504040204" pitchFamily="34" charset="0"/>
                <a:ea typeface="Verdana" panose="020B0604030504040204" pitchFamily="34" charset="0"/>
              </a:rPr>
              <a:t>Физическая организация файловой системы</a:t>
            </a:r>
          </a:p>
        </p:txBody>
      </p:sp>
      <p:sp>
        <p:nvSpPr>
          <p:cNvPr id="4" name="TextBox 3">
            <a:extLst>
              <a:ext uri="{FF2B5EF4-FFF2-40B4-BE49-F238E27FC236}">
                <a16:creationId xmlns:a16="http://schemas.microsoft.com/office/drawing/2014/main" id="{6BD3AED9-28E1-DDF9-E07D-185D5DD54F4C}"/>
              </a:ext>
            </a:extLst>
          </p:cNvPr>
          <p:cNvSpPr txBox="1"/>
          <p:nvPr/>
        </p:nvSpPr>
        <p:spPr>
          <a:xfrm>
            <a:off x="3200402"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147592" y="3051019"/>
            <a:ext cx="1896821"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a:t>
            </a:r>
            <a:r>
              <a:rPr lang="en-US" sz="2800" dirty="0">
                <a:latin typeface="Cambria" panose="02040503050406030204" pitchFamily="18" charset="0"/>
                <a:ea typeface="Cambria" panose="02040503050406030204" pitchFamily="18" charset="0"/>
              </a:rPr>
              <a:t>16</a:t>
            </a:r>
            <a:endParaRPr lang="ru-RU" sz="2800" dirty="0">
              <a:latin typeface="Cambria" panose="02040503050406030204" pitchFamily="18" charset="0"/>
              <a:ea typeface="Cambria" panose="02040503050406030204" pitchFamily="18" charset="0"/>
            </a:endParaRP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a:cxnSpLocks/>
          </p:cNvCxnSpPr>
          <p:nvPr/>
        </p:nvCxnSpPr>
        <p:spPr>
          <a:xfrm>
            <a:off x="4341228"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1986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3"/>
            <a:ext cx="10515600" cy="4998183"/>
          </a:xfrm>
        </p:spPr>
        <p:txBody>
          <a:bodyPr>
            <a:normAutofit/>
          </a:bodyPr>
          <a:lstStyle/>
          <a:p>
            <a:pPr>
              <a:buFont typeface="Wingdings" panose="05000000000000000000" pitchFamily="2" charset="2"/>
              <a:buChar char="Ø"/>
            </a:pPr>
            <a:r>
              <a:rPr lang="ru-RU" dirty="0">
                <a:latin typeface="Cambria" panose="02040503050406030204" pitchFamily="18" charset="0"/>
                <a:ea typeface="Cambria" panose="02040503050406030204" pitchFamily="18" charset="0"/>
              </a:rPr>
              <a:t>Физическая организация файловой системы: диски, разделы, секторы, кластеры</a:t>
            </a: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Физическая организация и адресация файла (физическая организация файловых систем FAT, HPFS, NTFS)</a:t>
            </a:r>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План лекции</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04100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Представление пользователя о файловой системе, как об иерархически организованном множестве информационных объектов, имеет мало общего с порядком хранения файлов на диске</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Файл, имеющий образ цельного, непрерывающегося набора байтов, на самом деле очень часто разбросан «кусочками» по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всему диску, причем это разбиение никак не связано с логической структурой</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файла, например, его отдельная логическая запись может быть расположена</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 несмежных секторах диска</a:t>
            </a:r>
          </a:p>
          <a:p>
            <a:pPr marL="0" indent="0">
              <a:buNone/>
            </a:pPr>
            <a:r>
              <a:rPr lang="ru-RU" dirty="0">
                <a:latin typeface="Cambria" panose="02040503050406030204" pitchFamily="18" charset="0"/>
                <a:ea typeface="Cambria" panose="02040503050406030204" pitchFamily="18" charset="0"/>
              </a:rPr>
              <a:t>Логически объединенные файлы из одного каталога совсем не обязаны соседствовать на диске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672233461"/>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файловой системы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18917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Принципы размещения файлов, каталогов и системной информации на реальном устройстве описываются </a:t>
            </a:r>
            <a:r>
              <a:rPr lang="ru-RU" b="1" dirty="0">
                <a:latin typeface="Cambria" panose="02040503050406030204" pitchFamily="18" charset="0"/>
                <a:ea typeface="Cambria" panose="02040503050406030204" pitchFamily="18" charset="0"/>
              </a:rPr>
              <a:t>физической организацией файловой системы</a:t>
            </a:r>
          </a:p>
          <a:p>
            <a:pPr marL="0" indent="0">
              <a:buNone/>
            </a:pPr>
            <a:r>
              <a:rPr lang="ru-RU" dirty="0">
                <a:latin typeface="Cambria" panose="02040503050406030204" pitchFamily="18" charset="0"/>
                <a:ea typeface="Cambria" panose="02040503050406030204" pitchFamily="18" charset="0"/>
              </a:rPr>
              <a:t>Очевидно, что разные файловые системы имеют разную физическую организацию</a:t>
            </a:r>
          </a:p>
          <a:p>
            <a:pPr marL="0" indent="0">
              <a:buNone/>
            </a:pPr>
            <a:r>
              <a:rPr lang="ru-RU" dirty="0">
                <a:latin typeface="Cambria" panose="02040503050406030204" pitchFamily="18" charset="0"/>
                <a:ea typeface="Cambria" panose="02040503050406030204" pitchFamily="18" charset="0"/>
              </a:rPr>
              <a:t>Далее мы рассмотрим физическую организацию такого устройства как жёсткий диск. И хотя в наши дни всё больше предпочтение даётся твердотельным накопителям, жёсткие диски остаются основной рабочей силой в вопросе хранения больших объёмов данных</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файловой системы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68724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Основным типом устройства, которое используется в современных вычислительных системах для хранения файлов, является дисковый накопитель</a:t>
            </a:r>
          </a:p>
          <a:p>
            <a:pPr marL="0" indent="0">
              <a:buNone/>
            </a:pPr>
            <a:r>
              <a:rPr lang="ru-RU" dirty="0">
                <a:latin typeface="Cambria" panose="02040503050406030204" pitchFamily="18" charset="0"/>
                <a:ea typeface="Cambria" panose="02040503050406030204" pitchFamily="18" charset="0"/>
              </a:rPr>
              <a:t>Дисковые накопители предназначены для считывания и записи данных на </a:t>
            </a:r>
            <a:r>
              <a:rPr lang="ru-RU" b="1" dirty="0">
                <a:latin typeface="Cambria" panose="02040503050406030204" pitchFamily="18" charset="0"/>
                <a:ea typeface="Cambria" panose="02040503050406030204" pitchFamily="18" charset="0"/>
              </a:rPr>
              <a:t>жесткие</a:t>
            </a:r>
            <a:r>
              <a:rPr lang="ru-RU" dirty="0">
                <a:latin typeface="Cambria" panose="02040503050406030204" pitchFamily="18" charset="0"/>
                <a:ea typeface="Cambria" panose="02040503050406030204" pitchFamily="18" charset="0"/>
              </a:rPr>
              <a:t> и </a:t>
            </a:r>
            <a:r>
              <a:rPr lang="ru-RU" b="1" dirty="0">
                <a:latin typeface="Cambria" panose="02040503050406030204" pitchFamily="18" charset="0"/>
                <a:ea typeface="Cambria" panose="02040503050406030204" pitchFamily="18" charset="0"/>
              </a:rPr>
              <a:t>гибкие</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магнитные</a:t>
            </a:r>
            <a:r>
              <a:rPr lang="ru-RU" dirty="0">
                <a:latin typeface="Cambria" panose="02040503050406030204" pitchFamily="18" charset="0"/>
                <a:ea typeface="Cambria" panose="02040503050406030204" pitchFamily="18" charset="0"/>
              </a:rPr>
              <a:t> диски</a:t>
            </a:r>
          </a:p>
          <a:p>
            <a:pPr marL="0" indent="0">
              <a:buNone/>
            </a:pPr>
            <a:r>
              <a:rPr lang="ru-RU" dirty="0">
                <a:latin typeface="Cambria" panose="02040503050406030204" pitchFamily="18" charset="0"/>
                <a:ea typeface="Cambria" panose="02040503050406030204" pitchFamily="18" charset="0"/>
              </a:rPr>
              <a:t>Жесткий диск состоит из одной или нескольких стеклянных или металлических </a:t>
            </a:r>
            <a:r>
              <a:rPr lang="ru-RU" b="1" dirty="0">
                <a:latin typeface="Cambria" panose="02040503050406030204" pitchFamily="18" charset="0"/>
                <a:ea typeface="Cambria" panose="02040503050406030204" pitchFamily="18" charset="0"/>
              </a:rPr>
              <a:t>пластин</a:t>
            </a:r>
            <a:r>
              <a:rPr lang="ru-RU" dirty="0">
                <a:latin typeface="Cambria" panose="02040503050406030204" pitchFamily="18" charset="0"/>
                <a:ea typeface="Cambria" panose="02040503050406030204" pitchFamily="18" charset="0"/>
              </a:rPr>
              <a:t>, каждая из которых покрыта с одной или двух сторон магнитным материалом</a:t>
            </a:r>
          </a:p>
          <a:p>
            <a:pPr marL="0" indent="0">
              <a:buNone/>
            </a:pPr>
            <a:r>
              <a:rPr lang="ru-RU" dirty="0">
                <a:latin typeface="Cambria" panose="02040503050406030204" pitchFamily="18" charset="0"/>
                <a:ea typeface="Cambria" panose="02040503050406030204" pitchFamily="18" charset="0"/>
              </a:rPr>
              <a:t>Таким образом, диск в общем случае состоит из </a:t>
            </a:r>
            <a:r>
              <a:rPr lang="ru-RU" b="1" dirty="0">
                <a:latin typeface="Cambria" panose="02040503050406030204" pitchFamily="18" charset="0"/>
                <a:ea typeface="Cambria" panose="02040503050406030204" pitchFamily="18" charset="0"/>
              </a:rPr>
              <a:t>пакета пластин</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065421518"/>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Диски, разделы, секторы, кластеры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34744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026286116"/>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Диски, разделы, секторы, кластеры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CDF2D0D4-E69C-D2D9-0CCF-1EFF6BF5FF82}"/>
              </a:ext>
            </a:extLst>
          </p:cNvPr>
          <p:cNvPicPr>
            <a:picLocks noChangeAspect="1"/>
          </p:cNvPicPr>
          <p:nvPr/>
        </p:nvPicPr>
        <p:blipFill>
          <a:blip r:embed="rId2"/>
          <a:stretch>
            <a:fillRect/>
          </a:stretch>
        </p:blipFill>
        <p:spPr>
          <a:xfrm>
            <a:off x="2799890" y="1796392"/>
            <a:ext cx="6592220" cy="4696480"/>
          </a:xfrm>
          <a:prstGeom prst="rect">
            <a:avLst/>
          </a:prstGeom>
        </p:spPr>
      </p:pic>
    </p:spTree>
    <p:extLst>
      <p:ext uri="{BB962C8B-B14F-4D97-AF65-F5344CB8AC3E}">
        <p14:creationId xmlns:p14="http://schemas.microsoft.com/office/powerpoint/2010/main" val="3504334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На каждой стороне каждой пластины размечены тонкие концентрические кольца – </a:t>
            </a:r>
            <a:r>
              <a:rPr lang="ru-RU" b="1" dirty="0">
                <a:latin typeface="Cambria" panose="02040503050406030204" pitchFamily="18" charset="0"/>
                <a:ea typeface="Cambria" panose="02040503050406030204" pitchFamily="18" charset="0"/>
              </a:rPr>
              <a:t>дорожки</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traсks</a:t>
            </a:r>
            <a:r>
              <a:rPr lang="ru-RU" dirty="0">
                <a:latin typeface="Cambria" panose="02040503050406030204" pitchFamily="18" charset="0"/>
                <a:ea typeface="Cambria" panose="02040503050406030204" pitchFamily="18" charset="0"/>
              </a:rPr>
              <a:t>), на которых хранятся данные</a:t>
            </a:r>
          </a:p>
          <a:p>
            <a:pPr marL="0" indent="0">
              <a:buNone/>
            </a:pPr>
            <a:r>
              <a:rPr lang="ru-RU" dirty="0">
                <a:latin typeface="Cambria" panose="02040503050406030204" pitchFamily="18" charset="0"/>
                <a:ea typeface="Cambria" panose="02040503050406030204" pitchFamily="18" charset="0"/>
              </a:rPr>
              <a:t>Количество дорожек зависит от типа диска. Нумерация дорожек начинается с 0 от внешнего края к центру диска</a:t>
            </a:r>
          </a:p>
          <a:p>
            <a:pPr marL="0" indent="0">
              <a:buNone/>
            </a:pPr>
            <a:r>
              <a:rPr lang="ru-RU" dirty="0">
                <a:latin typeface="Cambria" panose="02040503050406030204" pitchFamily="18" charset="0"/>
                <a:ea typeface="Cambria" panose="02040503050406030204" pitchFamily="18" charset="0"/>
              </a:rPr>
              <a:t>Когда диск вращается, элемент, называемый </a:t>
            </a:r>
            <a:r>
              <a:rPr lang="ru-RU" b="1" dirty="0">
                <a:latin typeface="Cambria" panose="02040503050406030204" pitchFamily="18" charset="0"/>
                <a:ea typeface="Cambria" panose="02040503050406030204" pitchFamily="18" charset="0"/>
              </a:rPr>
              <a:t>головкой</a:t>
            </a:r>
            <a:r>
              <a:rPr lang="ru-RU" dirty="0">
                <a:latin typeface="Cambria" panose="02040503050406030204" pitchFamily="18" charset="0"/>
                <a:ea typeface="Cambria" panose="02040503050406030204" pitchFamily="18" charset="0"/>
              </a:rPr>
              <a:t>, считывает двоичные данные с магнитной дорожки или записывает их на магнитную дорожку</a:t>
            </a:r>
          </a:p>
          <a:p>
            <a:pPr marL="0" indent="0">
              <a:buNone/>
            </a:pPr>
            <a:r>
              <a:rPr lang="ru-RU" dirty="0">
                <a:latin typeface="Cambria" panose="02040503050406030204" pitchFamily="18" charset="0"/>
                <a:ea typeface="Cambria" panose="02040503050406030204" pitchFamily="18" charset="0"/>
              </a:rPr>
              <a:t>Головка может позиционироваться над заданной дорожкой. Головки перемещаются над поверхностью диска дискретными шагами, каждый шаг соответствует сдвигу на одну дорожку</a:t>
            </a:r>
          </a:p>
          <a:p>
            <a:pPr marL="0" indent="0">
              <a:buNone/>
            </a:pP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Диски, разделы, секторы, кластеры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100151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Запись на диск осуществляется благодаря способности головки изменять магнитные свойства дорожки</a:t>
            </a:r>
          </a:p>
          <a:p>
            <a:pPr marL="0" indent="0">
              <a:buNone/>
            </a:pPr>
            <a:r>
              <a:rPr lang="ru-RU" dirty="0">
                <a:latin typeface="Cambria" panose="02040503050406030204" pitchFamily="18" charset="0"/>
                <a:ea typeface="Cambria" panose="02040503050406030204" pitchFamily="18" charset="0"/>
              </a:rPr>
              <a:t>В некоторых дисках вдоль каждой поверхности перемещается одна головка, а в других – имеется по головке на каждую дорожку</a:t>
            </a:r>
          </a:p>
          <a:p>
            <a:pPr marL="0" indent="0">
              <a:buNone/>
            </a:pPr>
            <a:r>
              <a:rPr lang="ru-RU" dirty="0">
                <a:latin typeface="Cambria" panose="02040503050406030204" pitchFamily="18" charset="0"/>
                <a:ea typeface="Cambria" panose="02040503050406030204" pitchFamily="18" charset="0"/>
              </a:rPr>
              <a:t>В первом случае для поиска информации головка должна перемещаться по радиусу диска. Обычно все головки закреплены на едином перемещающем механизме и двигаются синхронно. Поэтому, когда головка фиксируется на заданной дорожке одной поверхности, все остальные головки останавливаются над дорожками с такими же номерами</a:t>
            </a:r>
          </a:p>
          <a:p>
            <a:pPr marL="0" indent="0">
              <a:buNone/>
            </a:pPr>
            <a:r>
              <a:rPr lang="ru-RU" dirty="0">
                <a:latin typeface="Cambria" panose="02040503050406030204" pitchFamily="18" charset="0"/>
                <a:ea typeface="Cambria" panose="02040503050406030204" pitchFamily="18" charset="0"/>
              </a:rPr>
              <a:t>В тех же случаях, когда на каждой дорожке имеется отдельная головка, никакого перемещения головок с одной дорожки на другую не требуется, за счет этого экономится время, затрачиваемое на поиск данных</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Диски, разделы, секторы, кластеры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15899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Совокупность дорожек одного радиуса на всех поверхностях всех пластин пакета называется </a:t>
            </a:r>
            <a:r>
              <a:rPr lang="ru-RU" b="1" dirty="0">
                <a:latin typeface="Cambria" panose="02040503050406030204" pitchFamily="18" charset="0"/>
                <a:ea typeface="Cambria" panose="02040503050406030204" pitchFamily="18" charset="0"/>
              </a:rPr>
              <a:t>цилиндром</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cylinder</a:t>
            </a:r>
            <a:r>
              <a:rPr lang="ru-RU"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Каждая дорожка разбивается на фрагменты, называемые </a:t>
            </a:r>
            <a:r>
              <a:rPr lang="ru-RU" b="1" dirty="0">
                <a:latin typeface="Cambria" panose="02040503050406030204" pitchFamily="18" charset="0"/>
                <a:ea typeface="Cambria" panose="02040503050406030204" pitchFamily="18" charset="0"/>
              </a:rPr>
              <a:t>секторами</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sectors</a:t>
            </a:r>
            <a:r>
              <a:rPr lang="ru-RU" dirty="0">
                <a:latin typeface="Cambria" panose="02040503050406030204" pitchFamily="18" charset="0"/>
                <a:ea typeface="Cambria" panose="02040503050406030204" pitchFamily="18" charset="0"/>
              </a:rPr>
              <a:t>), или </a:t>
            </a:r>
            <a:r>
              <a:rPr lang="ru-RU" b="1" dirty="0">
                <a:latin typeface="Cambria" panose="02040503050406030204" pitchFamily="18" charset="0"/>
                <a:ea typeface="Cambria" panose="02040503050406030204" pitchFamily="18" charset="0"/>
              </a:rPr>
              <a:t>блоками</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blocks</a:t>
            </a:r>
            <a:r>
              <a:rPr lang="ru-RU" dirty="0">
                <a:latin typeface="Cambria" panose="02040503050406030204" pitchFamily="18" charset="0"/>
                <a:ea typeface="Cambria" panose="02040503050406030204" pitchFamily="18" charset="0"/>
              </a:rPr>
              <a:t>), так что все дорожки имеют равное число секторов, в которые максимально можно записать одно и то же число байтов </a:t>
            </a:r>
            <a:r>
              <a:rPr lang="ru-RU" sz="1800" dirty="0">
                <a:latin typeface="Cambria" panose="02040503050406030204" pitchFamily="18" charset="0"/>
                <a:ea typeface="Cambria" panose="02040503050406030204" pitchFamily="18" charset="0"/>
              </a:rPr>
              <a:t>(</a:t>
            </a:r>
            <a:r>
              <a:rPr lang="ru-RU" sz="1800" dirty="0">
                <a:solidFill>
                  <a:srgbClr val="000000"/>
                </a:solidFill>
                <a:latin typeface="TimesNewRomanPSMT"/>
                <a:ea typeface="Cambria" panose="02040503050406030204" pitchFamily="18" charset="0"/>
              </a:rPr>
              <a:t>в</a:t>
            </a:r>
            <a:r>
              <a:rPr lang="ru-RU" sz="1800" b="0" i="0" dirty="0">
                <a:solidFill>
                  <a:srgbClr val="000000"/>
                </a:solidFill>
                <a:effectLst/>
                <a:latin typeface="TimesNewRomanPSMT"/>
              </a:rPr>
              <a:t>нешняя дорожка может иметь несколько дополнительных секторов, используемых для замены поврежденных секторов в режиме горячего резервирования</a:t>
            </a:r>
            <a:r>
              <a:rPr lang="ru-RU" sz="1800"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Сектор имеет фиксированный для конкретной системы размер, выражающийся степенью двойки. Чаще всего размер сектора составляет 512 байт. Учитывая, что дорожки разного радиуса имеют одинаковое число секторов, плотность записи становится тем выше, чем ближе дорожка к центру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Диски, разделы, секторы, кластеры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636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Для того чтобы контроллер мог найти на диске нужный сектор, необходимо задать ему все составляющие адреса сектора: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Номер цилиндра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Номер поверхности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Номер сектора на дорожке</a:t>
            </a:r>
          </a:p>
          <a:p>
            <a:pPr marL="0" indent="0">
              <a:buNone/>
            </a:pPr>
            <a:r>
              <a:rPr lang="ru-RU" b="1" dirty="0">
                <a:latin typeface="Cambria" panose="02040503050406030204" pitchFamily="18" charset="0"/>
                <a:ea typeface="Cambria" panose="02040503050406030204" pitchFamily="18" charset="0"/>
              </a:rPr>
              <a:t>Сектор</a:t>
            </a:r>
            <a:r>
              <a:rPr lang="ru-RU" dirty="0">
                <a:latin typeface="Cambria" panose="02040503050406030204" pitchFamily="18" charset="0"/>
                <a:ea typeface="Cambria" panose="02040503050406030204" pitchFamily="18" charset="0"/>
              </a:rPr>
              <a:t> – наименьшая адресуемая единица обмена данными дискового устройства с оперативной памятью</a:t>
            </a:r>
          </a:p>
          <a:p>
            <a:pPr marL="0" indent="0">
              <a:buNone/>
            </a:pPr>
            <a:r>
              <a:rPr lang="ru-RU" dirty="0">
                <a:latin typeface="Cambria" panose="02040503050406030204" pitchFamily="18" charset="0"/>
                <a:ea typeface="Cambria" panose="02040503050406030204" pitchFamily="18" charset="0"/>
              </a:rPr>
              <a:t>Это означает, что даже в тех случаях, когда программе требуется прочитать с диска только один байт, в действительности будет считан целый сектор и передан системе для выборки нужных данных</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Диски, разделы, секторы, кластеры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08112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Так как прикладная программа оперирует не секторами, а байтами, к тому же заданный объем требуемых данных не обязательно оказывается кратным размеру сектора, то типичный запрос включает чтение нескольких секторов, содержащих нужную информацию, и одного или двух секторов, содержащих наряду с требуемыми избыточные данные</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Диски, разделы, секторы, кластеры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358925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Диски, разделы, секторы, кластеры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4DEDB279-E309-6F7C-CCD2-1332FE04ED3B}"/>
              </a:ext>
            </a:extLst>
          </p:cNvPr>
          <p:cNvPicPr>
            <a:picLocks noChangeAspect="1"/>
          </p:cNvPicPr>
          <p:nvPr/>
        </p:nvPicPr>
        <p:blipFill>
          <a:blip r:embed="rId2"/>
          <a:stretch>
            <a:fillRect/>
          </a:stretch>
        </p:blipFill>
        <p:spPr>
          <a:xfrm>
            <a:off x="2809416" y="1852679"/>
            <a:ext cx="6573167" cy="4505954"/>
          </a:xfrm>
          <a:prstGeom prst="rect">
            <a:avLst/>
          </a:prstGeom>
        </p:spPr>
      </p:pic>
    </p:spTree>
    <p:extLst>
      <p:ext uri="{BB962C8B-B14F-4D97-AF65-F5344CB8AC3E}">
        <p14:creationId xmlns:p14="http://schemas.microsoft.com/office/powerpoint/2010/main" val="1202685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Операционная система при работе с диском использует собственную единицу дискового пространства, называемую </a:t>
            </a:r>
            <a:r>
              <a:rPr lang="ru-RU" b="1" dirty="0">
                <a:latin typeface="Cambria" panose="02040503050406030204" pitchFamily="18" charset="0"/>
                <a:ea typeface="Cambria" panose="02040503050406030204" pitchFamily="18" charset="0"/>
              </a:rPr>
              <a:t>кластером</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cluster</a:t>
            </a:r>
            <a:r>
              <a:rPr lang="ru-RU" dirty="0">
                <a:latin typeface="Cambria" panose="02040503050406030204" pitchFamily="18" charset="0"/>
                <a:ea typeface="Cambria" panose="02040503050406030204" pitchFamily="18" charset="0"/>
              </a:rPr>
              <a:t>) </a:t>
            </a:r>
          </a:p>
          <a:p>
            <a:pPr marL="0" indent="0">
              <a:buNone/>
            </a:pPr>
            <a:r>
              <a:rPr lang="ru-RU" dirty="0">
                <a:latin typeface="Cambria" panose="02040503050406030204" pitchFamily="18" charset="0"/>
                <a:ea typeface="Cambria" panose="02040503050406030204" pitchFamily="18" charset="0"/>
              </a:rPr>
              <a:t>При создании файла ОС запрашивает для него область на диске, размер которой кратен принятому в этой операционной системе размеру кластера</a:t>
            </a:r>
          </a:p>
          <a:p>
            <a:pPr marL="0" indent="0">
              <a:buNone/>
            </a:pPr>
            <a:r>
              <a:rPr lang="ru-RU" dirty="0">
                <a:latin typeface="Cambria" panose="02040503050406030204" pitchFamily="18" charset="0"/>
                <a:ea typeface="Cambria" panose="02040503050406030204" pitchFamily="18" charset="0"/>
              </a:rPr>
              <a:t>Например, если файл имеет размер 2560 байт, а размер кластера в файловой системе определен в 1024 байта, то файлу будет выделено на диске 3 кластера</a:t>
            </a:r>
          </a:p>
          <a:p>
            <a:pPr marL="0" indent="0">
              <a:buNone/>
            </a:pPr>
            <a:r>
              <a:rPr lang="ru-RU" b="1" dirty="0">
                <a:latin typeface="Cambria" panose="02040503050406030204" pitchFamily="18" charset="0"/>
                <a:ea typeface="Cambria" panose="02040503050406030204" pitchFamily="18" charset="0"/>
              </a:rPr>
              <a:t>Кластер</a:t>
            </a:r>
            <a:r>
              <a:rPr lang="ru-RU" dirty="0">
                <a:latin typeface="Cambria" panose="02040503050406030204" pitchFamily="18" charset="0"/>
                <a:ea typeface="Cambria" panose="02040503050406030204" pitchFamily="18" charset="0"/>
              </a:rPr>
              <a:t> – наименьшая единица дискового пространства, которой оперирует файловая система при распределении памяти на диске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Диски, разделы, секторы, кластеры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699394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Иногда кластер называют блоком (например, в ОС Unix), что может привести к терминологической путанице</a:t>
            </a:r>
          </a:p>
          <a:p>
            <a:pPr marL="0" indent="0">
              <a:buNone/>
            </a:pPr>
            <a:r>
              <a:rPr lang="ru-RU" dirty="0">
                <a:latin typeface="Cambria" panose="02040503050406030204" pitchFamily="18" charset="0"/>
                <a:ea typeface="Cambria" panose="02040503050406030204" pitchFamily="18" charset="0"/>
              </a:rPr>
              <a:t>Вообще, терминология, используемая при описании форматов дисков и файловых систем, зависит от аппаратной платформы (RISC, </a:t>
            </a:r>
            <a:r>
              <a:rPr lang="ru-RU" dirty="0" err="1">
                <a:latin typeface="Cambria" panose="02040503050406030204" pitchFamily="18" charset="0"/>
                <a:ea typeface="Cambria" panose="02040503050406030204" pitchFamily="18" charset="0"/>
              </a:rPr>
              <a:t>Wintel</a:t>
            </a:r>
            <a:r>
              <a:rPr lang="ru-RU" dirty="0">
                <a:latin typeface="Cambria" panose="02040503050406030204" pitchFamily="18" charset="0"/>
                <a:ea typeface="Cambria" panose="02040503050406030204" pitchFamily="18" charset="0"/>
              </a:rPr>
              <a:t> и т. п.) и операционной системы</a:t>
            </a:r>
          </a:p>
          <a:p>
            <a:pPr marL="0" indent="0">
              <a:buNone/>
            </a:pPr>
            <a:r>
              <a:rPr lang="ru-RU" dirty="0">
                <a:latin typeface="Cambria" panose="02040503050406030204" pitchFamily="18" charset="0"/>
                <a:ea typeface="Cambria" panose="02040503050406030204" pitchFamily="18" charset="0"/>
              </a:rPr>
              <a:t>Это нужно учитывать и трактовать термины в зависимости от контекста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Диски, разделы, секторы, кластеры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03230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Дорожки и секторы создаются в результате выполнения процедуры </a:t>
            </a:r>
            <a:r>
              <a:rPr lang="ru-RU" b="1" dirty="0">
                <a:latin typeface="Cambria" panose="02040503050406030204" pitchFamily="18" charset="0"/>
                <a:ea typeface="Cambria" panose="02040503050406030204" pitchFamily="18" charset="0"/>
              </a:rPr>
              <a:t>физического</a:t>
            </a:r>
            <a:r>
              <a:rPr lang="ru-RU" dirty="0">
                <a:latin typeface="Cambria" panose="02040503050406030204" pitchFamily="18" charset="0"/>
                <a:ea typeface="Cambria" panose="02040503050406030204" pitchFamily="18" charset="0"/>
              </a:rPr>
              <a:t>, или </a:t>
            </a:r>
            <a:r>
              <a:rPr lang="ru-RU" b="1" dirty="0">
                <a:latin typeface="Cambria" panose="02040503050406030204" pitchFamily="18" charset="0"/>
                <a:ea typeface="Cambria" panose="02040503050406030204" pitchFamily="18" charset="0"/>
              </a:rPr>
              <a:t>низкоуровневого</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форматирования</a:t>
            </a:r>
            <a:r>
              <a:rPr lang="ru-RU" dirty="0">
                <a:latin typeface="Cambria" panose="02040503050406030204" pitchFamily="18" charset="0"/>
                <a:ea typeface="Cambria" panose="02040503050406030204" pitchFamily="18" charset="0"/>
              </a:rPr>
              <a:t> диска, предшествующей использованию диска</a:t>
            </a:r>
          </a:p>
          <a:p>
            <a:pPr marL="0" indent="0">
              <a:buNone/>
            </a:pPr>
            <a:r>
              <a:rPr lang="ru-RU" dirty="0">
                <a:latin typeface="Cambria" panose="02040503050406030204" pitchFamily="18" charset="0"/>
                <a:ea typeface="Cambria" panose="02040503050406030204" pitchFamily="18" charset="0"/>
              </a:rPr>
              <a:t>Для определения границ блоков на диск записывается идентификационная информация</a:t>
            </a:r>
          </a:p>
          <a:p>
            <a:pPr marL="0" indent="0">
              <a:buNone/>
            </a:pPr>
            <a:r>
              <a:rPr lang="ru-RU" dirty="0">
                <a:latin typeface="Cambria" panose="02040503050406030204" pitchFamily="18" charset="0"/>
                <a:ea typeface="Cambria" panose="02040503050406030204" pitchFamily="18" charset="0"/>
              </a:rPr>
              <a:t>Низкоуровневый формат диска не зависит от типа операционной системы, которая этот диск будет использовать</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Диски, разделы, секторы, кластеры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96334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Разметку диска под конкретный тип файловой системы выполняют процедуры </a:t>
            </a:r>
            <a:r>
              <a:rPr lang="ru-RU" b="1" dirty="0">
                <a:latin typeface="Cambria" panose="02040503050406030204" pitchFamily="18" charset="0"/>
                <a:ea typeface="Cambria" panose="02040503050406030204" pitchFamily="18" charset="0"/>
              </a:rPr>
              <a:t>высокоуровневого</a:t>
            </a:r>
            <a:r>
              <a:rPr lang="ru-RU" dirty="0">
                <a:latin typeface="Cambria" panose="02040503050406030204" pitchFamily="18" charset="0"/>
                <a:ea typeface="Cambria" panose="02040503050406030204" pitchFamily="18" charset="0"/>
              </a:rPr>
              <a:t>, или </a:t>
            </a:r>
            <a:r>
              <a:rPr lang="ru-RU" b="1" dirty="0">
                <a:latin typeface="Cambria" panose="02040503050406030204" pitchFamily="18" charset="0"/>
                <a:ea typeface="Cambria" panose="02040503050406030204" pitchFamily="18" charset="0"/>
              </a:rPr>
              <a:t>логического</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форматирования</a:t>
            </a:r>
          </a:p>
          <a:p>
            <a:pPr marL="0" indent="0">
              <a:buNone/>
            </a:pPr>
            <a:r>
              <a:rPr lang="ru-RU" dirty="0">
                <a:latin typeface="Cambria" panose="02040503050406030204" pitchFamily="18" charset="0"/>
                <a:ea typeface="Cambria" panose="02040503050406030204" pitchFamily="18" charset="0"/>
              </a:rPr>
              <a:t>При высокоуровневом форматировании определяется размер кластера, и на диск записывается информация, необходимая для работы файловой системы, в том числе: информация о доступном и неиспользуемом пространстве, о границах областей, отведенных под файлы и каталоги, о поврежденных областях</a:t>
            </a:r>
          </a:p>
          <a:p>
            <a:pPr marL="0" indent="0">
              <a:buNone/>
            </a:pPr>
            <a:r>
              <a:rPr lang="ru-RU" dirty="0">
                <a:latin typeface="Cambria" panose="02040503050406030204" pitchFamily="18" charset="0"/>
                <a:ea typeface="Cambria" panose="02040503050406030204" pitchFamily="18" charset="0"/>
              </a:rPr>
              <a:t>Кроме того, на диск записывается загрузчик операционной системы – небольшая программа, которая начинает процесс инициализации операционной системы после включения питания или рестарта компьютера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Диски, разделы, секторы, кластеры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262737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Прежде чем форматировать диск под определенную файловую систему, он может быть разбит на </a:t>
            </a:r>
            <a:r>
              <a:rPr lang="ru-RU" b="1" dirty="0">
                <a:latin typeface="Cambria" panose="02040503050406030204" pitchFamily="18" charset="0"/>
                <a:ea typeface="Cambria" panose="02040503050406030204" pitchFamily="18" charset="0"/>
              </a:rPr>
              <a:t>разделы</a:t>
            </a:r>
          </a:p>
          <a:p>
            <a:pPr marL="0" indent="0">
              <a:buNone/>
            </a:pPr>
            <a:r>
              <a:rPr lang="ru-RU" b="1" dirty="0">
                <a:latin typeface="Cambria" panose="02040503050406030204" pitchFamily="18" charset="0"/>
                <a:ea typeface="Cambria" panose="02040503050406030204" pitchFamily="18" charset="0"/>
              </a:rPr>
              <a:t>Раздел </a:t>
            </a:r>
            <a:r>
              <a:rPr lang="ru-RU" dirty="0">
                <a:latin typeface="Cambria" panose="02040503050406030204" pitchFamily="18" charset="0"/>
                <a:ea typeface="Cambria" panose="02040503050406030204" pitchFamily="18" charset="0"/>
              </a:rPr>
              <a:t>– это непрерывная часть физического диска, которую операционная система представляет пользователю как логическое устройство. В представлении прикладного программиста логическое устройство функционирует так, как если бы это был отдельный физический диск</a:t>
            </a:r>
          </a:p>
          <a:p>
            <a:pPr marL="0" indent="0">
              <a:buNone/>
            </a:pPr>
            <a:r>
              <a:rPr lang="ru-RU" dirty="0">
                <a:latin typeface="Cambria" panose="02040503050406030204" pitchFamily="18" charset="0"/>
                <a:ea typeface="Cambria" panose="02040503050406030204" pitchFamily="18" charset="0"/>
              </a:rPr>
              <a:t>Используются также термины «логический диск», «логический раздел», «том» (</a:t>
            </a:r>
            <a:r>
              <a:rPr lang="ru-RU" dirty="0" err="1">
                <a:latin typeface="Cambria" panose="02040503050406030204" pitchFamily="18" charset="0"/>
                <a:ea typeface="Cambria" panose="02040503050406030204" pitchFamily="18" charset="0"/>
              </a:rPr>
              <a:t>volume</a:t>
            </a:r>
            <a:r>
              <a:rPr lang="ru-RU" dirty="0">
                <a:latin typeface="Cambria" panose="02040503050406030204" pitchFamily="18" charset="0"/>
                <a:ea typeface="Cambria" panose="02040503050406030204" pitchFamily="18" charset="0"/>
              </a:rPr>
              <a:t>). Для разных ОС толкование этих терминов имеет свои особенности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Диски, разделы, секторы, кластеры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16975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Именно с логическими устройствами работает пользователь, обращаясь к ним по символьным именам, например А, В, С, SYS и т. п.</a:t>
            </a:r>
          </a:p>
          <a:p>
            <a:pPr marL="0" indent="0">
              <a:buNone/>
            </a:pPr>
            <a:r>
              <a:rPr lang="ru-RU" dirty="0">
                <a:latin typeface="Cambria" panose="02040503050406030204" pitchFamily="18" charset="0"/>
                <a:ea typeface="Cambria" panose="02040503050406030204" pitchFamily="18" charset="0"/>
              </a:rPr>
              <a:t>Операционные системы разного типа используют единое для всех них представление о разделах, но создают на его основе логические устройства, специфические для каждого типа ОС</a:t>
            </a:r>
          </a:p>
          <a:p>
            <a:pPr marL="0" indent="0">
              <a:buNone/>
            </a:pPr>
            <a:r>
              <a:rPr lang="ru-RU" dirty="0">
                <a:latin typeface="Cambria" panose="02040503050406030204" pitchFamily="18" charset="0"/>
                <a:ea typeface="Cambria" panose="02040503050406030204" pitchFamily="18" charset="0"/>
              </a:rPr>
              <a:t>На каждом логическом устройстве может создаваться только одна файловая система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Диски, разделы, секторы, кластеры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606708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В частном случае, когда все дисковое пространство охватывается одним разделом, логическое устройство представляет физическое устройство в целом</a:t>
            </a:r>
          </a:p>
          <a:p>
            <a:pPr marL="0" indent="0">
              <a:buNone/>
            </a:pPr>
            <a:r>
              <a:rPr lang="ru-RU" dirty="0">
                <a:latin typeface="Cambria" panose="02040503050406030204" pitchFamily="18" charset="0"/>
                <a:ea typeface="Cambria" panose="02040503050406030204" pitchFamily="18" charset="0"/>
              </a:rPr>
              <a:t>Если диск разбит на несколько разделов, то для каждого из этих разделов может быть создано отдельное логическое устройство</a:t>
            </a:r>
          </a:p>
          <a:p>
            <a:pPr marL="0" indent="0">
              <a:buNone/>
            </a:pPr>
            <a:r>
              <a:rPr lang="ru-RU" dirty="0">
                <a:latin typeface="Cambria" panose="02040503050406030204" pitchFamily="18" charset="0"/>
                <a:ea typeface="Cambria" panose="02040503050406030204" pitchFamily="18" charset="0"/>
              </a:rPr>
              <a:t>Логическое устройство может быть создано и на базе нескольких разделов, причем эти разделы не обязательно должны принадлежать одному физическому устройству</a:t>
            </a:r>
          </a:p>
          <a:p>
            <a:pPr marL="0" indent="0">
              <a:buNone/>
            </a:pPr>
            <a:r>
              <a:rPr lang="ru-RU" dirty="0">
                <a:latin typeface="Cambria" panose="02040503050406030204" pitchFamily="18" charset="0"/>
                <a:ea typeface="Cambria" panose="02040503050406030204" pitchFamily="18" charset="0"/>
              </a:rPr>
              <a:t>Объединение нескольких разделов в единое логическое устройство может выполняться разными способами и преследовать разные цели, основные из которых: увеличение общего объема логического раздела, повышение производительности и отказоустойчивости</a:t>
            </a:r>
          </a:p>
          <a:p>
            <a:pPr marL="0" indent="0">
              <a:buNone/>
            </a:pPr>
            <a:r>
              <a:rPr lang="ru-RU" dirty="0">
                <a:latin typeface="Cambria" panose="02040503050406030204" pitchFamily="18" charset="0"/>
                <a:ea typeface="Cambria" panose="02040503050406030204" pitchFamily="18" charset="0"/>
              </a:rPr>
              <a:t>Примерами организации совместной работы нескольких дисковых разделов являются так называемые RAID-массивы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Диски, разделы, секторы, кластеры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502508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На разных логических устройствах одного и того же физического диска могут располагаться файловые системы как одного и того же, так и разных типов.</a:t>
            </a:r>
          </a:p>
          <a:p>
            <a:pPr marL="0" indent="0">
              <a:buNone/>
            </a:pPr>
            <a:r>
              <a:rPr lang="ru-RU" dirty="0">
                <a:latin typeface="Cambria" panose="02040503050406030204" pitchFamily="18" charset="0"/>
                <a:ea typeface="Cambria" panose="02040503050406030204" pitchFamily="18" charset="0"/>
              </a:rPr>
              <a:t>На рисунке показан пример диска, разбитого на 3 раздела, в которых установлено две файловых системы NTFS (разделы С и Е) и одна файловая система FAT (раздел D)</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Диски, разделы, секторы, кластеры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1105461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Диски, разделы, секторы, кластеры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A71AF26E-2E68-EDFA-AC06-6ECB470FF52D}"/>
              </a:ext>
            </a:extLst>
          </p:cNvPr>
          <p:cNvPicPr>
            <a:picLocks noChangeAspect="1"/>
          </p:cNvPicPr>
          <p:nvPr/>
        </p:nvPicPr>
        <p:blipFill>
          <a:blip r:embed="rId2"/>
          <a:stretch>
            <a:fillRect/>
          </a:stretch>
        </p:blipFill>
        <p:spPr>
          <a:xfrm>
            <a:off x="1298448" y="1470904"/>
            <a:ext cx="9595104" cy="5387096"/>
          </a:xfrm>
          <a:prstGeom prst="rect">
            <a:avLst/>
          </a:prstGeom>
        </p:spPr>
      </p:pic>
    </p:spTree>
    <p:extLst>
      <p:ext uri="{BB962C8B-B14F-4D97-AF65-F5344CB8AC3E}">
        <p14:creationId xmlns:p14="http://schemas.microsoft.com/office/powerpoint/2010/main" val="13932931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Все разделы одного диска имеют одинаковый размер блока, определенный для данного диска в результате низкоуровневого форматирования</a:t>
            </a:r>
          </a:p>
          <a:p>
            <a:pPr marL="0" indent="0">
              <a:buNone/>
            </a:pPr>
            <a:r>
              <a:rPr lang="ru-RU" dirty="0">
                <a:latin typeface="Cambria" panose="02040503050406030204" pitchFamily="18" charset="0"/>
                <a:ea typeface="Cambria" panose="02040503050406030204" pitchFamily="18" charset="0"/>
              </a:rPr>
              <a:t>Однако в результате высокоуровневого форматирования в разных разделах одного и того же диска, представленных разными логическими устройствами, могут быть установлены файловые системы, в которых определены кластеры отличающихся размеров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Диски, разделы, секторы, кластеры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742192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Операционная система может поддерживать разные статусы разделов, особым образом отмечая разделы, которые могут быть использованы для загрузки модулей операционной системы, и разделы, в которых можно устанавливать только приложения и хранить файлы данных</a:t>
            </a:r>
          </a:p>
          <a:p>
            <a:pPr marL="0" indent="0">
              <a:buNone/>
            </a:pPr>
            <a:r>
              <a:rPr lang="ru-RU" dirty="0">
                <a:latin typeface="Cambria" panose="02040503050406030204" pitchFamily="18" charset="0"/>
                <a:ea typeface="Cambria" panose="02040503050406030204" pitchFamily="18" charset="0"/>
              </a:rPr>
              <a:t>Один из разделов диска помечается как </a:t>
            </a:r>
            <a:r>
              <a:rPr lang="ru-RU" b="1" dirty="0">
                <a:latin typeface="Cambria" panose="02040503050406030204" pitchFamily="18" charset="0"/>
                <a:ea typeface="Cambria" panose="02040503050406030204" pitchFamily="18" charset="0"/>
              </a:rPr>
              <a:t>загружаемый</a:t>
            </a:r>
            <a:r>
              <a:rPr lang="ru-RU" dirty="0">
                <a:latin typeface="Cambria" panose="02040503050406030204" pitchFamily="18" charset="0"/>
                <a:ea typeface="Cambria" panose="02040503050406030204" pitchFamily="18" charset="0"/>
              </a:rPr>
              <a:t>, или </a:t>
            </a:r>
            <a:r>
              <a:rPr lang="ru-RU" b="1" dirty="0">
                <a:latin typeface="Cambria" panose="02040503050406030204" pitchFamily="18" charset="0"/>
                <a:ea typeface="Cambria" panose="02040503050406030204" pitchFamily="18" charset="0"/>
              </a:rPr>
              <a:t>активный</a:t>
            </a:r>
            <a:r>
              <a:rPr lang="ru-RU" dirty="0">
                <a:latin typeface="Cambria" panose="02040503050406030204" pitchFamily="18" charset="0"/>
                <a:ea typeface="Cambria" panose="02040503050406030204" pitchFamily="18" charset="0"/>
              </a:rPr>
              <a:t>. Именно из этого раздела считывается загрузчик операционной системы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Диски, разделы, секторы, кластеры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695343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Важным компонентом физической организации файловой системы является физическая организация файла, то есть способ размещения файла на диске</a:t>
            </a:r>
          </a:p>
          <a:p>
            <a:pPr marL="0" indent="0">
              <a:buNone/>
            </a:pPr>
            <a:r>
              <a:rPr lang="ru-RU" dirty="0">
                <a:latin typeface="Cambria" panose="02040503050406030204" pitchFamily="18" charset="0"/>
                <a:ea typeface="Cambria" panose="02040503050406030204" pitchFamily="18" charset="0"/>
              </a:rPr>
              <a:t>Основными критериями эффективности физической организации файлов являются: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Скорость доступа к данным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Объем адресной информации файла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Степень фрагментированности дискового пространства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Максимально возможный размер файла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032984804"/>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и адресация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36398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b="1" dirty="0">
                <a:latin typeface="Cambria" panose="02040503050406030204" pitchFamily="18" charset="0"/>
                <a:ea typeface="Cambria" panose="02040503050406030204" pitchFamily="18" charset="0"/>
              </a:rPr>
              <a:t>Непрерывное размещение </a:t>
            </a:r>
            <a:r>
              <a:rPr lang="ru-RU" dirty="0">
                <a:latin typeface="Cambria" panose="02040503050406030204" pitchFamily="18" charset="0"/>
                <a:ea typeface="Cambria" panose="02040503050406030204" pitchFamily="18" charset="0"/>
              </a:rPr>
              <a:t>– простейший вариант физической организации (а), при котором файлу предоставляется последовательность кластеров диска, образующих непрерывный участок дисковой памяти</a:t>
            </a:r>
          </a:p>
          <a:p>
            <a:pPr marL="0" indent="0">
              <a:buNone/>
            </a:pPr>
            <a:r>
              <a:rPr lang="ru-RU" dirty="0">
                <a:latin typeface="Cambria" panose="02040503050406030204" pitchFamily="18" charset="0"/>
                <a:ea typeface="Cambria" panose="02040503050406030204" pitchFamily="18" charset="0"/>
              </a:rPr>
              <a:t>Основным достоинством этого метода является высокая скорость доступа, так как затраты на поиск и считывание кластеров файла минимальны. Также минимален объем адресной информации – достаточно хранить только номер первого кластера и объем файла</a:t>
            </a:r>
          </a:p>
          <a:p>
            <a:pPr marL="0" indent="0">
              <a:buNone/>
            </a:pPr>
            <a:r>
              <a:rPr lang="ru-RU" dirty="0">
                <a:latin typeface="Cambria" panose="02040503050406030204" pitchFamily="18" charset="0"/>
                <a:ea typeface="Cambria" panose="02040503050406030204" pitchFamily="18" charset="0"/>
              </a:rPr>
              <a:t>Данная физическая организация максимально возможный размер файла не ограничивает. Однако этот вариант имеет существенные недостатки, которые затрудняют его применимость на практике, несмотря на всю его логическую простоту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и адресация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089043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Действительно, какого размера должна быть непрерывная область, выделяемая файлу, если файл при каждой модификации может увеличить свой размер? </a:t>
            </a:r>
          </a:p>
          <a:p>
            <a:pPr marL="0" indent="0">
              <a:buNone/>
            </a:pPr>
            <a:r>
              <a:rPr lang="ru-RU" dirty="0">
                <a:latin typeface="Cambria" panose="02040503050406030204" pitchFamily="18" charset="0"/>
                <a:ea typeface="Cambria" panose="02040503050406030204" pitchFamily="18" charset="0"/>
              </a:rPr>
              <a:t>Еще более серьезной проблемой является фрагментация. Спустя некоторое время после создания файловой системы, в результате выполнения многочисленных операций создания и удаления файлов пространство диска неминуемо превращается в «лоскутное одеяло», включающее большое число свободных областей небольшого размера</a:t>
            </a:r>
          </a:p>
          <a:p>
            <a:pPr marL="0" indent="0">
              <a:buNone/>
            </a:pPr>
            <a:r>
              <a:rPr lang="ru-RU" dirty="0">
                <a:latin typeface="Cambria" panose="02040503050406030204" pitchFamily="18" charset="0"/>
                <a:ea typeface="Cambria" panose="02040503050406030204" pitchFamily="18" charset="0"/>
              </a:rPr>
              <a:t>Как всегда бывает при фрагментации, суммарный объем свободной памяти может быть очень большим, а выбрать место для размещения файла целиком – невозможно. Поэтому на практике используются методы, в которых файл размещается в нескольких в общем случае несмежных областях диска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и адресация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723298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и адресация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597C8D50-75B9-8A7E-C691-D23EAD4E9CC2}"/>
              </a:ext>
            </a:extLst>
          </p:cNvPr>
          <p:cNvPicPr>
            <a:picLocks noChangeAspect="1"/>
          </p:cNvPicPr>
          <p:nvPr/>
        </p:nvPicPr>
        <p:blipFill>
          <a:blip r:embed="rId2"/>
          <a:stretch>
            <a:fillRect/>
          </a:stretch>
        </p:blipFill>
        <p:spPr>
          <a:xfrm>
            <a:off x="1644881" y="1610647"/>
            <a:ext cx="8902237" cy="5075627"/>
          </a:xfrm>
          <a:prstGeom prst="rect">
            <a:avLst/>
          </a:prstGeom>
        </p:spPr>
      </p:pic>
    </p:spTree>
    <p:extLst>
      <p:ext uri="{BB962C8B-B14F-4D97-AF65-F5344CB8AC3E}">
        <p14:creationId xmlns:p14="http://schemas.microsoft.com/office/powerpoint/2010/main" val="13448518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Следующий способ физической организации файла – </a:t>
            </a:r>
            <a:r>
              <a:rPr lang="ru-RU" b="1" dirty="0">
                <a:latin typeface="Cambria" panose="02040503050406030204" pitchFamily="18" charset="0"/>
                <a:ea typeface="Cambria" panose="02040503050406030204" pitchFamily="18" charset="0"/>
              </a:rPr>
              <a:t>размещение в виде связанного списка кластеров дисковой памяти</a:t>
            </a:r>
            <a:r>
              <a:rPr lang="ru-RU" dirty="0">
                <a:latin typeface="Cambria" panose="02040503050406030204" pitchFamily="18" charset="0"/>
                <a:ea typeface="Cambria" panose="02040503050406030204" pitchFamily="18" charset="0"/>
              </a:rPr>
              <a:t> (б)</a:t>
            </a:r>
          </a:p>
          <a:p>
            <a:pPr marL="0" indent="0">
              <a:buNone/>
            </a:pPr>
            <a:r>
              <a:rPr lang="ru-RU" dirty="0">
                <a:latin typeface="Cambria" panose="02040503050406030204" pitchFamily="18" charset="0"/>
                <a:ea typeface="Cambria" panose="02040503050406030204" pitchFamily="18" charset="0"/>
              </a:rPr>
              <a:t>При таком способе в начале каждого кластера содержится указатель на следующий кластер.</a:t>
            </a:r>
          </a:p>
          <a:p>
            <a:pPr marL="0" indent="0">
              <a:buNone/>
            </a:pPr>
            <a:r>
              <a:rPr lang="ru-RU" dirty="0">
                <a:latin typeface="Cambria" panose="02040503050406030204" pitchFamily="18" charset="0"/>
                <a:ea typeface="Cambria" panose="02040503050406030204" pitchFamily="18" charset="0"/>
              </a:rPr>
              <a:t>В этом случае адресная информация минимальна: расположение файла может быть задано одним числом – номером первого кластера</a:t>
            </a:r>
          </a:p>
          <a:p>
            <a:pPr marL="0" indent="0">
              <a:buNone/>
            </a:pPr>
            <a:r>
              <a:rPr lang="ru-RU" dirty="0">
                <a:latin typeface="Cambria" panose="02040503050406030204" pitchFamily="18" charset="0"/>
                <a:ea typeface="Cambria" panose="02040503050406030204" pitchFamily="18" charset="0"/>
              </a:rPr>
              <a:t>В отличие от предыдущего способа, каждый кластер может быть присоединен к цепочке кластеров какого-либо файла, следовательно, фрагментация на уровне кластеров отсутствует</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и адресация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683514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Файл может изменять свой размер во время своего существования, наращивая число кластеров. Недостатком является сложность реализации доступа к произвольно заданному месту файла – чтобы прочитать пятый по порядку кластер файла, необходимо последовательно прочитать четыре первых кластера, прослеживая цепочку номеров кластеров</a:t>
            </a:r>
          </a:p>
          <a:p>
            <a:pPr marL="0" indent="0">
              <a:buNone/>
            </a:pPr>
            <a:r>
              <a:rPr lang="ru-RU" dirty="0">
                <a:latin typeface="Cambria" panose="02040503050406030204" pitchFamily="18" charset="0"/>
                <a:ea typeface="Cambria" panose="02040503050406030204" pitchFamily="18" charset="0"/>
              </a:rPr>
              <a:t>Кроме того, при этом способе количество данных файла, содержащихся в одном кластере, не равно степени двойки (одно слово расходуется на номер следующего кластера), а многие программы читают данные кластерами, размер которых равен степени двойки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и адресация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408878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Популярным способом, применяемым, например, в файловой системе FAT, является </a:t>
            </a:r>
            <a:r>
              <a:rPr lang="ru-RU" b="1" dirty="0">
                <a:latin typeface="Cambria" panose="02040503050406030204" pitchFamily="18" charset="0"/>
                <a:ea typeface="Cambria" panose="02040503050406030204" pitchFamily="18" charset="0"/>
              </a:rPr>
              <a:t>размещение в виде связанного списка индексов</a:t>
            </a:r>
            <a:r>
              <a:rPr lang="ru-RU" dirty="0">
                <a:latin typeface="Cambria" panose="02040503050406030204" pitchFamily="18" charset="0"/>
                <a:ea typeface="Cambria" panose="02040503050406030204" pitchFamily="18" charset="0"/>
              </a:rPr>
              <a:t> (в)</a:t>
            </a:r>
          </a:p>
          <a:p>
            <a:pPr marL="0" indent="0">
              <a:buNone/>
            </a:pPr>
            <a:r>
              <a:rPr lang="ru-RU" dirty="0">
                <a:latin typeface="Cambria" panose="02040503050406030204" pitchFamily="18" charset="0"/>
                <a:ea typeface="Cambria" panose="02040503050406030204" pitchFamily="18" charset="0"/>
              </a:rPr>
              <a:t>Этот способ является некоторой модификацией предыдущего</a:t>
            </a:r>
          </a:p>
          <a:p>
            <a:pPr marL="0" indent="0">
              <a:buNone/>
            </a:pPr>
            <a:r>
              <a:rPr lang="ru-RU" dirty="0">
                <a:latin typeface="Cambria" panose="02040503050406030204" pitchFamily="18" charset="0"/>
                <a:ea typeface="Cambria" panose="02040503050406030204" pitchFamily="18" charset="0"/>
              </a:rPr>
              <a:t>Файлу также выделяется память в виде связанного списка кластеров. Номер первого кластера запоминается в записи каталога, где хранятся характеристики этого файла. Остальная адресная информация отделена от кластеров файла. С каждым кластером диска связывается некоторый элемент – </a:t>
            </a:r>
            <a:r>
              <a:rPr lang="ru-RU" b="1" dirty="0">
                <a:latin typeface="Cambria" panose="02040503050406030204" pitchFamily="18" charset="0"/>
                <a:ea typeface="Cambria" panose="02040503050406030204" pitchFamily="18" charset="0"/>
              </a:rPr>
              <a:t>индекс</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и адресация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1974070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Индексы располагаются в отдельной области диска – в MS-DOS это </a:t>
            </a:r>
            <a:r>
              <a:rPr lang="ru-RU" b="1" dirty="0">
                <a:latin typeface="Cambria" panose="02040503050406030204" pitchFamily="18" charset="0"/>
                <a:ea typeface="Cambria" panose="02040503050406030204" pitchFamily="18" charset="0"/>
              </a:rPr>
              <a:t>таблица FAT </a:t>
            </a:r>
            <a:r>
              <a:rPr lang="ru-RU" dirty="0">
                <a:latin typeface="Cambria" panose="02040503050406030204" pitchFamily="18" charset="0"/>
                <a:ea typeface="Cambria" panose="02040503050406030204" pitchFamily="18" charset="0"/>
              </a:rPr>
              <a:t>(File </a:t>
            </a:r>
            <a:r>
              <a:rPr lang="ru-RU" dirty="0" err="1">
                <a:latin typeface="Cambria" panose="02040503050406030204" pitchFamily="18" charset="0"/>
                <a:ea typeface="Cambria" panose="02040503050406030204" pitchFamily="18" charset="0"/>
              </a:rPr>
              <a:t>Allocation</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Table</a:t>
            </a:r>
            <a:r>
              <a:rPr lang="ru-RU" dirty="0">
                <a:latin typeface="Cambria" panose="02040503050406030204" pitchFamily="18" charset="0"/>
                <a:ea typeface="Cambria" panose="02040503050406030204" pitchFamily="18" charset="0"/>
              </a:rPr>
              <a:t>), занимающая один кластер</a:t>
            </a:r>
          </a:p>
          <a:p>
            <a:pPr marL="0" indent="0">
              <a:buNone/>
            </a:pPr>
            <a:r>
              <a:rPr lang="ru-RU" dirty="0">
                <a:latin typeface="Cambria" panose="02040503050406030204" pitchFamily="18" charset="0"/>
                <a:ea typeface="Cambria" panose="02040503050406030204" pitchFamily="18" charset="0"/>
              </a:rPr>
              <a:t>Когда память свободна, все индексы имеют нулевое значение. Если некоторый кластер </a:t>
            </a:r>
            <a:r>
              <a:rPr lang="ru-RU" i="1" dirty="0">
                <a:latin typeface="Cambria" panose="02040503050406030204" pitchFamily="18" charset="0"/>
                <a:ea typeface="Cambria" panose="02040503050406030204" pitchFamily="18" charset="0"/>
              </a:rPr>
              <a:t>N</a:t>
            </a:r>
            <a:r>
              <a:rPr lang="ru-RU" dirty="0">
                <a:latin typeface="Cambria" panose="02040503050406030204" pitchFamily="18" charset="0"/>
                <a:ea typeface="Cambria" panose="02040503050406030204" pitchFamily="18" charset="0"/>
              </a:rPr>
              <a:t> назначен некоторому файлу, то индекс этого кластера становится равным либо номеру </a:t>
            </a:r>
            <a:r>
              <a:rPr lang="ru-RU" i="1" dirty="0">
                <a:latin typeface="Cambria" panose="02040503050406030204" pitchFamily="18" charset="0"/>
                <a:ea typeface="Cambria" panose="02040503050406030204" pitchFamily="18" charset="0"/>
              </a:rPr>
              <a:t>М</a:t>
            </a:r>
            <a:r>
              <a:rPr lang="ru-RU" dirty="0">
                <a:latin typeface="Cambria" panose="02040503050406030204" pitchFamily="18" charset="0"/>
                <a:ea typeface="Cambria" panose="02040503050406030204" pitchFamily="18" charset="0"/>
              </a:rPr>
              <a:t> следующего кластера данного файла, либо принимает специальное значение, являющееся признаком того, что этот кластер является для файла последним</a:t>
            </a:r>
          </a:p>
          <a:p>
            <a:pPr marL="0" indent="0">
              <a:buNone/>
            </a:pPr>
            <a:r>
              <a:rPr lang="ru-RU" dirty="0">
                <a:latin typeface="Cambria" panose="02040503050406030204" pitchFamily="18" charset="0"/>
                <a:ea typeface="Cambria" panose="02040503050406030204" pitchFamily="18" charset="0"/>
              </a:rPr>
              <a:t>Индекс же предыдущего кластера файла принимает значение </a:t>
            </a:r>
            <a:r>
              <a:rPr lang="ru-RU" i="1" dirty="0">
                <a:latin typeface="Cambria" panose="02040503050406030204" pitchFamily="18" charset="0"/>
                <a:ea typeface="Cambria" panose="02040503050406030204" pitchFamily="18" charset="0"/>
              </a:rPr>
              <a:t>N</a:t>
            </a:r>
            <a:r>
              <a:rPr lang="ru-RU" dirty="0">
                <a:latin typeface="Cambria" panose="02040503050406030204" pitchFamily="18" charset="0"/>
                <a:ea typeface="Cambria" panose="02040503050406030204" pitchFamily="18" charset="0"/>
              </a:rPr>
              <a:t>, указывая на вновь назначенный кластер</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и адресация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43811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и адресация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597C8D50-75B9-8A7E-C691-D23EAD4E9CC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686428" y="1610647"/>
            <a:ext cx="8819144" cy="5075627"/>
          </a:xfrm>
          <a:prstGeom prst="rect">
            <a:avLst/>
          </a:prstGeom>
        </p:spPr>
      </p:pic>
    </p:spTree>
    <p:extLst>
      <p:ext uri="{BB962C8B-B14F-4D97-AF65-F5344CB8AC3E}">
        <p14:creationId xmlns:p14="http://schemas.microsoft.com/office/powerpoint/2010/main" val="15350410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При такой физической организации сохраняются все достоинства предыдущего способа: минимальность адресной информации, отсутствие фрагментации, отсутствие проблем при изменении размера </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Кроме того, данный способ</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обладает дополнительными преимуществами</a:t>
            </a:r>
            <a:r>
              <a:rPr lang="en-US"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Во-первых, для доступа к произвольному кластеру файла не требуется последовательно считывать его кластеры, достаточно прочитать только секторы диска, содержащие таблицу индексов, отсчитать нужное количество кластеров файла по цепочке и определить</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номер нужного кластера</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Во-вторых, данные файла заполняют кластер целиком, а значит, имеют объем, равный степени двойки</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и адресация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4539146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Необходимо отметить, что при отсутствии фрагментации на уровне кластеров на диске все равно имеется определенное количество областей памяти небольшого размера, которые невозможно задействовать, то есть</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фрагментация все же существует</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Эти фрагменты представляют собой</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неиспользуемые части последних кластеров, назначенных файлам, поскольку объем файла в общем случае не кратен размеру кластера</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На каждом файле в среднем теряется половина кластера. Это потери особенно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велики, когда на диске имеется большое количество маленьких файлов,</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а кластер имеет большой размер</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Размеры кластеров зависят от размера</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раздела и типа файловой системы. Примерный диапазон, в котором может меняться размер кластера, составляет от 512 байт до десятков</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килобайт</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и адресация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929848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Еще один способ задания физического расположения файла заключается в простом перечислении номеров кластеров, занимаемых этим файлом (г)</a:t>
            </a:r>
          </a:p>
          <a:p>
            <a:pPr marL="0" indent="0">
              <a:buNone/>
            </a:pPr>
            <a:r>
              <a:rPr lang="ru-RU" dirty="0">
                <a:latin typeface="Cambria" panose="02040503050406030204" pitchFamily="18" charset="0"/>
                <a:ea typeface="Cambria" panose="02040503050406030204" pitchFamily="18" charset="0"/>
              </a:rPr>
              <a:t>Этот </a:t>
            </a:r>
            <a:r>
              <a:rPr lang="ru-RU" b="1" dirty="0">
                <a:latin typeface="Cambria" panose="02040503050406030204" pitchFamily="18" charset="0"/>
                <a:ea typeface="Cambria" panose="02040503050406030204" pitchFamily="18" charset="0"/>
              </a:rPr>
              <a:t>набор номеров </a:t>
            </a:r>
            <a:r>
              <a:rPr lang="ru-RU" dirty="0">
                <a:latin typeface="Cambria" panose="02040503050406030204" pitchFamily="18" charset="0"/>
                <a:ea typeface="Cambria" panose="02040503050406030204" pitchFamily="18" charset="0"/>
              </a:rPr>
              <a:t>и служит адресом файла</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Недостаток данного способа очевиден: длина адреса зависит от размера файла и для большого файла может составить значительную величину </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Достоинством же является высокая скорость</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доступа к произвольному кластеру файла, так как здесь применяется прямая</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адресация, которая исключает просмотр цепочки указателей при поиске адреса</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произвольного кластера файла</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Фрагментация на уровне кластеров в этом способе также</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отсутствует</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и адресация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6671819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Последний подход с некоторыми модификациями используется в традиционных файловых системах s5 и </a:t>
            </a:r>
            <a:r>
              <a:rPr lang="ru-RU" dirty="0" err="1">
                <a:latin typeface="Cambria" panose="02040503050406030204" pitchFamily="18" charset="0"/>
                <a:ea typeface="Cambria" panose="02040503050406030204" pitchFamily="18" charset="0"/>
              </a:rPr>
              <a:t>ufs</a:t>
            </a:r>
            <a:r>
              <a:rPr lang="ru-RU" dirty="0">
                <a:latin typeface="Cambria" panose="02040503050406030204" pitchFamily="18" charset="0"/>
                <a:ea typeface="Cambria" panose="02040503050406030204" pitchFamily="18" charset="0"/>
              </a:rPr>
              <a:t> ОС Unix</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В файловой системе </a:t>
            </a:r>
            <a:r>
              <a:rPr lang="ru-RU" dirty="0" err="1">
                <a:latin typeface="Cambria" panose="02040503050406030204" pitchFamily="18" charset="0"/>
                <a:ea typeface="Cambria" panose="02040503050406030204" pitchFamily="18" charset="0"/>
              </a:rPr>
              <a:t>ufs</a:t>
            </a:r>
            <a:r>
              <a:rPr lang="ru-RU" dirty="0">
                <a:latin typeface="Cambria" panose="02040503050406030204" pitchFamily="18" charset="0"/>
                <a:ea typeface="Cambria" panose="02040503050406030204" pitchFamily="18" charset="0"/>
              </a:rPr>
              <a:t> для сокращения объема адресной информации используется комбинированная схема</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адресации кластеров, позволяющая дополнять прямой способ адресации косвенным</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Для хранения адреса файла выделено 15 полей, каждое из которых состоит из 4 байт</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Если размер файла меньше или равен 12 кластерам,</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то номера этих кластеров непосредственно перечисляются в первых двенадцати</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полях адреса</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Если кластер имеет размер 8 Кбайт (максимальный размер кластера, поддерживаемого в </a:t>
            </a:r>
            <a:r>
              <a:rPr lang="ru-RU" dirty="0" err="1">
                <a:latin typeface="Cambria" panose="02040503050406030204" pitchFamily="18" charset="0"/>
                <a:ea typeface="Cambria" panose="02040503050406030204" pitchFamily="18" charset="0"/>
              </a:rPr>
              <a:t>ufs</a:t>
            </a:r>
            <a:r>
              <a:rPr lang="ru-RU" dirty="0">
                <a:latin typeface="Cambria" panose="02040503050406030204" pitchFamily="18" charset="0"/>
                <a:ea typeface="Cambria" panose="02040503050406030204" pitchFamily="18" charset="0"/>
              </a:rPr>
              <a:t>), то таким образом можно адресовать файл размером до 8192 х 12 – 98 304 байт</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и адресация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417445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725694C-C24E-ACE4-DD06-9F47F1ECE02D}"/>
              </a:ext>
            </a:extLst>
          </p:cNvPr>
          <p:cNvPicPr>
            <a:picLocks noChangeAspect="1"/>
          </p:cNvPicPr>
          <p:nvPr/>
        </p:nvPicPr>
        <p:blipFill>
          <a:blip r:embed="rId2"/>
          <a:stretch>
            <a:fillRect/>
          </a:stretch>
        </p:blipFill>
        <p:spPr>
          <a:xfrm>
            <a:off x="895350" y="76200"/>
            <a:ext cx="10401300" cy="6705600"/>
          </a:xfrm>
          <a:prstGeom prst="rect">
            <a:avLst/>
          </a:prstGeom>
        </p:spPr>
      </p:pic>
    </p:spTree>
    <p:extLst>
      <p:ext uri="{BB962C8B-B14F-4D97-AF65-F5344CB8AC3E}">
        <p14:creationId xmlns:p14="http://schemas.microsoft.com/office/powerpoint/2010/main" val="38911871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Если размер файла превышает 12 кластеров, то следующее 13-е поле содержит не номер следующего кластера, а номер кластера, в котором могут быть расположены номера следующих кластеров файла</a:t>
            </a:r>
          </a:p>
          <a:p>
            <a:pPr marL="0" indent="0">
              <a:buNone/>
            </a:pPr>
            <a:r>
              <a:rPr lang="ru-RU" dirty="0">
                <a:latin typeface="Cambria" panose="02040503050406030204" pitchFamily="18" charset="0"/>
                <a:ea typeface="Cambria" panose="02040503050406030204" pitchFamily="18" charset="0"/>
              </a:rPr>
              <a:t>Таким образом, 13-й элемент адреса используется для </a:t>
            </a:r>
            <a:r>
              <a:rPr lang="ru-RU" b="1" dirty="0">
                <a:latin typeface="Cambria" panose="02040503050406030204" pitchFamily="18" charset="0"/>
                <a:ea typeface="Cambria" panose="02040503050406030204" pitchFamily="18" charset="0"/>
              </a:rPr>
              <a:t>косвенной адресаций</a:t>
            </a:r>
          </a:p>
          <a:p>
            <a:pPr marL="0" indent="0">
              <a:buNone/>
            </a:pPr>
            <a:r>
              <a:rPr lang="ru-RU" dirty="0">
                <a:latin typeface="Cambria" panose="02040503050406030204" pitchFamily="18" charset="0"/>
                <a:ea typeface="Cambria" panose="02040503050406030204" pitchFamily="18" charset="0"/>
              </a:rPr>
              <a:t>При размере в 8 Кбайт кластер, на который указывает 13-й элемент, может содержать 2048 номеров следующих кластеров данных файла, и размер файла может возрасти до 8192 х (12 + + 2048) = 16 875 520 байт</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и адресация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058993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Если размер файла превышает 12 + 2048 = 2060 кластеров, то используется 14-е поле. В нем находится номер кластера, содержащего 2048 номеров кластеров, каждый из которых хранит 2048 номеров кластеров данных файла</a:t>
            </a:r>
          </a:p>
          <a:p>
            <a:pPr marL="0" indent="0">
              <a:buNone/>
            </a:pPr>
            <a:r>
              <a:rPr lang="ru-RU" dirty="0">
                <a:latin typeface="Cambria" panose="02040503050406030204" pitchFamily="18" charset="0"/>
                <a:ea typeface="Cambria" panose="02040503050406030204" pitchFamily="18" charset="0"/>
              </a:rPr>
              <a:t>Здесь применяется уже </a:t>
            </a:r>
            <a:r>
              <a:rPr lang="ru-RU" b="1" dirty="0">
                <a:latin typeface="Cambria" panose="02040503050406030204" pitchFamily="18" charset="0"/>
                <a:ea typeface="Cambria" panose="02040503050406030204" pitchFamily="18" charset="0"/>
              </a:rPr>
              <a:t>двойная косвенная адресация</a:t>
            </a:r>
            <a:r>
              <a:rPr lang="ru-RU" dirty="0">
                <a:latin typeface="Cambria" panose="02040503050406030204" pitchFamily="18" charset="0"/>
                <a:ea typeface="Cambria" panose="02040503050406030204" pitchFamily="18" charset="0"/>
              </a:rPr>
              <a:t>. С ее помощью можно адресовать кластеры в файлах, содержащих до 8192 х (12 + 2048 + 2048</a:t>
            </a:r>
            <a:r>
              <a:rPr lang="ru-RU" baseline="30000" dirty="0">
                <a:latin typeface="Cambria" panose="02040503050406030204" pitchFamily="18" charset="0"/>
                <a:ea typeface="Cambria" panose="02040503050406030204" pitchFamily="18" charset="0"/>
              </a:rPr>
              <a:t>2</a:t>
            </a:r>
            <a:r>
              <a:rPr lang="ru-RU" dirty="0">
                <a:latin typeface="Cambria" panose="02040503050406030204" pitchFamily="18" charset="0"/>
                <a:ea typeface="Cambria" panose="02040503050406030204" pitchFamily="18" charset="0"/>
              </a:rPr>
              <a:t>) – 3,43766 х 10</a:t>
            </a:r>
            <a:r>
              <a:rPr lang="ru-RU" baseline="30000" dirty="0">
                <a:latin typeface="Cambria" panose="02040503050406030204" pitchFamily="18" charset="0"/>
                <a:ea typeface="Cambria" panose="02040503050406030204" pitchFamily="18" charset="0"/>
              </a:rPr>
              <a:t>10</a:t>
            </a:r>
            <a:r>
              <a:rPr lang="ru-RU" dirty="0">
                <a:latin typeface="Cambria" panose="02040503050406030204" pitchFamily="18" charset="0"/>
                <a:ea typeface="Cambria" panose="02040503050406030204" pitchFamily="18" charset="0"/>
              </a:rPr>
              <a:t> байт</a:t>
            </a:r>
          </a:p>
          <a:p>
            <a:pPr marL="0" indent="0">
              <a:buNone/>
            </a:pPr>
            <a:r>
              <a:rPr lang="ru-RU" dirty="0">
                <a:latin typeface="Cambria" panose="02040503050406030204" pitchFamily="18" charset="0"/>
                <a:ea typeface="Cambria" panose="02040503050406030204" pitchFamily="18" charset="0"/>
              </a:rPr>
              <a:t>И наконец, если файл включает более 12 + 2048 + 2048</a:t>
            </a:r>
            <a:r>
              <a:rPr lang="ru-RU" baseline="30000" dirty="0">
                <a:latin typeface="Cambria" panose="02040503050406030204" pitchFamily="18" charset="0"/>
                <a:ea typeface="Cambria" panose="02040503050406030204" pitchFamily="18" charset="0"/>
              </a:rPr>
              <a:t>2</a:t>
            </a:r>
            <a:r>
              <a:rPr lang="ru-RU" dirty="0">
                <a:latin typeface="Cambria" panose="02040503050406030204" pitchFamily="18" charset="0"/>
                <a:ea typeface="Cambria" panose="02040503050406030204" pitchFamily="18" charset="0"/>
              </a:rPr>
              <a:t> – 4 196 364 кластеров, то используется последнее 15-е поле для </a:t>
            </a:r>
            <a:r>
              <a:rPr lang="ru-RU" b="1" dirty="0">
                <a:latin typeface="Cambria" panose="02040503050406030204" pitchFamily="18" charset="0"/>
                <a:ea typeface="Cambria" panose="02040503050406030204" pitchFamily="18" charset="0"/>
              </a:rPr>
              <a:t>тройной косвенной адресации</a:t>
            </a:r>
            <a:r>
              <a:rPr lang="ru-RU" dirty="0">
                <a:latin typeface="Cambria" panose="02040503050406030204" pitchFamily="18" charset="0"/>
                <a:ea typeface="Cambria" panose="02040503050406030204" pitchFamily="18" charset="0"/>
              </a:rPr>
              <a:t>, что позволяет задать адрес файла, имеющего следующий максимальный размер:</a:t>
            </a:r>
          </a:p>
          <a:p>
            <a:pPr marL="0" indent="0" algn="ctr">
              <a:buNone/>
            </a:pPr>
            <a:r>
              <a:rPr lang="ru-RU" dirty="0">
                <a:latin typeface="Cambria" panose="02040503050406030204" pitchFamily="18" charset="0"/>
                <a:ea typeface="Cambria" panose="02040503050406030204" pitchFamily="18" charset="0"/>
              </a:rPr>
              <a:t>8192 х (12 + 2048 + 2048</a:t>
            </a:r>
            <a:r>
              <a:rPr lang="ru-RU" baseline="30000" dirty="0">
                <a:latin typeface="Cambria" panose="02040503050406030204" pitchFamily="18" charset="0"/>
                <a:ea typeface="Cambria" panose="02040503050406030204" pitchFamily="18" charset="0"/>
              </a:rPr>
              <a:t>2</a:t>
            </a:r>
            <a:r>
              <a:rPr lang="ru-RU" dirty="0">
                <a:latin typeface="Cambria" panose="02040503050406030204" pitchFamily="18" charset="0"/>
                <a:ea typeface="Cambria" panose="02040503050406030204" pitchFamily="18" charset="0"/>
              </a:rPr>
              <a:t> + 2048</a:t>
            </a:r>
            <a:r>
              <a:rPr lang="ru-RU" baseline="30000" dirty="0">
                <a:latin typeface="Cambria" panose="02040503050406030204" pitchFamily="18" charset="0"/>
                <a:ea typeface="Cambria" panose="02040503050406030204" pitchFamily="18" charset="0"/>
              </a:rPr>
              <a:t>3</a:t>
            </a:r>
            <a:r>
              <a:rPr lang="ru-RU" dirty="0">
                <a:latin typeface="Cambria" panose="02040503050406030204" pitchFamily="18" charset="0"/>
                <a:ea typeface="Cambria" panose="02040503050406030204" pitchFamily="18" charset="0"/>
              </a:rPr>
              <a:t>) – 7,0403 х 10</a:t>
            </a:r>
            <a:r>
              <a:rPr lang="ru-RU" baseline="30000" dirty="0">
                <a:latin typeface="Cambria" panose="02040503050406030204" pitchFamily="18" charset="0"/>
                <a:ea typeface="Cambria" panose="02040503050406030204" pitchFamily="18" charset="0"/>
              </a:rPr>
              <a:t>13</a:t>
            </a:r>
            <a:r>
              <a:rPr lang="ru-RU" dirty="0">
                <a:latin typeface="Cambria" panose="02040503050406030204" pitchFamily="18" charset="0"/>
                <a:ea typeface="Cambria" panose="02040503050406030204" pitchFamily="18" charset="0"/>
              </a:rPr>
              <a:t> байт</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и адресация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776679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Таким образом, файловая система </a:t>
            </a:r>
            <a:r>
              <a:rPr lang="ru-RU" dirty="0" err="1">
                <a:latin typeface="Cambria" panose="02040503050406030204" pitchFamily="18" charset="0"/>
                <a:ea typeface="Cambria" panose="02040503050406030204" pitchFamily="18" charset="0"/>
              </a:rPr>
              <a:t>ufs</a:t>
            </a:r>
            <a:r>
              <a:rPr lang="ru-RU" dirty="0">
                <a:latin typeface="Cambria" panose="02040503050406030204" pitchFamily="18" charset="0"/>
                <a:ea typeface="Cambria" panose="02040503050406030204" pitchFamily="18" charset="0"/>
              </a:rPr>
              <a:t> при размере кластера в 8 Кбайт поддерживает файлы, состоящие максимум из 70 триллионов байтов данных, хранящихся в 8 миллиардах кластеров </a:t>
            </a:r>
          </a:p>
          <a:p>
            <a:pPr marL="0" indent="0">
              <a:buNone/>
            </a:pPr>
            <a:r>
              <a:rPr lang="ru-RU" dirty="0">
                <a:latin typeface="Cambria" panose="02040503050406030204" pitchFamily="18" charset="0"/>
                <a:ea typeface="Cambria" panose="02040503050406030204" pitchFamily="18" charset="0"/>
              </a:rPr>
              <a:t>Как видно на </a:t>
            </a:r>
            <a:r>
              <a:rPr lang="ru-RU" dirty="0">
                <a:latin typeface="Cambria" panose="02040503050406030204" pitchFamily="18" charset="0"/>
                <a:ea typeface="Cambria" panose="02040503050406030204" pitchFamily="18" charset="0"/>
                <a:hlinkClick r:id="rId2" action="ppaction://hlinksldjump">
                  <a:extLst>
                    <a:ext uri="{A12FA001-AC4F-418D-AE19-62706E023703}">
                      <ahyp:hlinkClr xmlns:ahyp="http://schemas.microsoft.com/office/drawing/2018/hyperlinkcolor" val="tx"/>
                    </a:ext>
                  </a:extLst>
                </a:hlinkClick>
              </a:rPr>
              <a:t>рисунке</a:t>
            </a:r>
            <a:r>
              <a:rPr lang="ru-RU" dirty="0">
                <a:latin typeface="Cambria" panose="02040503050406030204" pitchFamily="18" charset="0"/>
                <a:ea typeface="Cambria" panose="02040503050406030204" pitchFamily="18" charset="0"/>
              </a:rPr>
              <a:t>, для задания адресной информации о максимально большом файле требуется 15 элементов по 4 байта (60 байт) в центральной части адреса плюс 1 + (1 + 2048) + (1 + 2048 + 2048</a:t>
            </a:r>
            <a:r>
              <a:rPr lang="ru-RU" baseline="30000" dirty="0">
                <a:latin typeface="Cambria" panose="02040503050406030204" pitchFamily="18" charset="0"/>
                <a:ea typeface="Cambria" panose="02040503050406030204" pitchFamily="18" charset="0"/>
              </a:rPr>
              <a:t>2</a:t>
            </a:r>
            <a:r>
              <a:rPr lang="ru-RU" dirty="0">
                <a:latin typeface="Cambria" panose="02040503050406030204" pitchFamily="18" charset="0"/>
                <a:ea typeface="Cambria" panose="02040503050406030204" pitchFamily="18" charset="0"/>
              </a:rPr>
              <a:t>) – 4 198 403 кластера в косвенной части адреса</a:t>
            </a:r>
          </a:p>
          <a:p>
            <a:pPr marL="0" indent="0">
              <a:buNone/>
            </a:pPr>
            <a:r>
              <a:rPr lang="ru-RU" dirty="0">
                <a:latin typeface="Cambria" panose="02040503050406030204" pitchFamily="18" charset="0"/>
                <a:ea typeface="Cambria" panose="02040503050406030204" pitchFamily="18" charset="0"/>
              </a:rPr>
              <a:t>Несмотря на огромную величину, это число составляет всего около 0,05 % от объема адресуемых данных</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и адресация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478042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Файловая система </a:t>
            </a:r>
            <a:r>
              <a:rPr lang="ru-RU" dirty="0" err="1">
                <a:latin typeface="Cambria" panose="02040503050406030204" pitchFamily="18" charset="0"/>
                <a:ea typeface="Cambria" panose="02040503050406030204" pitchFamily="18" charset="0"/>
              </a:rPr>
              <a:t>ufs</a:t>
            </a:r>
            <a:r>
              <a:rPr lang="ru-RU" dirty="0">
                <a:latin typeface="Cambria" panose="02040503050406030204" pitchFamily="18" charset="0"/>
                <a:ea typeface="Cambria" panose="02040503050406030204" pitchFamily="18" charset="0"/>
              </a:rPr>
              <a:t> поддерживает дисковые кластеры и меньших размеров, при этом максимальный размер файла будет другим. Используемая в более ранних версиях Unix, файловая система s5 имеет аналогичную схему адресации, но она рассчитана на файлы меньших размеров, поэтому в ней применяется 13 адресных элементов вместо 15</a:t>
            </a:r>
          </a:p>
          <a:p>
            <a:pPr marL="0" indent="0">
              <a:buNone/>
            </a:pPr>
            <a:r>
              <a:rPr lang="ru-RU" dirty="0">
                <a:latin typeface="Cambria" panose="02040503050406030204" pitchFamily="18" charset="0"/>
                <a:ea typeface="Cambria" panose="02040503050406030204" pitchFamily="18" charset="0"/>
              </a:rPr>
              <a:t>Метод перечисления адресов кластеров файла характерен и для файловой системы NTFS, используемой в ОС семейства Windows NT. Здесь он дополнен достаточно естественным приемом, сокращающим объем адресной информации: адресуются не кластеры файла, а непрерывные области, состоящие из смежных кластеров диска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и адресация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780800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Каждая такая область, называемая </a:t>
            </a:r>
            <a:r>
              <a:rPr lang="ru-RU" b="1" dirty="0">
                <a:latin typeface="Cambria" panose="02040503050406030204" pitchFamily="18" charset="0"/>
                <a:ea typeface="Cambria" panose="02040503050406030204" pitchFamily="18" charset="0"/>
              </a:rPr>
              <a:t>отрезком</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run</a:t>
            </a:r>
            <a:r>
              <a:rPr lang="ru-RU" dirty="0">
                <a:latin typeface="Cambria" panose="02040503050406030204" pitchFamily="18" charset="0"/>
                <a:ea typeface="Cambria" panose="02040503050406030204" pitchFamily="18" charset="0"/>
              </a:rPr>
              <a:t>), или </a:t>
            </a:r>
            <a:r>
              <a:rPr lang="ru-RU" b="1" dirty="0">
                <a:latin typeface="Cambria" panose="02040503050406030204" pitchFamily="18" charset="0"/>
                <a:ea typeface="Cambria" panose="02040503050406030204" pitchFamily="18" charset="0"/>
              </a:rPr>
              <a:t>экстентом</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extent</a:t>
            </a:r>
            <a:r>
              <a:rPr lang="ru-RU" dirty="0">
                <a:latin typeface="Cambria" panose="02040503050406030204" pitchFamily="18" charset="0"/>
                <a:ea typeface="Cambria" panose="02040503050406030204" pitchFamily="18" charset="0"/>
              </a:rPr>
              <a:t>), описывается с помощью двух чисел: начального номера кластера и количества кластеров в отрезке</a:t>
            </a:r>
          </a:p>
          <a:p>
            <a:pPr marL="0" indent="0">
              <a:buNone/>
            </a:pPr>
            <a:r>
              <a:rPr lang="ru-RU" dirty="0">
                <a:latin typeface="Cambria" panose="02040503050406030204" pitchFamily="18" charset="0"/>
                <a:ea typeface="Cambria" panose="02040503050406030204" pitchFamily="18" charset="0"/>
              </a:rPr>
              <a:t>Так как для сокращения времени операции обмена ОС старается разместить файл в последовательных кластерах диска, то в большинстве случаев количество последовательных областей файла будет меньше количества кластеров файла, и объем служебной адресной информации в NTFS сокращается по сравнению со схемой адресации в файловых системах </a:t>
            </a:r>
            <a:r>
              <a:rPr lang="ru-RU" dirty="0" err="1">
                <a:latin typeface="Cambria" panose="02040503050406030204" pitchFamily="18" charset="0"/>
                <a:ea typeface="Cambria" panose="02040503050406030204" pitchFamily="18" charset="0"/>
              </a:rPr>
              <a:t>ufs</a:t>
            </a:r>
            <a:r>
              <a:rPr lang="ru-RU" dirty="0">
                <a:latin typeface="Cambria" panose="02040503050406030204" pitchFamily="18" charset="0"/>
                <a:ea typeface="Cambria" panose="02040503050406030204" pitchFamily="18" charset="0"/>
              </a:rPr>
              <a:t> и s5</a:t>
            </a:r>
          </a:p>
          <a:p>
            <a:pPr marL="0" indent="0">
              <a:buNone/>
            </a:pPr>
            <a:r>
              <a:rPr lang="ru-RU" dirty="0">
                <a:latin typeface="Cambria" panose="02040503050406030204" pitchFamily="18" charset="0"/>
                <a:ea typeface="Cambria" panose="02040503050406030204" pitchFamily="18" charset="0"/>
              </a:rPr>
              <a:t>Для того чтобы корректно принимать решение о выделении файлу набора кластеров, файловая система должна отслеживать информацию о состоянии всех кластеров диска: свободен/занят</a:t>
            </a:r>
          </a:p>
          <a:p>
            <a:pPr marL="0" indent="0">
              <a:buNone/>
            </a:pPr>
            <a:r>
              <a:rPr lang="ru-RU" dirty="0">
                <a:latin typeface="Cambria" panose="02040503050406030204" pitchFamily="18" charset="0"/>
                <a:ea typeface="Cambria" panose="02040503050406030204" pitchFamily="18" charset="0"/>
              </a:rPr>
              <a:t>Эта информация может храниться как отдельно от адресной информации файлов, так и вместе с ней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и адресация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323371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Ниже перечислены области, из которых состоит логический раздел, отформатированный под файловую систему FAT:</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Загрузочный сектор </a:t>
            </a:r>
            <a:r>
              <a:rPr lang="ru-RU" dirty="0">
                <a:latin typeface="Cambria" panose="02040503050406030204" pitchFamily="18" charset="0"/>
                <a:ea typeface="Cambria" panose="02040503050406030204" pitchFamily="18" charset="0"/>
              </a:rPr>
              <a:t>содержит программу начальной загрузки операционной системы. Вид этой программы зависит от типа операционной системы, которая будет загружаться из этого раздела</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Основная копия таблицы FAT </a:t>
            </a:r>
            <a:r>
              <a:rPr lang="ru-RU" dirty="0">
                <a:latin typeface="Cambria" panose="02040503050406030204" pitchFamily="18" charset="0"/>
                <a:ea typeface="Cambria" panose="02040503050406030204" pitchFamily="18" charset="0"/>
              </a:rPr>
              <a:t>содержит информацию о размещении файлов и каталогов на диске.</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Резервная копия таблицы FAT</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Корневой каталог </a:t>
            </a:r>
            <a:r>
              <a:rPr lang="ru-RU" dirty="0">
                <a:latin typeface="Cambria" panose="02040503050406030204" pitchFamily="18" charset="0"/>
                <a:ea typeface="Cambria" panose="02040503050406030204" pitchFamily="18" charset="0"/>
              </a:rPr>
              <a:t>занимает фиксированную область размером в 32 сектора (16 Кбайт), что позволяет хранить 512 записей о файлах и каталогах, так как каждая запись каталога состоит из 32 байт</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Область данных </a:t>
            </a:r>
            <a:r>
              <a:rPr lang="ru-RU" dirty="0">
                <a:latin typeface="Cambria" panose="02040503050406030204" pitchFamily="18" charset="0"/>
                <a:ea typeface="Cambria" panose="02040503050406030204" pitchFamily="18" charset="0"/>
              </a:rPr>
              <a:t>предназначена для размещения всех файлов и всех каталогов, кроме корневого каталога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31413304"/>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a:t>
                      </a:r>
                      <a:r>
                        <a:rPr lang="en-US" sz="4000" dirty="0">
                          <a:latin typeface="Cambria" panose="02040503050406030204" pitchFamily="18" charset="0"/>
                          <a:ea typeface="Cambria" panose="02040503050406030204" pitchFamily="18" charset="0"/>
                        </a:rPr>
                        <a:t>FAT</a:t>
                      </a:r>
                      <a:endParaRPr lang="ru-RU" sz="40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223153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8D4EF0-C136-C5C8-093E-A9577E1FE0A3}"/>
              </a:ext>
            </a:extLst>
          </p:cNvPr>
          <p:cNvPicPr>
            <a:picLocks noChangeAspect="1"/>
          </p:cNvPicPr>
          <p:nvPr/>
        </p:nvPicPr>
        <p:blipFill>
          <a:blip r:embed="rId2"/>
          <a:stretch>
            <a:fillRect/>
          </a:stretch>
        </p:blipFill>
        <p:spPr>
          <a:xfrm>
            <a:off x="2313660" y="0"/>
            <a:ext cx="7564679" cy="6858000"/>
          </a:xfrm>
          <a:prstGeom prst="rect">
            <a:avLst/>
          </a:prstGeom>
        </p:spPr>
      </p:pic>
    </p:spTree>
    <p:extLst>
      <p:ext uri="{BB962C8B-B14F-4D97-AF65-F5344CB8AC3E}">
        <p14:creationId xmlns:p14="http://schemas.microsoft.com/office/powerpoint/2010/main" val="9020875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Файловая система FAT поддерживает всего два типа файлов: </a:t>
            </a:r>
            <a:r>
              <a:rPr lang="ru-RU" b="1" dirty="0">
                <a:latin typeface="Cambria" panose="02040503050406030204" pitchFamily="18" charset="0"/>
                <a:ea typeface="Cambria" panose="02040503050406030204" pitchFamily="18" charset="0"/>
              </a:rPr>
              <a:t>обычный файл </a:t>
            </a:r>
            <a:r>
              <a:rPr lang="ru-RU" dirty="0">
                <a:latin typeface="Cambria" panose="02040503050406030204" pitchFamily="18" charset="0"/>
                <a:ea typeface="Cambria" panose="02040503050406030204" pitchFamily="18" charset="0"/>
              </a:rPr>
              <a:t>и </a:t>
            </a:r>
            <a:r>
              <a:rPr lang="ru-RU" b="1" dirty="0">
                <a:latin typeface="Cambria" panose="02040503050406030204" pitchFamily="18" charset="0"/>
                <a:ea typeface="Cambria" panose="02040503050406030204" pitchFamily="18" charset="0"/>
              </a:rPr>
              <a:t>каталог</a:t>
            </a:r>
            <a:r>
              <a:rPr lang="ru-RU" dirty="0">
                <a:latin typeface="Cambria" panose="02040503050406030204" pitchFamily="18" charset="0"/>
                <a:ea typeface="Cambria" panose="02040503050406030204" pitchFamily="18" charset="0"/>
              </a:rPr>
              <a:t>. Файловая система распределяет память только из области данных, причем использует в качестве минимальной единицы дискового пространства кластер</a:t>
            </a:r>
          </a:p>
          <a:p>
            <a:pPr marL="0" indent="0">
              <a:buNone/>
            </a:pPr>
            <a:r>
              <a:rPr lang="ru-RU" b="1" dirty="0">
                <a:latin typeface="Cambria" panose="02040503050406030204" pitchFamily="18" charset="0"/>
                <a:ea typeface="Cambria" panose="02040503050406030204" pitchFamily="18" charset="0"/>
              </a:rPr>
              <a:t>Таблица FAT </a:t>
            </a:r>
            <a:r>
              <a:rPr lang="ru-RU" dirty="0">
                <a:latin typeface="Cambria" panose="02040503050406030204" pitchFamily="18" charset="0"/>
                <a:ea typeface="Cambria" panose="02040503050406030204" pitchFamily="18" charset="0"/>
              </a:rPr>
              <a:t>(как основная копия, так и резервная) состоит из массива индексных указателей, количество которых равно количеству кластеров области данных. Между кластерами и индексными указателями имеется взаимно однозначное соответствие – нулевой указатель соответствует нулевому кластеру и т. д.</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a:t>
                      </a:r>
                      <a:r>
                        <a:rPr lang="en-US" sz="4000" dirty="0">
                          <a:latin typeface="Cambria" panose="02040503050406030204" pitchFamily="18" charset="0"/>
                          <a:ea typeface="Cambria" panose="02040503050406030204" pitchFamily="18" charset="0"/>
                        </a:rPr>
                        <a:t>FAT</a:t>
                      </a:r>
                      <a:endParaRPr lang="ru-RU" sz="40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312083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Индексный указатель может принимать следующие значения, характеризующие состояние связанного с ним кластера: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Кластер свободен (не используется)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Кластер используется файлом и не является последним кластером файла – в этом случае индексный указатель содержит номер следующего кластера файла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Последний кластер файла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Дефектный кластер</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Резервный кластер</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519803505"/>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a:t>
                      </a:r>
                      <a:r>
                        <a:rPr lang="en-US" sz="4000" dirty="0">
                          <a:latin typeface="Cambria" panose="02040503050406030204" pitchFamily="18" charset="0"/>
                          <a:ea typeface="Cambria" panose="02040503050406030204" pitchFamily="18" charset="0"/>
                        </a:rPr>
                        <a:t>FAT</a:t>
                      </a:r>
                      <a:endParaRPr lang="ru-RU" sz="40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554298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Таблица FAT является общей для всех файлов раздела. В исходном состоянии (после форматирования) все кластеры раздела свободны, и все индексные указатели (кроме тех, которые соответствуют резервным и дефектным блокам) принимают значение «кластер свободен»</a:t>
            </a:r>
          </a:p>
          <a:p>
            <a:pPr marL="0" indent="0">
              <a:buNone/>
            </a:pPr>
            <a:r>
              <a:rPr lang="ru-RU" dirty="0">
                <a:latin typeface="Cambria" panose="02040503050406030204" pitchFamily="18" charset="0"/>
                <a:ea typeface="Cambria" panose="02040503050406030204" pitchFamily="18" charset="0"/>
              </a:rPr>
              <a:t>При размещении файла ОС просматривает FAT, начиная с начала, и ищет первый свободный индексный указатель</a:t>
            </a:r>
          </a:p>
          <a:p>
            <a:pPr marL="0" indent="0">
              <a:buNone/>
            </a:pPr>
            <a:r>
              <a:rPr lang="ru-RU" dirty="0">
                <a:latin typeface="Cambria" panose="02040503050406030204" pitchFamily="18" charset="0"/>
                <a:ea typeface="Cambria" panose="02040503050406030204" pitchFamily="18" charset="0"/>
              </a:rPr>
              <a:t>После его обнаружения номер этого указателя фиксируется в поле номера первого кластера записи каталога</a:t>
            </a:r>
          </a:p>
          <a:p>
            <a:pPr marL="0" indent="0">
              <a:buNone/>
            </a:pPr>
            <a:r>
              <a:rPr lang="ru-RU" dirty="0">
                <a:latin typeface="Cambria" panose="02040503050406030204" pitchFamily="18" charset="0"/>
                <a:ea typeface="Cambria" panose="02040503050406030204" pitchFamily="18" charset="0"/>
              </a:rPr>
              <a:t>В кластер с этим номером записываются данные файла, он становится первым кластером файла. Если файл умещается в одном кластере, то в указатель, соответствующий данному кластеру, заносится специальное значение, идентифицирующее последний кластер файла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295369294"/>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a:t>
                      </a:r>
                      <a:r>
                        <a:rPr lang="en-US" sz="4000" dirty="0">
                          <a:latin typeface="Cambria" panose="02040503050406030204" pitchFamily="18" charset="0"/>
                          <a:ea typeface="Cambria" panose="02040503050406030204" pitchFamily="18" charset="0"/>
                        </a:rPr>
                        <a:t>FAT</a:t>
                      </a:r>
                      <a:endParaRPr lang="ru-RU" sz="40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7449980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Если же размер файла больше одного кластера, то ОС продолжает просмотр FAT и ищет следующий указатель на свободный кластер</a:t>
            </a:r>
          </a:p>
          <a:p>
            <a:pPr marL="0" indent="0">
              <a:buNone/>
            </a:pPr>
            <a:r>
              <a:rPr lang="ru-RU" dirty="0">
                <a:latin typeface="Cambria" panose="02040503050406030204" pitchFamily="18" charset="0"/>
                <a:ea typeface="Cambria" panose="02040503050406030204" pitchFamily="18" charset="0"/>
              </a:rPr>
              <a:t>После его обнаружения в предыдущий указатель заносится номер этого кластера, который теперь становится следующим кластером файла</a:t>
            </a:r>
          </a:p>
          <a:p>
            <a:pPr marL="0" indent="0">
              <a:buNone/>
            </a:pPr>
            <a:r>
              <a:rPr lang="ru-RU" dirty="0">
                <a:latin typeface="Cambria" panose="02040503050406030204" pitchFamily="18" charset="0"/>
                <a:ea typeface="Cambria" panose="02040503050406030204" pitchFamily="18" charset="0"/>
              </a:rPr>
              <a:t>Процесс повторяется до тех пор, пока не будут размещены все данные файла. Таким образом создается </a:t>
            </a:r>
            <a:r>
              <a:rPr lang="ru-RU" b="1" dirty="0">
                <a:latin typeface="Cambria" panose="02040503050406030204" pitchFamily="18" charset="0"/>
                <a:ea typeface="Cambria" panose="02040503050406030204" pitchFamily="18" charset="0"/>
              </a:rPr>
              <a:t>связный список всех кластеров файла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027826484"/>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a:t>
                      </a:r>
                      <a:r>
                        <a:rPr lang="en-US" sz="4000" dirty="0">
                          <a:latin typeface="Cambria" panose="02040503050406030204" pitchFamily="18" charset="0"/>
                          <a:ea typeface="Cambria" panose="02040503050406030204" pitchFamily="18" charset="0"/>
                        </a:rPr>
                        <a:t>FAT</a:t>
                      </a:r>
                      <a:endParaRPr lang="ru-RU" sz="40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410169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5750859"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начальный период после форматирования файлы будут размещаться в последовательных кластерах области данных, однако после определенного количества удалений файлов кластеры одного файла окажутся в произвольных местах области данных, чередуясь с кластерами других файлов</a:t>
            </a:r>
          </a:p>
          <a:p>
            <a:pPr marL="0" indent="0">
              <a:buNone/>
            </a:pP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792853850"/>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a:t>
                      </a:r>
                      <a:r>
                        <a:rPr lang="en-US" sz="4000" dirty="0">
                          <a:latin typeface="Cambria" panose="02040503050406030204" pitchFamily="18" charset="0"/>
                          <a:ea typeface="Cambria" panose="02040503050406030204" pitchFamily="18" charset="0"/>
                        </a:rPr>
                        <a:t>FAT</a:t>
                      </a:r>
                      <a:endParaRPr lang="ru-RU" sz="40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202C4B05-14F9-0FD2-9BBD-1A2378277A96}"/>
              </a:ext>
            </a:extLst>
          </p:cNvPr>
          <p:cNvPicPr>
            <a:picLocks noChangeAspect="1"/>
          </p:cNvPicPr>
          <p:nvPr/>
        </p:nvPicPr>
        <p:blipFill>
          <a:blip r:embed="rId2"/>
          <a:stretch>
            <a:fillRect/>
          </a:stretch>
        </p:blipFill>
        <p:spPr>
          <a:xfrm>
            <a:off x="6812683" y="1660938"/>
            <a:ext cx="4499969" cy="4831934"/>
          </a:xfrm>
          <a:prstGeom prst="rect">
            <a:avLst/>
          </a:prstGeom>
        </p:spPr>
      </p:pic>
    </p:spTree>
    <p:extLst>
      <p:ext uri="{BB962C8B-B14F-4D97-AF65-F5344CB8AC3E}">
        <p14:creationId xmlns:p14="http://schemas.microsoft.com/office/powerpoint/2010/main" val="28541522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474452"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Размер таблицы FAT и разрядность используемых в ней индексных указателей определяется количеством кластеров в области данных </a:t>
            </a:r>
          </a:p>
          <a:p>
            <a:pPr marL="0" indent="0">
              <a:buNone/>
            </a:pPr>
            <a:r>
              <a:rPr lang="ru-RU" dirty="0">
                <a:latin typeface="Cambria" panose="02040503050406030204" pitchFamily="18" charset="0"/>
                <a:ea typeface="Cambria" panose="02040503050406030204" pitchFamily="18" charset="0"/>
              </a:rPr>
              <a:t>Для уменьшения потерь из-за фрагментации желательно кластеры делать небольшими, а для сокращения объема адресной информации и повышения скорости обмена наоборот – чем больше, тем лучше</a:t>
            </a:r>
          </a:p>
          <a:p>
            <a:pPr marL="0" indent="0">
              <a:buNone/>
            </a:pPr>
            <a:r>
              <a:rPr lang="ru-RU" dirty="0">
                <a:latin typeface="Cambria" panose="02040503050406030204" pitchFamily="18" charset="0"/>
                <a:ea typeface="Cambria" panose="02040503050406030204" pitchFamily="18" charset="0"/>
              </a:rPr>
              <a:t>При форматировании диска под файловую систему FAT обычно выбирается компромиссное решение, и размеры кластеров выбираются из диапазона от 1 до 128 секторов, или от 512 байт до 64 Кбайт</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935371032"/>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a:t>
                      </a:r>
                      <a:r>
                        <a:rPr lang="en-US" sz="4000" dirty="0">
                          <a:latin typeface="Cambria" panose="02040503050406030204" pitchFamily="18" charset="0"/>
                          <a:ea typeface="Cambria" panose="02040503050406030204" pitchFamily="18" charset="0"/>
                        </a:rPr>
                        <a:t>FAT</a:t>
                      </a:r>
                      <a:endParaRPr lang="ru-RU" sz="40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6356190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474452"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Очевидно, что разрядность индексного указателя должна быть такой, чтобы в нем можно было задать максимальный номер кластера для диска определенного объема</a:t>
            </a:r>
          </a:p>
          <a:p>
            <a:pPr marL="0" indent="0">
              <a:buNone/>
            </a:pPr>
            <a:r>
              <a:rPr lang="ru-RU" dirty="0">
                <a:latin typeface="Cambria" panose="02040503050406030204" pitchFamily="18" charset="0"/>
                <a:ea typeface="Cambria" panose="02040503050406030204" pitchFamily="18" charset="0"/>
              </a:rPr>
              <a:t>Существует несколько разновидностей FAT, отличающихся разрядностью индексных указателей, которая и используется в качестве условного обозначения: FAT12, FAT16 и FAT32</a:t>
            </a:r>
          </a:p>
          <a:p>
            <a:pPr marL="0" indent="0">
              <a:buNone/>
            </a:pPr>
            <a:r>
              <a:rPr lang="ru-RU" dirty="0">
                <a:latin typeface="Cambria" panose="02040503050406030204" pitchFamily="18" charset="0"/>
                <a:ea typeface="Cambria" panose="02040503050406030204" pitchFamily="18" charset="0"/>
              </a:rPr>
              <a:t>В файловой системе FAT 12 задействованы 12-разрядные указатели, что позволяет поддерживать до 4096 кластеров в области данных диска, в FAT16 – 16-разрядные указатели для 65 536 кластеров и в FAT32 – 32-разрядные для более чем 4 миллиардов кластеров</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559412053"/>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a:t>
                      </a:r>
                      <a:r>
                        <a:rPr lang="en-US" sz="4000" dirty="0">
                          <a:latin typeface="Cambria" panose="02040503050406030204" pitchFamily="18" charset="0"/>
                          <a:ea typeface="Cambria" panose="02040503050406030204" pitchFamily="18" charset="0"/>
                        </a:rPr>
                        <a:t>FAT</a:t>
                      </a:r>
                      <a:endParaRPr lang="ru-RU" sz="40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4921744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474452"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Файловая система FAT12 обычно характерна только для небольших дисков объемом не более 16 Мбайт, что позволяет не использовать кластеры более 4 Кбайт</a:t>
            </a:r>
          </a:p>
          <a:p>
            <a:pPr marL="0" indent="0">
              <a:buNone/>
            </a:pPr>
            <a:r>
              <a:rPr lang="ru-RU" dirty="0">
                <a:latin typeface="Cambria" panose="02040503050406030204" pitchFamily="18" charset="0"/>
                <a:ea typeface="Cambria" panose="02040503050406030204" pitchFamily="18" charset="0"/>
              </a:rPr>
              <a:t>По этой же причине считается, что FAT16 целесообразнее для дисков с объемом не более 512 Мбайт, а для больших дисков лучше подходит система FAT32, которая способна использовать кластеры 4 Кбайт при работе с дисками объемом до 8 Гбайт, и только для дисков большего объема задействует 8, 16 и 32 Кбайт</a:t>
            </a:r>
          </a:p>
          <a:p>
            <a:pPr marL="0" indent="0">
              <a:buNone/>
            </a:pPr>
            <a:r>
              <a:rPr lang="ru-RU" dirty="0">
                <a:latin typeface="Cambria" panose="02040503050406030204" pitchFamily="18" charset="0"/>
                <a:ea typeface="Cambria" panose="02040503050406030204" pitchFamily="18" charset="0"/>
              </a:rPr>
              <a:t>Максимальный размер раздела FAT16 ограничен значением 4 Гбайт, такой объем дает 65 536 кластеров по 64 Кбайт каждый, а максимальный размер раздела FAT32 практически не ограничен – 2</a:t>
            </a:r>
            <a:r>
              <a:rPr lang="ru-RU" baseline="30000" dirty="0">
                <a:latin typeface="Cambria" panose="02040503050406030204" pitchFamily="18" charset="0"/>
                <a:ea typeface="Cambria" panose="02040503050406030204" pitchFamily="18" charset="0"/>
              </a:rPr>
              <a:t>32</a:t>
            </a:r>
            <a:r>
              <a:rPr lang="ru-RU" dirty="0">
                <a:latin typeface="Cambria" panose="02040503050406030204" pitchFamily="18" charset="0"/>
                <a:ea typeface="Cambria" panose="02040503050406030204" pitchFamily="18" charset="0"/>
              </a:rPr>
              <a:t> кластеров по 32 Кбайт</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813201"/>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a:t>
                      </a:r>
                      <a:r>
                        <a:rPr lang="en-US" sz="4000" dirty="0">
                          <a:latin typeface="Cambria" panose="02040503050406030204" pitchFamily="18" charset="0"/>
                          <a:ea typeface="Cambria" panose="02040503050406030204" pitchFamily="18" charset="0"/>
                        </a:rPr>
                        <a:t>FAT</a:t>
                      </a:r>
                      <a:endParaRPr lang="ru-RU" sz="40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616153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474452"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Таблица FAT при фиксированной разрядности индексных указателей имеет переменный размер, зависящий от объема области данных диска</a:t>
            </a:r>
          </a:p>
          <a:p>
            <a:pPr marL="0" indent="0">
              <a:buNone/>
            </a:pPr>
            <a:r>
              <a:rPr lang="ru-RU" dirty="0">
                <a:latin typeface="Cambria" panose="02040503050406030204" pitchFamily="18" charset="0"/>
                <a:ea typeface="Cambria" panose="02040503050406030204" pitchFamily="18" charset="0"/>
              </a:rPr>
              <a:t>При удалении файла из файловой системы FAT в первый байт соответствующей записи каталога заносится специальный признак, свидетельствующий о том, что эта запись свободна, а во все индексные указатели файла заносится признак «кластер свободен»</a:t>
            </a:r>
          </a:p>
          <a:p>
            <a:pPr marL="0" indent="0">
              <a:buNone/>
            </a:pPr>
            <a:r>
              <a:rPr lang="ru-RU" dirty="0">
                <a:latin typeface="Cambria" panose="02040503050406030204" pitchFamily="18" charset="0"/>
                <a:ea typeface="Cambria" panose="02040503050406030204" pitchFamily="18" charset="0"/>
              </a:rPr>
              <a:t>Остальные данные в записи каталога, в том числе номер первого кластера файла, остаются нетронутыми, что оставляет шансы для восстановления ошибочно удаленного файла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776005309"/>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a:t>
                      </a:r>
                      <a:r>
                        <a:rPr lang="en-US" sz="4000" dirty="0">
                          <a:latin typeface="Cambria" panose="02040503050406030204" pitchFamily="18" charset="0"/>
                          <a:ea typeface="Cambria" panose="02040503050406030204" pitchFamily="18" charset="0"/>
                        </a:rPr>
                        <a:t>FAT</a:t>
                      </a:r>
                      <a:endParaRPr lang="ru-RU" sz="40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1957607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474452"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Очевидно, что надежно можно восстановить только файлы, которые были расположены в последовательных кластерах диска, так как при отсутствии связного списка выявить принадлежность произвольно расположенного кластера удаленному файлу невозможно (без анализа содержимого кластеров, выполняемого пользователем «вручную»)</a:t>
            </a:r>
          </a:p>
          <a:p>
            <a:pPr marL="0" indent="0">
              <a:buNone/>
            </a:pPr>
            <a:r>
              <a:rPr lang="ru-RU" dirty="0">
                <a:latin typeface="Cambria" panose="02040503050406030204" pitchFamily="18" charset="0"/>
                <a:ea typeface="Cambria" panose="02040503050406030204" pitchFamily="18" charset="0"/>
              </a:rPr>
              <a:t>Резервная копия FAT всегда синхронизируется с основной копией при любых операциях с файлами, поэтому резервную копию нельзя задействовать для отмены ошибочных действий пользователя, выглядевших с точки зрения системы вполне корректными </a:t>
            </a:r>
          </a:p>
          <a:p>
            <a:pPr marL="0" indent="0">
              <a:buNone/>
            </a:pPr>
            <a:r>
              <a:rPr lang="ru-RU" dirty="0">
                <a:latin typeface="Cambria" panose="02040503050406030204" pitchFamily="18" charset="0"/>
                <a:ea typeface="Cambria" panose="02040503050406030204" pitchFamily="18" charset="0"/>
              </a:rPr>
              <a:t>Резервная копия может быть полезна только в том случае, когда секторы основной памяти оказываются физически поврежденными и не читаются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276935552"/>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a:t>
                      </a:r>
                      <a:r>
                        <a:rPr lang="en-US" sz="4000" dirty="0">
                          <a:latin typeface="Cambria" panose="02040503050406030204" pitchFamily="18" charset="0"/>
                          <a:ea typeface="Cambria" panose="02040503050406030204" pitchFamily="18" charset="0"/>
                        </a:rPr>
                        <a:t>FAT</a:t>
                      </a:r>
                      <a:endParaRPr lang="ru-RU" sz="40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727795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474452"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Используемый в FAT метод хранения адресной информации о файлах не отличается большой надежностью – при разрыве списка индексных указателей в одном месте, например, из-за сбоя в работе программного кода ОС по причине внешних электромагнитных помех, теряется информация обо всех последующих кластерах файла</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215671965"/>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a:t>
                      </a:r>
                      <a:r>
                        <a:rPr lang="en-US" sz="4000" dirty="0">
                          <a:latin typeface="Cambria" panose="02040503050406030204" pitchFamily="18" charset="0"/>
                          <a:ea typeface="Cambria" panose="02040503050406030204" pitchFamily="18" charset="0"/>
                        </a:rPr>
                        <a:t>FAT</a:t>
                      </a:r>
                      <a:endParaRPr lang="ru-RU" sz="40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6930815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474452"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Файловые системы FAT12 и FAT16 оперировали с именами файлов, состоящими из 12 символов по схеме «8.3»</a:t>
            </a:r>
          </a:p>
          <a:p>
            <a:pPr marL="0" indent="0">
              <a:buNone/>
            </a:pPr>
            <a:r>
              <a:rPr lang="ru-RU" dirty="0">
                <a:latin typeface="Cambria" panose="02040503050406030204" pitchFamily="18" charset="0"/>
                <a:ea typeface="Cambria" panose="02040503050406030204" pitchFamily="18" charset="0"/>
              </a:rPr>
              <a:t>В версии FAT16 операционной системы Windows NT был введен новый тип записи каталога – «длинное имя», что позволяет использовать имена длиной до 255 символов, причем каждый символ длинного имени хранится в двухбайтном формате </a:t>
            </a:r>
            <a:r>
              <a:rPr lang="ru-RU" dirty="0" err="1">
                <a:latin typeface="Cambria" panose="02040503050406030204" pitchFamily="18" charset="0"/>
                <a:ea typeface="Cambria" panose="02040503050406030204" pitchFamily="18" charset="0"/>
              </a:rPr>
              <a:t>Unicode</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Имя по схеме «8.3», названное теперь коротким (не нужно путать его с простым именем файла, также называемого иногда коротким), по-прежнему хранится в 12-байтовом поле имени файла в записи каталога, а длинное имя помещается порциями по 13 символов в одну или несколько записей, следующих непосредственно за основной записью каталога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909346650"/>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a:t>
                      </a:r>
                      <a:r>
                        <a:rPr lang="en-US" sz="4000" dirty="0">
                          <a:latin typeface="Cambria" panose="02040503050406030204" pitchFamily="18" charset="0"/>
                          <a:ea typeface="Cambria" panose="02040503050406030204" pitchFamily="18" charset="0"/>
                        </a:rPr>
                        <a:t>FAT</a:t>
                      </a:r>
                      <a:endParaRPr lang="ru-RU" sz="40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403170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474452"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Каждый символ в формате </a:t>
            </a:r>
            <a:r>
              <a:rPr lang="ru-RU" dirty="0" err="1">
                <a:latin typeface="Cambria" panose="02040503050406030204" pitchFamily="18" charset="0"/>
                <a:ea typeface="Cambria" panose="02040503050406030204" pitchFamily="18" charset="0"/>
              </a:rPr>
              <a:t>Unicode</a:t>
            </a:r>
            <a:r>
              <a:rPr lang="ru-RU" dirty="0">
                <a:latin typeface="Cambria" panose="02040503050406030204" pitchFamily="18" charset="0"/>
                <a:ea typeface="Cambria" panose="02040503050406030204" pitchFamily="18" charset="0"/>
              </a:rPr>
              <a:t> кодируется двумя байтами, поэтому 13 символов занимают 26 байт, а оставшиеся 6 отведены под служебную информацию</a:t>
            </a:r>
          </a:p>
          <a:p>
            <a:pPr marL="0" indent="0">
              <a:buNone/>
            </a:pPr>
            <a:r>
              <a:rPr lang="ru-RU" dirty="0">
                <a:latin typeface="Cambria" panose="02040503050406030204" pitchFamily="18" charset="0"/>
                <a:ea typeface="Cambria" panose="02040503050406030204" pitchFamily="18" charset="0"/>
              </a:rPr>
              <a:t>Таким образом, у файла появляется два имени – короткое, для совместимости со старыми приложениями, не понимающими длинных имен в </a:t>
            </a:r>
            <a:r>
              <a:rPr lang="ru-RU" dirty="0" err="1">
                <a:latin typeface="Cambria" panose="02040503050406030204" pitchFamily="18" charset="0"/>
                <a:ea typeface="Cambria" panose="02040503050406030204" pitchFamily="18" charset="0"/>
              </a:rPr>
              <a:t>Unicode</a:t>
            </a:r>
            <a:r>
              <a:rPr lang="ru-RU" dirty="0">
                <a:latin typeface="Cambria" panose="02040503050406030204" pitchFamily="18" charset="0"/>
                <a:ea typeface="Cambria" panose="02040503050406030204" pitchFamily="18" charset="0"/>
              </a:rPr>
              <a:t>, и длинное, удобное в использовании имя</a:t>
            </a:r>
          </a:p>
          <a:p>
            <a:pPr marL="0" indent="0">
              <a:buNone/>
            </a:pPr>
            <a:r>
              <a:rPr lang="ru-RU" dirty="0">
                <a:latin typeface="Cambria" panose="02040503050406030204" pitchFamily="18" charset="0"/>
                <a:ea typeface="Cambria" panose="02040503050406030204" pitchFamily="18" charset="0"/>
              </a:rPr>
              <a:t>Файловая система FAT32 также поддерживает короткие и длинные имена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026782097"/>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a:t>
                      </a:r>
                      <a:r>
                        <a:rPr lang="en-US" sz="4000" dirty="0">
                          <a:latin typeface="Cambria" panose="02040503050406030204" pitchFamily="18" charset="0"/>
                          <a:ea typeface="Cambria" panose="02040503050406030204" pitchFamily="18" charset="0"/>
                        </a:rPr>
                        <a:t>FAT</a:t>
                      </a:r>
                      <a:endParaRPr lang="ru-RU" sz="40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178325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474452"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Файловые системы s5 (получившие название от System V) и </a:t>
            </a:r>
            <a:r>
              <a:rPr lang="ru-RU" dirty="0" err="1">
                <a:latin typeface="Cambria" panose="02040503050406030204" pitchFamily="18" charset="0"/>
                <a:ea typeface="Cambria" panose="02040503050406030204" pitchFamily="18" charset="0"/>
              </a:rPr>
              <a:t>ufs</a:t>
            </a:r>
            <a:r>
              <a:rPr lang="ru-RU" dirty="0">
                <a:latin typeface="Cambria" panose="02040503050406030204" pitchFamily="18" charset="0"/>
                <a:ea typeface="Cambria" panose="02040503050406030204" pitchFamily="18" charset="0"/>
              </a:rPr>
              <a:t> (Unix File System) используют очень близкую физическую модель</a:t>
            </a:r>
          </a:p>
          <a:p>
            <a:pPr marL="0" indent="0">
              <a:buNone/>
            </a:pPr>
            <a:r>
              <a:rPr lang="ru-RU" dirty="0">
                <a:latin typeface="Cambria" panose="02040503050406030204" pitchFamily="18" charset="0"/>
                <a:ea typeface="Cambria" panose="02040503050406030204" pitchFamily="18" charset="0"/>
              </a:rPr>
              <a:t>Это не удивительно, так как система </a:t>
            </a:r>
            <a:r>
              <a:rPr lang="ru-RU" dirty="0" err="1">
                <a:latin typeface="Cambria" panose="02040503050406030204" pitchFamily="18" charset="0"/>
                <a:ea typeface="Cambria" panose="02040503050406030204" pitchFamily="18" charset="0"/>
              </a:rPr>
              <a:t>ufs</a:t>
            </a:r>
            <a:r>
              <a:rPr lang="ru-RU" dirty="0">
                <a:latin typeface="Cambria" panose="02040503050406030204" pitchFamily="18" charset="0"/>
                <a:ea typeface="Cambria" panose="02040503050406030204" pitchFamily="18" charset="0"/>
              </a:rPr>
              <a:t> является развитием системы s5. Файловая система </a:t>
            </a:r>
            <a:r>
              <a:rPr lang="ru-RU" dirty="0" err="1">
                <a:latin typeface="Cambria" panose="02040503050406030204" pitchFamily="18" charset="0"/>
                <a:ea typeface="Cambria" panose="02040503050406030204" pitchFamily="18" charset="0"/>
              </a:rPr>
              <a:t>ufs</a:t>
            </a:r>
            <a:r>
              <a:rPr lang="ru-RU" dirty="0">
                <a:latin typeface="Cambria" panose="02040503050406030204" pitchFamily="18" charset="0"/>
                <a:ea typeface="Cambria" panose="02040503050406030204" pitchFamily="18" charset="0"/>
              </a:rPr>
              <a:t> расширяет возможности s5 по поддержке больших дисков и </a:t>
            </a:r>
            <a:r>
              <a:rPr lang="ru-RU" dirty="0" err="1">
                <a:latin typeface="Cambria" panose="02040503050406030204" pitchFamily="18" charset="0"/>
                <a:ea typeface="Cambria" panose="02040503050406030204" pitchFamily="18" charset="0"/>
              </a:rPr>
              <a:t>файлов,а</a:t>
            </a:r>
            <a:r>
              <a:rPr lang="ru-RU" dirty="0">
                <a:latin typeface="Cambria" panose="02040503050406030204" pitchFamily="18" charset="0"/>
                <a:ea typeface="Cambria" panose="02040503050406030204" pitchFamily="18" charset="0"/>
              </a:rPr>
              <a:t> также повышает ее надежность</a:t>
            </a:r>
          </a:p>
          <a:p>
            <a:pPr marL="0" indent="0">
              <a:buNone/>
            </a:pPr>
            <a:r>
              <a:rPr lang="ru-RU" dirty="0">
                <a:latin typeface="Cambria" panose="02040503050406030204" pitchFamily="18" charset="0"/>
                <a:ea typeface="Cambria" panose="02040503050406030204" pitchFamily="18" charset="0"/>
              </a:rPr>
              <a:t>Далее вместо термина «кластер» используется термин «блок», как это принято в файловых системах Unix</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118683065"/>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s5 и </a:t>
                      </a:r>
                      <a:r>
                        <a:rPr lang="ru-RU" sz="4000" dirty="0" err="1">
                          <a:latin typeface="Cambria" panose="02040503050406030204" pitchFamily="18" charset="0"/>
                          <a:ea typeface="Cambria" panose="02040503050406030204" pitchFamily="18" charset="0"/>
                        </a:rPr>
                        <a:t>ufs</a:t>
                      </a:r>
                      <a:endParaRPr lang="ru-RU" sz="40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729769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474452"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Расположение файловой системы s5 на диске иллюстрирует рисунок. Раздел диска, где размещается файловая система, делится на четыре области:</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Загрузочный блок</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Суперблок</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superblock</a:t>
            </a:r>
            <a:r>
              <a:rPr lang="ru-RU" dirty="0">
                <a:latin typeface="Cambria" panose="02040503050406030204" pitchFamily="18" charset="0"/>
                <a:ea typeface="Cambria" panose="02040503050406030204" pitchFamily="18" charset="0"/>
              </a:rPr>
              <a:t>), содержащий самую общую информацию о файловой системе, включая размер файловой системы, размер области индексных дескрипторов, число индексных дескрипторов, списки свободных блоков и свободных индексных дескрипторов, а также другую административную информацию</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s5 и </a:t>
                      </a:r>
                      <a:r>
                        <a:rPr lang="ru-RU" sz="4000" dirty="0" err="1">
                          <a:latin typeface="Cambria" panose="02040503050406030204" pitchFamily="18" charset="0"/>
                          <a:ea typeface="Cambria" panose="02040503050406030204" pitchFamily="18" charset="0"/>
                        </a:rPr>
                        <a:t>ufs</a:t>
                      </a:r>
                      <a:endParaRPr lang="ru-RU" sz="40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172446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474452"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Расположение файловой системы s5 на диске иллюстрирует рисунок. Раздел диска, где размещается файловая система, делится на четыре области:</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Область индексных дескрипторов </a:t>
            </a:r>
            <a:r>
              <a:rPr lang="ru-RU" dirty="0">
                <a:latin typeface="Cambria" panose="02040503050406030204" pitchFamily="18" charset="0"/>
                <a:ea typeface="Cambria" panose="02040503050406030204" pitchFamily="18" charset="0"/>
              </a:rPr>
              <a:t>(</a:t>
            </a:r>
            <a:r>
              <a:rPr lang="ru-RU" dirty="0" err="1">
                <a:latin typeface="Cambria" panose="02040503050406030204" pitchFamily="18" charset="0"/>
                <a:ea typeface="Cambria" panose="02040503050406030204" pitchFamily="18" charset="0"/>
              </a:rPr>
              <a:t>inode</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list</a:t>
            </a:r>
            <a:r>
              <a:rPr lang="ru-RU" dirty="0">
                <a:latin typeface="Cambria" panose="02040503050406030204" pitchFamily="18" charset="0"/>
                <a:ea typeface="Cambria" panose="02040503050406030204" pitchFamily="18" charset="0"/>
              </a:rPr>
              <a:t>), порядок расположения индексных дескрипторов в которой соответствует их номерам</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Область данных</a:t>
            </a:r>
            <a:r>
              <a:rPr lang="ru-RU" dirty="0">
                <a:latin typeface="Cambria" panose="02040503050406030204" pitchFamily="18" charset="0"/>
                <a:ea typeface="Cambria" panose="02040503050406030204" pitchFamily="18" charset="0"/>
              </a:rPr>
              <a:t>, в которой расположены как обычные файлы, так и файлы-каталоги, в том числе корневой каталог; специальные файлы представлены в файловой системе только записями в соответствующих каталогах и индексными дескрипторами специального формата, но места в области данных не занимают</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s5 и </a:t>
                      </a:r>
                      <a:r>
                        <a:rPr lang="ru-RU" sz="4000" dirty="0" err="1">
                          <a:latin typeface="Cambria" panose="02040503050406030204" pitchFamily="18" charset="0"/>
                          <a:ea typeface="Cambria" panose="02040503050406030204" pitchFamily="18" charset="0"/>
                        </a:rPr>
                        <a:t>ufs</a:t>
                      </a:r>
                      <a:endParaRPr lang="ru-RU" sz="40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779544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s5 и </a:t>
                      </a:r>
                      <a:r>
                        <a:rPr lang="ru-RU" sz="4000" dirty="0" err="1">
                          <a:latin typeface="Cambria" panose="02040503050406030204" pitchFamily="18" charset="0"/>
                          <a:ea typeface="Cambria" panose="02040503050406030204" pitchFamily="18" charset="0"/>
                        </a:rPr>
                        <a:t>ufs</a:t>
                      </a:r>
                      <a:endParaRPr lang="ru-RU" sz="40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6CDE303D-2832-90C3-726D-4E3D08AFCC81}"/>
              </a:ext>
            </a:extLst>
          </p:cNvPr>
          <p:cNvPicPr>
            <a:picLocks noChangeAspect="1"/>
          </p:cNvPicPr>
          <p:nvPr/>
        </p:nvPicPr>
        <p:blipFill>
          <a:blip r:embed="rId2"/>
          <a:stretch>
            <a:fillRect/>
          </a:stretch>
        </p:blipFill>
        <p:spPr>
          <a:xfrm>
            <a:off x="2614612" y="1566862"/>
            <a:ext cx="6962775" cy="5191125"/>
          </a:xfrm>
          <a:prstGeom prst="rect">
            <a:avLst/>
          </a:prstGeom>
        </p:spPr>
      </p:pic>
    </p:spTree>
    <p:extLst>
      <p:ext uri="{BB962C8B-B14F-4D97-AF65-F5344CB8AC3E}">
        <p14:creationId xmlns:p14="http://schemas.microsoft.com/office/powerpoint/2010/main" val="2952368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474452"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Основной особенностью физической организации файловой системы </a:t>
            </a:r>
            <a:r>
              <a:rPr lang="en-US" dirty="0">
                <a:latin typeface="Cambria" panose="02040503050406030204" pitchFamily="18" charset="0"/>
                <a:ea typeface="Cambria" panose="02040503050406030204" pitchFamily="18" charset="0"/>
              </a:rPr>
              <a:t>s5</a:t>
            </a:r>
            <a:r>
              <a:rPr lang="ru-RU" dirty="0">
                <a:latin typeface="Cambria" panose="02040503050406030204" pitchFamily="18" charset="0"/>
                <a:ea typeface="Cambria" panose="02040503050406030204" pitchFamily="18" charset="0"/>
              </a:rPr>
              <a:t> является отделение имени файла от его характеристик, хранящихся в отдельной структуре, называемой </a:t>
            </a:r>
            <a:r>
              <a:rPr lang="ru-RU" b="1" dirty="0">
                <a:latin typeface="Cambria" panose="02040503050406030204" pitchFamily="18" charset="0"/>
                <a:ea typeface="Cambria" panose="02040503050406030204" pitchFamily="18" charset="0"/>
              </a:rPr>
              <a:t>индексным дескриптором</a:t>
            </a:r>
          </a:p>
          <a:p>
            <a:pPr marL="0" indent="0">
              <a:buNone/>
            </a:pPr>
            <a:r>
              <a:rPr lang="ru-RU" b="1" dirty="0">
                <a:latin typeface="Cambria" panose="02040503050406030204" pitchFamily="18" charset="0"/>
                <a:ea typeface="Cambria" panose="02040503050406030204" pitchFamily="18" charset="0"/>
              </a:rPr>
              <a:t>Индексный дескриптор </a:t>
            </a:r>
            <a:r>
              <a:rPr lang="ru-RU" dirty="0">
                <a:latin typeface="Cambria" panose="02040503050406030204" pitchFamily="18" charset="0"/>
                <a:ea typeface="Cambria" panose="02040503050406030204" pitchFamily="18" charset="0"/>
              </a:rPr>
              <a:t>(</a:t>
            </a:r>
            <a:r>
              <a:rPr lang="ru-RU" b="1" dirty="0" err="1">
                <a:latin typeface="Cambria" panose="02040503050406030204" pitchFamily="18" charset="0"/>
                <a:ea typeface="Cambria" panose="02040503050406030204" pitchFamily="18" charset="0"/>
              </a:rPr>
              <a:t>inode</a:t>
            </a:r>
            <a:r>
              <a:rPr lang="ru-RU" dirty="0">
                <a:latin typeface="Cambria" panose="02040503050406030204" pitchFamily="18" charset="0"/>
                <a:ea typeface="Cambria" panose="02040503050406030204" pitchFamily="18" charset="0"/>
              </a:rPr>
              <a:t>) в s5 имеет размер 64 байта и содержит данные о типе файла, адресную информацию, привилегии доступа к файлу и некоторую другую информацию</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s5 и </a:t>
                      </a:r>
                      <a:r>
                        <a:rPr lang="ru-RU" sz="4000" dirty="0" err="1">
                          <a:latin typeface="Cambria" panose="02040503050406030204" pitchFamily="18" charset="0"/>
                          <a:ea typeface="Cambria" panose="02040503050406030204" pitchFamily="18" charset="0"/>
                        </a:rPr>
                        <a:t>ufs</a:t>
                      </a:r>
                      <a:endParaRPr lang="ru-RU" sz="40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0359935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474452" cy="4998183"/>
          </a:xfrm>
        </p:spPr>
        <p:txBody>
          <a:bodyPr wrap="square">
            <a:normAutofit fontScale="92500" lnSpcReduction="10000"/>
          </a:bodyPr>
          <a:lstStyle/>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Идентификатор владельца файла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Тип файла (файл может быть файлом обычного типа, каталогом, специальным файлом, также конвейером или символьной связью)</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Права доступа к файлу</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Временные характеристики (время последней модификации файла, время последнего обращения к файлу, время последней модификации индексного дескриптора)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Число ссылок на данный индексный дескриптор, равное количеству псевдонимов файла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Адресная информация (структура адреса рассмотрена ранее в «Физическая организация и адресация файла»)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Размер файла в байтах</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s5 и </a:t>
                      </a:r>
                      <a:r>
                        <a:rPr lang="ru-RU" sz="4000" dirty="0" err="1">
                          <a:latin typeface="Cambria" panose="02040503050406030204" pitchFamily="18" charset="0"/>
                          <a:ea typeface="Cambria" panose="02040503050406030204" pitchFamily="18" charset="0"/>
                        </a:rPr>
                        <a:t>ufs</a:t>
                      </a:r>
                      <a:endParaRPr lang="ru-RU" sz="40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1465190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474452"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Каждый индексный дескриптор имеет номер, который одновременно является уникальным именем файла</a:t>
            </a:r>
          </a:p>
          <a:p>
            <a:pPr marL="0" indent="0">
              <a:buNone/>
            </a:pPr>
            <a:r>
              <a:rPr lang="ru-RU" dirty="0">
                <a:latin typeface="Cambria" panose="02040503050406030204" pitchFamily="18" charset="0"/>
                <a:ea typeface="Cambria" panose="02040503050406030204" pitchFamily="18" charset="0"/>
              </a:rPr>
              <a:t>Индексные дескрипторы расположены в особой области диска в строгом соответствии со своими номерами. Соответствие между полными символьными именами файлов и их уникальными именами устанавливается с помощью иерархии каталогов</a:t>
            </a:r>
          </a:p>
          <a:p>
            <a:pPr marL="0" indent="0">
              <a:buNone/>
            </a:pPr>
            <a:r>
              <a:rPr lang="ru-RU" dirty="0">
                <a:latin typeface="Cambria" panose="02040503050406030204" pitchFamily="18" charset="0"/>
                <a:ea typeface="Cambria" panose="02040503050406030204" pitchFamily="18" charset="0"/>
              </a:rPr>
              <a:t>Система ведет список номеров свободных индексных дескрипторов. При создании файла ему выделяется номер из этого списка, а при уничтожении файла номер его индексного дескриптора возвращается в список</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s5 и </a:t>
                      </a:r>
                      <a:r>
                        <a:rPr lang="ru-RU" sz="4000" dirty="0" err="1">
                          <a:latin typeface="Cambria" panose="02040503050406030204" pitchFamily="18" charset="0"/>
                          <a:ea typeface="Cambria" panose="02040503050406030204" pitchFamily="18" charset="0"/>
                        </a:rPr>
                        <a:t>ufs</a:t>
                      </a:r>
                      <a:endParaRPr lang="ru-RU" sz="40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13009422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5924550"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Запись о файле в каталоге состоит всего из двух полей: символьного имени файла и номера индексного дескриптора. Например, на рисунке показана информация, содержащаяся в каталоге /</a:t>
            </a:r>
            <a:r>
              <a:rPr lang="ru-RU" dirty="0" err="1">
                <a:latin typeface="Cambria" panose="02040503050406030204" pitchFamily="18" charset="0"/>
                <a:ea typeface="Cambria" panose="02040503050406030204" pitchFamily="18" charset="0"/>
              </a:rPr>
              <a:t>user</a:t>
            </a: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s5 и </a:t>
                      </a:r>
                      <a:r>
                        <a:rPr lang="ru-RU" sz="4000" dirty="0" err="1">
                          <a:latin typeface="Cambria" panose="02040503050406030204" pitchFamily="18" charset="0"/>
                          <a:ea typeface="Cambria" panose="02040503050406030204" pitchFamily="18" charset="0"/>
                        </a:rPr>
                        <a:t>ufs</a:t>
                      </a:r>
                      <a:endParaRPr lang="ru-RU" sz="40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C8102278-5A30-EB8B-41E5-E64F3031C2C2}"/>
              </a:ext>
            </a:extLst>
          </p:cNvPr>
          <p:cNvPicPr>
            <a:picLocks noChangeAspect="1"/>
          </p:cNvPicPr>
          <p:nvPr/>
        </p:nvPicPr>
        <p:blipFill>
          <a:blip r:embed="rId2"/>
          <a:stretch>
            <a:fillRect/>
          </a:stretch>
        </p:blipFill>
        <p:spPr>
          <a:xfrm>
            <a:off x="6837130" y="1494691"/>
            <a:ext cx="4516670" cy="4863246"/>
          </a:xfrm>
          <a:prstGeom prst="rect">
            <a:avLst/>
          </a:prstGeom>
        </p:spPr>
      </p:pic>
    </p:spTree>
    <p:extLst>
      <p:ext uri="{BB962C8B-B14F-4D97-AF65-F5344CB8AC3E}">
        <p14:creationId xmlns:p14="http://schemas.microsoft.com/office/powerpoint/2010/main" val="98634118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474452"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Файловая система не накладывает особых ограничений на размер корневого каталога, так как он расположен в области данных и может увеличиваться как обычный файл</a:t>
            </a:r>
          </a:p>
          <a:p>
            <a:pPr marL="0" indent="0">
              <a:buNone/>
            </a:pPr>
            <a:r>
              <a:rPr lang="ru-RU" dirty="0">
                <a:latin typeface="Cambria" panose="02040503050406030204" pitchFamily="18" charset="0"/>
                <a:ea typeface="Cambria" panose="02040503050406030204" pitchFamily="18" charset="0"/>
              </a:rPr>
              <a:t>Доступ к файлу осуществляется путем последовательного просмотра всей цепочки каталогов, входящих в полное имя файла, и соответствующих им индексных дескрипторов</a:t>
            </a:r>
          </a:p>
          <a:p>
            <a:pPr marL="0" indent="0">
              <a:buNone/>
            </a:pPr>
            <a:r>
              <a:rPr lang="ru-RU" dirty="0">
                <a:latin typeface="Cambria" panose="02040503050406030204" pitchFamily="18" charset="0"/>
                <a:ea typeface="Cambria" panose="02040503050406030204" pitchFamily="18" charset="0"/>
              </a:rPr>
              <a:t>Поиск завершается после получения всех характеристик из индексного дескриптора заданного файла</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s5 и </a:t>
                      </a:r>
                      <a:r>
                        <a:rPr lang="ru-RU" sz="4000" dirty="0" err="1">
                          <a:latin typeface="Cambria" panose="02040503050406030204" pitchFamily="18" charset="0"/>
                          <a:ea typeface="Cambria" panose="02040503050406030204" pitchFamily="18" charset="0"/>
                        </a:rPr>
                        <a:t>ufs</a:t>
                      </a:r>
                      <a:endParaRPr lang="ru-RU" sz="40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1502965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474452" cy="5191859"/>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Рассмотрим эту процедуру на примере файла /</a:t>
            </a:r>
            <a:r>
              <a:rPr lang="ru-RU" dirty="0" err="1">
                <a:latin typeface="Cambria" panose="02040503050406030204" pitchFamily="18" charset="0"/>
                <a:ea typeface="Cambria" panose="02040503050406030204" pitchFamily="18" charset="0"/>
              </a:rPr>
              <a:t>bin</a:t>
            </a:r>
            <a:r>
              <a:rPr lang="ru-RU" dirty="0">
                <a:latin typeface="Cambria" panose="02040503050406030204" pitchFamily="18" charset="0"/>
                <a:ea typeface="Cambria" panose="02040503050406030204" pitchFamily="18" charset="0"/>
              </a:rPr>
              <a:t>/</a:t>
            </a:r>
            <a:r>
              <a:rPr lang="ru-RU" dirty="0" err="1">
                <a:latin typeface="Cambria" panose="02040503050406030204" pitchFamily="18" charset="0"/>
                <a:ea typeface="Cambria" panose="02040503050406030204" pitchFamily="18" charset="0"/>
              </a:rPr>
              <a:t>my_shell</a:t>
            </a:r>
            <a:r>
              <a:rPr lang="ru-RU" dirty="0">
                <a:latin typeface="Cambria" panose="02040503050406030204" pitchFamily="18" charset="0"/>
                <a:ea typeface="Cambria" panose="02040503050406030204" pitchFamily="18" charset="0"/>
              </a:rPr>
              <a:t>/</a:t>
            </a:r>
            <a:r>
              <a:rPr lang="ru-RU" dirty="0" err="1">
                <a:latin typeface="Cambria" panose="02040503050406030204" pitchFamily="18" charset="0"/>
                <a:ea typeface="Cambria" panose="02040503050406030204" pitchFamily="18" charset="0"/>
              </a:rPr>
              <a:t>print</a:t>
            </a:r>
            <a:r>
              <a:rPr lang="ru-RU" dirty="0">
                <a:latin typeface="Cambria" panose="02040503050406030204" pitchFamily="18" charset="0"/>
                <a:ea typeface="Cambria" panose="02040503050406030204" pitchFamily="18" charset="0"/>
              </a:rPr>
              <a:t>, входящего в состав файловой системы, изображенной на </a:t>
            </a:r>
            <a:r>
              <a:rPr lang="ru-RU" dirty="0">
                <a:latin typeface="Cambria" panose="02040503050406030204" pitchFamily="18" charset="0"/>
                <a:ea typeface="Cambria" panose="02040503050406030204" pitchFamily="18" charset="0"/>
                <a:hlinkClick r:id="rId2" action="ppaction://hlinksldjump">
                  <a:extLst>
                    <a:ext uri="{A12FA001-AC4F-418D-AE19-62706E023703}">
                      <ahyp:hlinkClr xmlns:ahyp="http://schemas.microsoft.com/office/drawing/2018/hyperlinkcolor" val="tx"/>
                    </a:ext>
                  </a:extLst>
                </a:hlinkClick>
              </a:rPr>
              <a:t>рисунке</a:t>
            </a:r>
            <a:r>
              <a:rPr lang="ru-RU" dirty="0">
                <a:latin typeface="Cambria" panose="02040503050406030204" pitchFamily="18" charset="0"/>
                <a:ea typeface="Cambria" panose="02040503050406030204" pitchFamily="18" charset="0"/>
              </a:rPr>
              <a:t>. Определение физического адреса этого файла включает следующие этапы:</a:t>
            </a:r>
          </a:p>
          <a:p>
            <a:pPr marL="0" indent="0">
              <a:buNone/>
            </a:pPr>
            <a:r>
              <a:rPr lang="ru-RU" dirty="0">
                <a:latin typeface="Cambria" panose="02040503050406030204" pitchFamily="18" charset="0"/>
                <a:ea typeface="Cambria" panose="02040503050406030204" pitchFamily="18" charset="0"/>
              </a:rPr>
              <a:t>1. Прежде всего, просматривается корневой каталог с целью поиска первой составляющей символьного имени – </a:t>
            </a:r>
            <a:r>
              <a:rPr lang="ru-RU" dirty="0" err="1">
                <a:latin typeface="Cambria" panose="02040503050406030204" pitchFamily="18" charset="0"/>
                <a:ea typeface="Cambria" panose="02040503050406030204" pitchFamily="18" charset="0"/>
              </a:rPr>
              <a:t>bin</a:t>
            </a:r>
            <a:r>
              <a:rPr lang="ru-RU" dirty="0">
                <a:latin typeface="Cambria" panose="02040503050406030204" pitchFamily="18" charset="0"/>
                <a:ea typeface="Cambria" panose="02040503050406030204" pitchFamily="18" charset="0"/>
              </a:rPr>
              <a:t>. Определяется номер (в данном примере – 6) индексного дескриптора каталога, входящего в корневой каталог. Адрес корневого каталога известен системе</a:t>
            </a:r>
          </a:p>
          <a:p>
            <a:pPr marL="0" indent="0">
              <a:buNone/>
            </a:pPr>
            <a:r>
              <a:rPr lang="ru-RU" dirty="0">
                <a:latin typeface="Cambria" panose="02040503050406030204" pitchFamily="18" charset="0"/>
                <a:ea typeface="Cambria" panose="02040503050406030204" pitchFamily="18" charset="0"/>
              </a:rPr>
              <a:t>2. Из области индексных дескрипторов считывается дескриптор с номером 6. Начальный адрес дескриптора определяется на основании известных системе номера начального сектора области индексных дескрипторов и размера индексного дескриптора. Из индексного дескриптора 6 определяется физический адрес каталога /</a:t>
            </a:r>
            <a:r>
              <a:rPr lang="ru-RU" dirty="0" err="1">
                <a:latin typeface="Cambria" panose="02040503050406030204" pitchFamily="18" charset="0"/>
                <a:ea typeface="Cambria" panose="02040503050406030204" pitchFamily="18" charset="0"/>
              </a:rPr>
              <a:t>bin</a:t>
            </a: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s5 и </a:t>
                      </a:r>
                      <a:r>
                        <a:rPr lang="ru-RU" sz="4000" dirty="0" err="1">
                          <a:latin typeface="Cambria" panose="02040503050406030204" pitchFamily="18" charset="0"/>
                          <a:ea typeface="Cambria" panose="02040503050406030204" pitchFamily="18" charset="0"/>
                        </a:rPr>
                        <a:t>ufs</a:t>
                      </a:r>
                      <a:endParaRPr lang="ru-RU" sz="40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802638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474452"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3. Просматривается каталог /</a:t>
            </a:r>
            <a:r>
              <a:rPr lang="ru-RU" dirty="0" err="1">
                <a:latin typeface="Cambria" panose="02040503050406030204" pitchFamily="18" charset="0"/>
                <a:ea typeface="Cambria" panose="02040503050406030204" pitchFamily="18" charset="0"/>
              </a:rPr>
              <a:t>bin</a:t>
            </a:r>
            <a:r>
              <a:rPr lang="ru-RU" dirty="0">
                <a:latin typeface="Cambria" panose="02040503050406030204" pitchFamily="18" charset="0"/>
                <a:ea typeface="Cambria" panose="02040503050406030204" pitchFamily="18" charset="0"/>
              </a:rPr>
              <a:t> с целью поиска второй составляющей символьного имени </a:t>
            </a:r>
            <a:r>
              <a:rPr lang="ru-RU" dirty="0" err="1">
                <a:latin typeface="Cambria" panose="02040503050406030204" pitchFamily="18" charset="0"/>
                <a:ea typeface="Cambria" panose="02040503050406030204" pitchFamily="18" charset="0"/>
              </a:rPr>
              <a:t>my_shell</a:t>
            </a:r>
            <a:r>
              <a:rPr lang="ru-RU" dirty="0">
                <a:latin typeface="Cambria" panose="02040503050406030204" pitchFamily="18" charset="0"/>
                <a:ea typeface="Cambria" panose="02040503050406030204" pitchFamily="18" charset="0"/>
              </a:rPr>
              <a:t>. Определяется номер индексного дескриптора каталога /</a:t>
            </a:r>
            <a:r>
              <a:rPr lang="ru-RU" dirty="0" err="1">
                <a:latin typeface="Cambria" panose="02040503050406030204" pitchFamily="18" charset="0"/>
                <a:ea typeface="Cambria" panose="02040503050406030204" pitchFamily="18" charset="0"/>
              </a:rPr>
              <a:t>bin</a:t>
            </a:r>
            <a:r>
              <a:rPr lang="ru-RU" dirty="0">
                <a:latin typeface="Cambria" panose="02040503050406030204" pitchFamily="18" charset="0"/>
                <a:ea typeface="Cambria" panose="02040503050406030204" pitchFamily="18" charset="0"/>
              </a:rPr>
              <a:t>/</a:t>
            </a:r>
            <a:r>
              <a:rPr lang="ru-RU" dirty="0" err="1">
                <a:latin typeface="Cambria" panose="02040503050406030204" pitchFamily="18" charset="0"/>
                <a:ea typeface="Cambria" panose="02040503050406030204" pitchFamily="18" charset="0"/>
              </a:rPr>
              <a:t>ray_shell</a:t>
            </a:r>
            <a:r>
              <a:rPr lang="ru-RU" dirty="0">
                <a:latin typeface="Cambria" panose="02040503050406030204" pitchFamily="18" charset="0"/>
                <a:ea typeface="Cambria" panose="02040503050406030204" pitchFamily="18" charset="0"/>
              </a:rPr>
              <a:t> (в данном случае – 25)</a:t>
            </a:r>
          </a:p>
          <a:p>
            <a:pPr marL="0" indent="0">
              <a:buNone/>
            </a:pPr>
            <a:r>
              <a:rPr lang="ru-RU" dirty="0">
                <a:latin typeface="Cambria" panose="02040503050406030204" pitchFamily="18" charset="0"/>
                <a:ea typeface="Cambria" panose="02040503050406030204" pitchFamily="18" charset="0"/>
              </a:rPr>
              <a:t>4. Считывается индексный дескриптор 25, определяется физический адрес /</a:t>
            </a:r>
            <a:r>
              <a:rPr lang="ru-RU" dirty="0" err="1">
                <a:latin typeface="Cambria" panose="02040503050406030204" pitchFamily="18" charset="0"/>
                <a:ea typeface="Cambria" panose="02040503050406030204" pitchFamily="18" charset="0"/>
              </a:rPr>
              <a:t>bin</a:t>
            </a:r>
            <a:r>
              <a:rPr lang="ru-RU" dirty="0">
                <a:latin typeface="Cambria" panose="02040503050406030204" pitchFamily="18" charset="0"/>
                <a:ea typeface="Cambria" panose="02040503050406030204" pitchFamily="18" charset="0"/>
              </a:rPr>
              <a:t>/</a:t>
            </a:r>
            <a:r>
              <a:rPr lang="ru-RU" dirty="0" err="1">
                <a:latin typeface="Cambria" panose="02040503050406030204" pitchFamily="18" charset="0"/>
                <a:ea typeface="Cambria" panose="02040503050406030204" pitchFamily="18" charset="0"/>
              </a:rPr>
              <a:t>my_shell</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5. Просматривается каталог /</a:t>
            </a:r>
            <a:r>
              <a:rPr lang="ru-RU" dirty="0" err="1">
                <a:latin typeface="Cambria" panose="02040503050406030204" pitchFamily="18" charset="0"/>
                <a:ea typeface="Cambria" panose="02040503050406030204" pitchFamily="18" charset="0"/>
              </a:rPr>
              <a:t>bi</a:t>
            </a:r>
            <a:r>
              <a:rPr lang="ru-RU" dirty="0">
                <a:latin typeface="Cambria" panose="02040503050406030204" pitchFamily="18" charset="0"/>
                <a:ea typeface="Cambria" panose="02040503050406030204" pitchFamily="18" charset="0"/>
              </a:rPr>
              <a:t> n/</a:t>
            </a:r>
            <a:r>
              <a:rPr lang="ru-RU" dirty="0" err="1">
                <a:latin typeface="Cambria" panose="02040503050406030204" pitchFamily="18" charset="0"/>
                <a:ea typeface="Cambria" panose="02040503050406030204" pitchFamily="18" charset="0"/>
              </a:rPr>
              <a:t>my_shelL</a:t>
            </a:r>
            <a:r>
              <a:rPr lang="ru-RU" dirty="0">
                <a:latin typeface="Cambria" panose="02040503050406030204" pitchFamily="18" charset="0"/>
                <a:ea typeface="Cambria" panose="02040503050406030204" pitchFamily="18" charset="0"/>
              </a:rPr>
              <a:t>, определяется номер индексного дескриптора файла </a:t>
            </a:r>
            <a:r>
              <a:rPr lang="ru-RU" dirty="0" err="1">
                <a:latin typeface="Cambria" panose="02040503050406030204" pitchFamily="18" charset="0"/>
                <a:ea typeface="Cambria" panose="02040503050406030204" pitchFamily="18" charset="0"/>
              </a:rPr>
              <a:t>print</a:t>
            </a:r>
            <a:r>
              <a:rPr lang="ru-RU" dirty="0">
                <a:latin typeface="Cambria" panose="02040503050406030204" pitchFamily="18" charset="0"/>
                <a:ea typeface="Cambria" panose="02040503050406030204" pitchFamily="18" charset="0"/>
              </a:rPr>
              <a:t> (в данном случае – 131)</a:t>
            </a:r>
          </a:p>
          <a:p>
            <a:pPr marL="0" indent="0">
              <a:buNone/>
            </a:pPr>
            <a:r>
              <a:rPr lang="ru-RU" dirty="0">
                <a:latin typeface="Cambria" panose="02040503050406030204" pitchFamily="18" charset="0"/>
                <a:ea typeface="Cambria" panose="02040503050406030204" pitchFamily="18" charset="0"/>
              </a:rPr>
              <a:t>6. Из индексного дескриптора 131 определяются номера блоков данных, а так же другие характеристики файла /</a:t>
            </a:r>
            <a:r>
              <a:rPr lang="ru-RU" dirty="0" err="1">
                <a:latin typeface="Cambria" panose="02040503050406030204" pitchFamily="18" charset="0"/>
                <a:ea typeface="Cambria" panose="02040503050406030204" pitchFamily="18" charset="0"/>
              </a:rPr>
              <a:t>bin</a:t>
            </a:r>
            <a:r>
              <a:rPr lang="ru-RU" dirty="0">
                <a:latin typeface="Cambria" panose="02040503050406030204" pitchFamily="18" charset="0"/>
                <a:ea typeface="Cambria" panose="02040503050406030204" pitchFamily="18" charset="0"/>
              </a:rPr>
              <a:t>/</a:t>
            </a:r>
            <a:r>
              <a:rPr lang="ru-RU" dirty="0" err="1">
                <a:latin typeface="Cambria" panose="02040503050406030204" pitchFamily="18" charset="0"/>
                <a:ea typeface="Cambria" panose="02040503050406030204" pitchFamily="18" charset="0"/>
              </a:rPr>
              <a:t>my_shell</a:t>
            </a:r>
            <a:r>
              <a:rPr lang="ru-RU" dirty="0">
                <a:latin typeface="Cambria" panose="02040503050406030204" pitchFamily="18" charset="0"/>
                <a:ea typeface="Cambria" panose="02040503050406030204" pitchFamily="18" charset="0"/>
              </a:rPr>
              <a:t>/</a:t>
            </a:r>
            <a:r>
              <a:rPr lang="ru-RU" dirty="0" err="1">
                <a:latin typeface="Cambria" panose="02040503050406030204" pitchFamily="18" charset="0"/>
                <a:ea typeface="Cambria" panose="02040503050406030204" pitchFamily="18" charset="0"/>
              </a:rPr>
              <a:t>print</a:t>
            </a: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s5 и </a:t>
                      </a:r>
                      <a:r>
                        <a:rPr lang="ru-RU" sz="4000" dirty="0" err="1">
                          <a:latin typeface="Cambria" panose="02040503050406030204" pitchFamily="18" charset="0"/>
                          <a:ea typeface="Cambria" panose="02040503050406030204" pitchFamily="18" charset="0"/>
                        </a:rPr>
                        <a:t>ufs</a:t>
                      </a:r>
                      <a:endParaRPr lang="ru-RU" sz="40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586286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C946D5F-550F-E091-9654-45E620194C63}"/>
              </a:ext>
            </a:extLst>
          </p:cNvPr>
          <p:cNvPicPr>
            <a:picLocks noChangeAspect="1"/>
          </p:cNvPicPr>
          <p:nvPr/>
        </p:nvPicPr>
        <p:blipFill>
          <a:blip r:embed="rId2"/>
          <a:stretch>
            <a:fillRect/>
          </a:stretch>
        </p:blipFill>
        <p:spPr>
          <a:xfrm>
            <a:off x="1901711" y="0"/>
            <a:ext cx="8388577" cy="6858000"/>
          </a:xfrm>
          <a:prstGeom prst="rect">
            <a:avLst/>
          </a:prstGeom>
        </p:spPr>
      </p:pic>
    </p:spTree>
    <p:extLst>
      <p:ext uri="{BB962C8B-B14F-4D97-AF65-F5344CB8AC3E}">
        <p14:creationId xmlns:p14="http://schemas.microsoft.com/office/powerpoint/2010/main" val="241795927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474452"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Эта процедура требует в общем случае нескольких обращений к диску, пропорционально числу составляющих в полном имени файла</a:t>
            </a:r>
          </a:p>
          <a:p>
            <a:pPr marL="0" indent="0">
              <a:buNone/>
            </a:pPr>
            <a:r>
              <a:rPr lang="ru-RU" dirty="0">
                <a:latin typeface="Cambria" panose="02040503050406030204" pitchFamily="18" charset="0"/>
                <a:ea typeface="Cambria" panose="02040503050406030204" pitchFamily="18" charset="0"/>
              </a:rPr>
              <a:t>Для уменьшения среднего времени доступа к файлу его дескриптор копируется в специальную системную область оперативной памяти. Копирование индексного дескриптора входит в процедуру открытия файла</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s5 и </a:t>
                      </a:r>
                      <a:r>
                        <a:rPr lang="ru-RU" sz="4000" dirty="0" err="1">
                          <a:latin typeface="Cambria" panose="02040503050406030204" pitchFamily="18" charset="0"/>
                          <a:ea typeface="Cambria" panose="02040503050406030204" pitchFamily="18" charset="0"/>
                        </a:rPr>
                        <a:t>ufs</a:t>
                      </a:r>
                      <a:endParaRPr lang="ru-RU" sz="40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4703409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474452"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Физическая организация файловой системы </a:t>
            </a:r>
            <a:r>
              <a:rPr lang="ru-RU" dirty="0" err="1">
                <a:latin typeface="Cambria" panose="02040503050406030204" pitchFamily="18" charset="0"/>
                <a:ea typeface="Cambria" panose="02040503050406030204" pitchFamily="18" charset="0"/>
              </a:rPr>
              <a:t>ufs</a:t>
            </a:r>
            <a:r>
              <a:rPr lang="ru-RU" dirty="0">
                <a:latin typeface="Cambria" panose="02040503050406030204" pitchFamily="18" charset="0"/>
                <a:ea typeface="Cambria" panose="02040503050406030204" pitchFamily="18" charset="0"/>
              </a:rPr>
              <a:t> отличается от описанной физической организации файловой системы s5 тем, что раздел состоит из повторяющейся несколько раз последовательности областей «загрузочный блок – суперблок – блок группы цилиндров – область индексных дескрипторов»</a:t>
            </a:r>
          </a:p>
          <a:p>
            <a:pPr marL="0" indent="0">
              <a:buNone/>
            </a:pPr>
            <a:r>
              <a:rPr lang="ru-RU" dirty="0">
                <a:latin typeface="Cambria" panose="02040503050406030204" pitchFamily="18" charset="0"/>
                <a:ea typeface="Cambria" panose="02040503050406030204" pitchFamily="18" charset="0"/>
              </a:rPr>
              <a:t>В этих повторяющихся последовательностях областей суперблок является резервной копией основной первой копии суперблока</a:t>
            </a:r>
          </a:p>
          <a:p>
            <a:pPr marL="0" indent="0">
              <a:buNone/>
            </a:pPr>
            <a:r>
              <a:rPr lang="ru-RU" dirty="0">
                <a:latin typeface="Cambria" panose="02040503050406030204" pitchFamily="18" charset="0"/>
                <a:ea typeface="Cambria" panose="02040503050406030204" pitchFamily="18" charset="0"/>
              </a:rPr>
              <a:t>При повреждении основной копии суперблока может быть использована резервная копия суперблока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s5 и </a:t>
                      </a:r>
                      <a:r>
                        <a:rPr lang="ru-RU" sz="4000" dirty="0" err="1">
                          <a:latin typeface="Cambria" panose="02040503050406030204" pitchFamily="18" charset="0"/>
                          <a:ea typeface="Cambria" panose="02040503050406030204" pitchFamily="18" charset="0"/>
                        </a:rPr>
                        <a:t>ufs</a:t>
                      </a:r>
                      <a:endParaRPr lang="ru-RU" sz="40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004807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s5 и </a:t>
                      </a:r>
                      <a:r>
                        <a:rPr lang="ru-RU" sz="4000" dirty="0" err="1">
                          <a:latin typeface="Cambria" panose="02040503050406030204" pitchFamily="18" charset="0"/>
                          <a:ea typeface="Cambria" panose="02040503050406030204" pitchFamily="18" charset="0"/>
                        </a:rPr>
                        <a:t>ufs</a:t>
                      </a:r>
                      <a:endParaRPr lang="ru-RU" sz="40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6CDE303D-2832-90C3-726D-4E3D08AFCC8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252112" y="1566862"/>
            <a:ext cx="3687775" cy="5191125"/>
          </a:xfrm>
          <a:prstGeom prst="rect">
            <a:avLst/>
          </a:prstGeom>
        </p:spPr>
      </p:pic>
    </p:spTree>
    <p:extLst>
      <p:ext uri="{BB962C8B-B14F-4D97-AF65-F5344CB8AC3E}">
        <p14:creationId xmlns:p14="http://schemas.microsoft.com/office/powerpoint/2010/main" val="40964205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474452"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Области же блока группы цилиндров и индексных дескрипторов содержат индивидуальные для каждой последовательности значения</a:t>
            </a:r>
          </a:p>
          <a:p>
            <a:pPr marL="0" indent="0">
              <a:buNone/>
            </a:pPr>
            <a:r>
              <a:rPr lang="ru-RU" dirty="0">
                <a:latin typeface="Cambria" panose="02040503050406030204" pitchFamily="18" charset="0"/>
                <a:ea typeface="Cambria" panose="02040503050406030204" pitchFamily="18" charset="0"/>
              </a:rPr>
              <a:t>Блок группы цилиндров описывает количество индексных дескрипторов и блоков данных, расположенных на данной группе цилиндров диска </a:t>
            </a:r>
          </a:p>
          <a:p>
            <a:pPr marL="0" indent="0">
              <a:buNone/>
            </a:pPr>
            <a:r>
              <a:rPr lang="ru-RU" dirty="0">
                <a:latin typeface="Cambria" panose="02040503050406030204" pitchFamily="18" charset="0"/>
                <a:ea typeface="Cambria" panose="02040503050406030204" pitchFamily="18" charset="0"/>
              </a:rPr>
              <a:t>Такая группировка делается для ускорения доступа, чтобы просмотр индексных дескрипторов и данных файлов, описываемых этими дескрипторами, не приводил к слишком большим перемещениям головок диска</a:t>
            </a:r>
          </a:p>
          <a:p>
            <a:pPr marL="0" indent="0">
              <a:buNone/>
            </a:pPr>
            <a:r>
              <a:rPr lang="ru-RU" dirty="0">
                <a:latin typeface="Cambria" panose="02040503050406030204" pitchFamily="18" charset="0"/>
                <a:ea typeface="Cambria" panose="02040503050406030204" pitchFamily="18" charset="0"/>
              </a:rPr>
              <a:t>Кроме того, в </a:t>
            </a:r>
            <a:r>
              <a:rPr lang="ru-RU" dirty="0" err="1">
                <a:latin typeface="Cambria" panose="02040503050406030204" pitchFamily="18" charset="0"/>
                <a:ea typeface="Cambria" panose="02040503050406030204" pitchFamily="18" charset="0"/>
              </a:rPr>
              <a:t>ufs</a:t>
            </a:r>
            <a:r>
              <a:rPr lang="ru-RU" dirty="0">
                <a:latin typeface="Cambria" panose="02040503050406030204" pitchFamily="18" charset="0"/>
                <a:ea typeface="Cambria" panose="02040503050406030204" pitchFamily="18" charset="0"/>
              </a:rPr>
              <a:t> имена файлов могут иметь длину до 255 символов (кодировка ASCII, по одному байту на символ), в то время как в s5 длина имени не может превышать 14 символов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dirty="0">
                          <a:latin typeface="Cambria" panose="02040503050406030204" pitchFamily="18" charset="0"/>
                          <a:ea typeface="Cambria" panose="02040503050406030204" pitchFamily="18" charset="0"/>
                        </a:rPr>
                        <a:t>Физическая организация s5 и </a:t>
                      </a:r>
                      <a:r>
                        <a:rPr lang="ru-RU" sz="4000" dirty="0" err="1">
                          <a:latin typeface="Cambria" panose="02040503050406030204" pitchFamily="18" charset="0"/>
                          <a:ea typeface="Cambria" panose="02040503050406030204" pitchFamily="18" charset="0"/>
                        </a:rPr>
                        <a:t>ufs</a:t>
                      </a:r>
                      <a:endParaRPr lang="ru-RU" sz="40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3179270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2013068" y="3635622"/>
            <a:ext cx="8165864" cy="461839"/>
          </a:xfrm>
          <a:effectLst>
            <a:outerShdw blurRad="50800" dist="38100" dir="2700000" algn="tl" rotWithShape="0">
              <a:prstClr val="black">
                <a:alpha val="40000"/>
              </a:prstClr>
            </a:outerShdw>
          </a:effectLst>
        </p:spPr>
        <p:txBody>
          <a:bodyPr>
            <a:noAutofit/>
          </a:bodyPr>
          <a:lstStyle/>
          <a:p>
            <a:r>
              <a:rPr lang="ru-RU" sz="2800" b="1" dirty="0">
                <a:latin typeface="Verdana" panose="020B0604030504040204" pitchFamily="34" charset="0"/>
                <a:ea typeface="Verdana" panose="020B0604030504040204" pitchFamily="34" charset="0"/>
              </a:rPr>
              <a:t>Физическая организация файловой системы</a:t>
            </a:r>
          </a:p>
        </p:txBody>
      </p:sp>
      <p:sp>
        <p:nvSpPr>
          <p:cNvPr id="4" name="TextBox 3">
            <a:extLst>
              <a:ext uri="{FF2B5EF4-FFF2-40B4-BE49-F238E27FC236}">
                <a16:creationId xmlns:a16="http://schemas.microsoft.com/office/drawing/2014/main" id="{6BD3AED9-28E1-DDF9-E07D-185D5DD54F4C}"/>
              </a:ext>
            </a:extLst>
          </p:cNvPr>
          <p:cNvSpPr txBox="1"/>
          <p:nvPr/>
        </p:nvSpPr>
        <p:spPr>
          <a:xfrm>
            <a:off x="3200402"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147592" y="3051019"/>
            <a:ext cx="1896821"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a:t>
            </a:r>
            <a:r>
              <a:rPr lang="en-US" sz="2800" dirty="0">
                <a:latin typeface="Cambria" panose="02040503050406030204" pitchFamily="18" charset="0"/>
                <a:ea typeface="Cambria" panose="02040503050406030204" pitchFamily="18" charset="0"/>
              </a:rPr>
              <a:t>16</a:t>
            </a:r>
            <a:endParaRPr lang="ru-RU" sz="2800" dirty="0">
              <a:latin typeface="Cambria" panose="02040503050406030204" pitchFamily="18" charset="0"/>
              <a:ea typeface="Cambria" panose="02040503050406030204" pitchFamily="18" charset="0"/>
            </a:endParaRP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a:cxnSpLocks/>
          </p:cNvCxnSpPr>
          <p:nvPr/>
        </p:nvCxnSpPr>
        <p:spPr>
          <a:xfrm>
            <a:off x="4341228"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37478258"/>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38150</TotalTime>
  <Words>5141</Words>
  <Application>Microsoft Office PowerPoint</Application>
  <PresentationFormat>Widescreen</PresentationFormat>
  <Paragraphs>278</Paragraphs>
  <Slides>74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74</vt:i4>
      </vt:variant>
    </vt:vector>
  </HeadingPairs>
  <TitlesOfParts>
    <vt:vector size="82" baseType="lpstr">
      <vt:lpstr>Arial</vt:lpstr>
      <vt:lpstr>Calibri</vt:lpstr>
      <vt:lpstr>Calibri Light</vt:lpstr>
      <vt:lpstr>Cambria</vt:lpstr>
      <vt:lpstr>TimesNewRomanPSMT</vt:lpstr>
      <vt:lpstr>Verdana</vt:lpstr>
      <vt:lpstr>Wingdings</vt:lpstr>
      <vt:lpstr>Тема Office</vt:lpstr>
      <vt:lpstr>Операционные системы</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Операционные системы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Pavel Bernatsky</dc:creator>
  <cp:lastModifiedBy>Pavel Bernatsky</cp:lastModifiedBy>
  <cp:revision>1873</cp:revision>
  <cp:lastPrinted>2025-11-01T06:17:20Z</cp:lastPrinted>
  <dcterms:created xsi:type="dcterms:W3CDTF">2024-09-04T11:03:42Z</dcterms:created>
  <dcterms:modified xsi:type="dcterms:W3CDTF">2025-12-22T06:54:16Z</dcterms:modified>
</cp:coreProperties>
</file>