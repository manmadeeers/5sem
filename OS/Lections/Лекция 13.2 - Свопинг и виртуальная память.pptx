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56" r:id="rId2"/>
    <p:sldId id="322" r:id="rId3"/>
    <p:sldId id="2435" r:id="rId4"/>
    <p:sldId id="2437" r:id="rId5"/>
    <p:sldId id="2438" r:id="rId6"/>
    <p:sldId id="2439" r:id="rId7"/>
    <p:sldId id="2440" r:id="rId8"/>
    <p:sldId id="2441" r:id="rId9"/>
    <p:sldId id="2442" r:id="rId10"/>
    <p:sldId id="2443" r:id="rId11"/>
    <p:sldId id="2448" r:id="rId12"/>
    <p:sldId id="2444" r:id="rId13"/>
    <p:sldId id="2445" r:id="rId14"/>
    <p:sldId id="2446" r:id="rId15"/>
    <p:sldId id="2452" r:id="rId16"/>
    <p:sldId id="2453" r:id="rId17"/>
    <p:sldId id="2449" r:id="rId18"/>
    <p:sldId id="2450" r:id="rId19"/>
    <p:sldId id="2451" r:id="rId20"/>
    <p:sldId id="2447" r:id="rId21"/>
    <p:sldId id="2454" r:id="rId22"/>
    <p:sldId id="2455" r:id="rId23"/>
    <p:sldId id="2456" r:id="rId24"/>
    <p:sldId id="2457" r:id="rId25"/>
    <p:sldId id="2458" r:id="rId26"/>
    <p:sldId id="2436" r:id="rId27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465B88BE-7067-4E01-A3DC-10AFCF848BC8}">
          <p14:sldIdLst>
            <p14:sldId id="256"/>
            <p14:sldId id="322"/>
            <p14:sldId id="2435"/>
            <p14:sldId id="2437"/>
            <p14:sldId id="2438"/>
            <p14:sldId id="2439"/>
            <p14:sldId id="2440"/>
            <p14:sldId id="2441"/>
            <p14:sldId id="2442"/>
            <p14:sldId id="2443"/>
            <p14:sldId id="2448"/>
            <p14:sldId id="2444"/>
            <p14:sldId id="2445"/>
            <p14:sldId id="2446"/>
            <p14:sldId id="2452"/>
            <p14:sldId id="2453"/>
            <p14:sldId id="2449"/>
            <p14:sldId id="2450"/>
            <p14:sldId id="2451"/>
            <p14:sldId id="2447"/>
            <p14:sldId id="2454"/>
            <p14:sldId id="2455"/>
            <p14:sldId id="2456"/>
            <p14:sldId id="2457"/>
            <p14:sldId id="2458"/>
            <p14:sldId id="243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avel Bernatsky" initials="PB" lastIdx="1" clrIdx="0">
    <p:extLst>
      <p:ext uri="{19B8F6BF-5375-455C-9EA6-DF929625EA0E}">
        <p15:presenceInfo xmlns:p15="http://schemas.microsoft.com/office/powerpoint/2012/main" userId="ccc84f90653f6d99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831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70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E1C54A-6947-426C-B525-F25AAC6D8000}" type="datetimeFigureOut">
              <a:rPr lang="LID4096" smtClean="0"/>
              <a:t>12/13/2025</a:t>
            </a:fld>
            <a:endParaRPr lang="LID4096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ID4096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5E16E5-A75C-4DD5-8B93-6FB68F18C13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609758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47616F-E2AF-5AFF-C83A-FE3735AD8C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FF40183-988B-BA61-B91E-493895FD9C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LID4096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F93C7B4-DBE6-06CE-CFC7-F4ED4D997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700BE-7692-4207-B54B-A48E0B87749C}" type="datetimeFigureOut">
              <a:rPr lang="LID4096" smtClean="0"/>
              <a:t>12/13/2025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B5BB8FF-A395-C430-3789-0945A5312B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9F6F5BE-4CB2-9257-FD2E-739215DBF0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14CC9-68D5-47AD-8438-7B4A21BFF56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0954622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F2D562-7427-3307-029D-4B44232FB0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B8B9DD3-38AD-093A-348B-69D8AF9585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F409026-C297-8D81-0690-BCF909A21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700BE-7692-4207-B54B-A48E0B87749C}" type="datetimeFigureOut">
              <a:rPr lang="LID4096" smtClean="0"/>
              <a:t>12/13/2025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3B93BB5-71D6-265C-76BF-7BA55253D9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5B812ED-7C3E-2E99-174E-7CBA5506E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14CC9-68D5-47AD-8438-7B4A21BFF56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9283644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27F112-08AD-1D83-FA9D-D723E27CAE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9D4462B-7C02-3784-D700-720E99BA1E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7B8AEC1-27F7-FAA3-29A1-66B8783B8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700BE-7692-4207-B54B-A48E0B87749C}" type="datetimeFigureOut">
              <a:rPr lang="LID4096" smtClean="0"/>
              <a:t>12/13/2025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59F6EE4-5AF4-CE7C-B7F4-C587BFECE7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9262F68-CBA3-0915-2295-961EC87EC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14CC9-68D5-47AD-8438-7B4A21BFF56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627019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EAAB05-2830-EFAE-DE4B-ACD17427A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14D6307-654D-D982-4407-B8F3D79466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E186F62-1DB1-3C6F-EA13-795572FAE5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7940FA2-011F-64EB-05FB-8559EF7752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700BE-7692-4207-B54B-A48E0B87749C}" type="datetimeFigureOut">
              <a:rPr lang="LID4096" smtClean="0"/>
              <a:t>12/13/2025</a:t>
            </a:fld>
            <a:endParaRPr lang="LID4096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D7AD932-F2FD-1AF1-F4D9-F5E82D0C68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3145922-4144-9D1A-7394-C37497389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14CC9-68D5-47AD-8438-7B4A21BFF56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693752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4C79E9-E032-A699-2CFB-44AC928323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B2F1728-CD76-7149-9437-8308AF8E6C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E31FA6F-EC02-4DE3-6650-B80F00E860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B6F9C784-C313-EF39-B97C-F19B68E627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B9EC93D1-A12D-D057-6BE7-78586123AF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339B00CC-01F6-7087-C302-940F9C98E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700BE-7692-4207-B54B-A48E0B87749C}" type="datetimeFigureOut">
              <a:rPr lang="LID4096" smtClean="0"/>
              <a:t>12/13/2025</a:t>
            </a:fld>
            <a:endParaRPr lang="LID4096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6EBCC5B-A9F4-C18A-35F5-2949CEAAC7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E3B8B959-499F-742D-E1FF-78941C4BC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14CC9-68D5-47AD-8438-7B4A21BFF56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110290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1B2447-25C4-6DCF-DAD4-FEDF21FF17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F846070A-CABC-8A01-79F7-51A84F443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700BE-7692-4207-B54B-A48E0B87749C}" type="datetimeFigureOut">
              <a:rPr lang="LID4096" smtClean="0"/>
              <a:t>12/13/2025</a:t>
            </a:fld>
            <a:endParaRPr lang="LID4096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36485DBC-EE1F-353D-3249-9E99780A50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FD416B2-2B57-8CF9-D053-EF6A7AB1F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14CC9-68D5-47AD-8438-7B4A21BFF56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2366943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AA9FDE4F-142C-5FCB-A615-EDAA13534A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700BE-7692-4207-B54B-A48E0B87749C}" type="datetimeFigureOut">
              <a:rPr lang="LID4096" smtClean="0"/>
              <a:t>12/13/2025</a:t>
            </a:fld>
            <a:endParaRPr lang="LID4096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0B6EB5D2-B75C-FB77-8F63-19FA53844E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BB97733-0993-8A78-D35D-65EA8B9F8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14CC9-68D5-47AD-8438-7B4A21BFF56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000510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D8FC8E-4425-CC0C-710F-98C6425E3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473CCAC-EA76-40D6-17B2-7C2AFD4353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3FDA7B0-EDAC-58A1-8AED-C4E8D631B6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7C5F31B-981C-419A-6E49-3095113FB2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700BE-7692-4207-B54B-A48E0B87749C}" type="datetimeFigureOut">
              <a:rPr lang="LID4096" smtClean="0"/>
              <a:t>12/13/2025</a:t>
            </a:fld>
            <a:endParaRPr lang="LID4096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98C04E2-0ACD-F790-199B-7863EDE027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70F2067-A078-C57A-9204-3A8B2F260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14CC9-68D5-47AD-8438-7B4A21BFF56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39211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129DED-D98F-B6A2-AD7C-772F99A344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300C5605-1482-0713-0D51-A3FAC78156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6A60C0B-E2FB-D11A-ADBF-D996E01CFA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4DE09DD-B690-CF21-DFC4-F02331B63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700BE-7692-4207-B54B-A48E0B87749C}" type="datetimeFigureOut">
              <a:rPr lang="LID4096" smtClean="0"/>
              <a:t>12/13/2025</a:t>
            </a:fld>
            <a:endParaRPr lang="LID4096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D16318B-2EDE-3598-7847-C4B4239553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97F3B72-6E6E-8853-E9C1-9458DC7C6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14CC9-68D5-47AD-8438-7B4A21BFF56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2114097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1432ABC-7F92-53F8-6B38-14EBA795ED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C74F8DD-3073-73DB-0FEC-83EE799CF0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D52118E-3EA2-A9A4-2BC2-E44B3237E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700BE-7692-4207-B54B-A48E0B87749C}" type="datetimeFigureOut">
              <a:rPr lang="LID4096" smtClean="0"/>
              <a:t>12/13/2025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F9690F8-6FA6-1F50-D67E-E66228911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D72A8B7-B8F9-CA99-A4E2-0D1A64111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14CC9-68D5-47AD-8438-7B4A21BFF56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6926785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704C6878-D0A6-5DB7-DDA4-5524F63A10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4290E6A-E317-C5F4-3234-CA514674E1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927F236-BB3C-2C98-8A01-D57936776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700BE-7692-4207-B54B-A48E0B87749C}" type="datetimeFigureOut">
              <a:rPr lang="LID4096" smtClean="0"/>
              <a:t>12/13/2025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FB6E046-C620-4F58-405E-9C01035990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D06496C-B074-7D9D-1BB6-63F00672A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14CC9-68D5-47AD-8438-7B4A21BFF56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018114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8D0170-EF02-F5B2-75D2-863D125522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17FE9A8-6239-E8DA-5893-CC54DCF5A6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5C7A97B-8B60-4C6E-4780-AF77C5AA11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4700BE-7692-4207-B54B-A48E0B87749C}" type="datetimeFigureOut">
              <a:rPr lang="LID4096" smtClean="0"/>
              <a:t>12/13/2025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09804F4-87F9-55E6-92A8-EB0A9D1E61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E4F28E9-786F-C124-9986-B7AAB37E4D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414CC9-68D5-47AD-8438-7B4A21BFF56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5003678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www.kernel.org/doc/html/v5.8/x86/x86_64/mm.html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windows/win32/api/sysinfoapi/nf-sysinfoapi-globalmemorystatusex" TargetMode="External"/><Relationship Id="rId7" Type="http://schemas.openxmlformats.org/officeDocument/2006/relationships/hyperlink" Target="https://pubs.opengroup.org/onlinepubs/9799919799/functions/sysconf.html" TargetMode="External"/><Relationship Id="rId2" Type="http://schemas.openxmlformats.org/officeDocument/2006/relationships/hyperlink" Target="https://learn.microsoft.com/en-us/windows/win32/api/sysinfoapi/nf-sysinfoapi-getsysteminfo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pubs.opengroup.org/onlinepubs/9799919799/functions/getrlimit.html" TargetMode="External"/><Relationship Id="rId5" Type="http://schemas.openxmlformats.org/officeDocument/2006/relationships/hyperlink" Target="https://pubs.opengroup.org/onlinepubs/9799919799/functions/getrusage.html" TargetMode="External"/><Relationship Id="rId4" Type="http://schemas.openxmlformats.org/officeDocument/2006/relationships/hyperlink" Target="https://learn.microsoft.com/en-us/windows/win32/api/memoryapi/nf-memoryapi-virtualqueryex" TargetMode="Externa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windows/win32/memory/memory-management-functions#heap-functions" TargetMode="External"/><Relationship Id="rId2" Type="http://schemas.openxmlformats.org/officeDocument/2006/relationships/hyperlink" Target="https://learn.microsoft.com/en-us/windows/win32/memory/memory-management-functions#virtual-memory-functions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learn.microsoft.com/en-us/windows/win32/memory/memory-management-functions#file-mapping-functions" TargetMode="External"/><Relationship Id="rId4" Type="http://schemas.openxmlformats.org/officeDocument/2006/relationships/hyperlink" Target="https://learn.microsoft.com/en-us/windows/win32/memory/memory-management-functions#global-and-local-functions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pubs.opengroup.org/onlinepubs/9799919799/basedefs/stdlib.h.html" TargetMode="External"/><Relationship Id="rId2" Type="http://schemas.openxmlformats.org/officeDocument/2006/relationships/hyperlink" Target="https://pubs.opengroup.org/onlinepubs/9799919799/basedefs/sys_mman.h.html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hyperlink" Target="https://learn.microsoft.com/en-us/windows/desktop/api/memoryapi/nf-memoryapi-virtualunlock" TargetMode="External"/><Relationship Id="rId3" Type="http://schemas.openxmlformats.org/officeDocument/2006/relationships/hyperlink" Target="https://pubs.opengroup.org/onlinepubs/9799919799/functions/mmap.html" TargetMode="External"/><Relationship Id="rId7" Type="http://schemas.openxmlformats.org/officeDocument/2006/relationships/hyperlink" Target="https://learn.microsoft.com/en-us/windows/win32/api/memoryapi/nf-memoryapi-virtuallock" TargetMode="External"/><Relationship Id="rId2" Type="http://schemas.openxmlformats.org/officeDocument/2006/relationships/hyperlink" Target="https://learn.microsoft.com/en-us/windows/win32/api/memoryapi/nf-memoryapi-virtualalloc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pubs.opengroup.org/onlinepubs/9799919799/functions/munmap.html" TargetMode="External"/><Relationship Id="rId11" Type="http://schemas.openxmlformats.org/officeDocument/2006/relationships/hyperlink" Target="https://learn.microsoft.com/en-us/windows/win32/Memory/memory-protection-constants" TargetMode="External"/><Relationship Id="rId5" Type="http://schemas.openxmlformats.org/officeDocument/2006/relationships/hyperlink" Target="https://learn.microsoft.com/en-us/windows/win32/api/memoryapi/nf-memoryapi-virtualfree" TargetMode="External"/><Relationship Id="rId10" Type="http://schemas.openxmlformats.org/officeDocument/2006/relationships/hyperlink" Target="https://learn.microsoft.com/en-us/windows/win32/api/memoryapi/nf-memoryapi-virtualprotect" TargetMode="External"/><Relationship Id="rId4" Type="http://schemas.openxmlformats.org/officeDocument/2006/relationships/hyperlink" Target="https://pubs.opengroup.org/onlinepubs/9799919799/functions/mprotect.html" TargetMode="External"/><Relationship Id="rId9" Type="http://schemas.openxmlformats.org/officeDocument/2006/relationships/hyperlink" Target="https://pubs.opengroup.org/onlinepubs/9799919799/functions/mlock.html" TargetMode="Externa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hyperlink" Target="https://learn.microsoft.com/en-us/previous-versions/aa915312(v=msdn.10)" TargetMode="External"/><Relationship Id="rId13" Type="http://schemas.openxmlformats.org/officeDocument/2006/relationships/hyperlink" Target="https://pubs.opengroup.org/onlinepubs/9799919799/functions/memset.html" TargetMode="External"/><Relationship Id="rId3" Type="http://schemas.openxmlformats.org/officeDocument/2006/relationships/hyperlink" Target="https://learn.microsoft.com/en-us/windows/desktop/api/memoryapi/nf-memoryapi-setprocessworkingsetsize" TargetMode="External"/><Relationship Id="rId7" Type="http://schemas.openxmlformats.org/officeDocument/2006/relationships/hyperlink" Target="https://learn.microsoft.com/en-us/previous-versions/windows/desktop/legacy/aa366877(v=vs.85)" TargetMode="External"/><Relationship Id="rId12" Type="http://schemas.openxmlformats.org/officeDocument/2006/relationships/hyperlink" Target="https://pubs.opengroup.org/onlinepubs/9799919799/functions/memccpy.html" TargetMode="External"/><Relationship Id="rId2" Type="http://schemas.openxmlformats.org/officeDocument/2006/relationships/hyperlink" Target="https://learn.microsoft.com/en-us/windows/desktop/api/memoryapi/nf-memoryapi-getprocessworkingsetsize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learn.microsoft.com/en-us/previous-versions/windows/desktop/legacy/aa366788(v=vs.85)" TargetMode="External"/><Relationship Id="rId11" Type="http://schemas.openxmlformats.org/officeDocument/2006/relationships/hyperlink" Target="https://pubs.opengroup.org/onlinepubs/9799919799/functions/memmove.html" TargetMode="External"/><Relationship Id="rId5" Type="http://schemas.openxmlformats.org/officeDocument/2006/relationships/hyperlink" Target="https://learn.microsoft.com/en-us/previous-versions/windows/desktop/legacy/aa366535(v=vs.85)" TargetMode="External"/><Relationship Id="rId10" Type="http://schemas.openxmlformats.org/officeDocument/2006/relationships/hyperlink" Target="https://pubs.opengroup.org/onlinepubs/9799919799/functions/memcpy.html" TargetMode="External"/><Relationship Id="rId4" Type="http://schemas.openxmlformats.org/officeDocument/2006/relationships/hyperlink" Target="https://learn.microsoft.com/en-us/previous-versions/windows/desktop/legacy/aa366561(v=vs.85)" TargetMode="External"/><Relationship Id="rId9" Type="http://schemas.openxmlformats.org/officeDocument/2006/relationships/hyperlink" Target="https://learn.microsoft.com/en-us/previous-versions/aa909195(v=msdn.10)" TargetMode="Externa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hyperlink" Target="https://learn.microsoft.com/en-us/windows/desktop/api/HeapApi/nf-heapapi-heapfree" TargetMode="External"/><Relationship Id="rId3" Type="http://schemas.openxmlformats.org/officeDocument/2006/relationships/hyperlink" Target="https://learn.microsoft.com/en-us/windows/desktop/api/HeapApi/nf-heapapi-heapalloc" TargetMode="External"/><Relationship Id="rId7" Type="http://schemas.openxmlformats.org/officeDocument/2006/relationships/hyperlink" Target="https://pubs.opengroup.org/onlinepubs/9799919799/functions/realloc.html" TargetMode="External"/><Relationship Id="rId12" Type="http://schemas.openxmlformats.org/officeDocument/2006/relationships/hyperlink" Target="https://www.man7.org/linux/man-pages/man2/brk.2.html" TargetMode="External"/><Relationship Id="rId2" Type="http://schemas.openxmlformats.org/officeDocument/2006/relationships/hyperlink" Target="https://learn.microsoft.com/en-us/windows/desktop/api/HeapApi/nf-heapapi-heapcreate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learn.microsoft.com/en-us/windows/desktop/api/HeapApi/nf-heapapi-heaprealloc" TargetMode="External"/><Relationship Id="rId11" Type="http://schemas.openxmlformats.org/officeDocument/2006/relationships/hyperlink" Target="https://learn.microsoft.com/en-us/windows/desktop/api/HeapApi/nf-heapapi-getprocessheap" TargetMode="External"/><Relationship Id="rId5" Type="http://schemas.openxmlformats.org/officeDocument/2006/relationships/hyperlink" Target="https://pubs.opengroup.org/onlinepubs/9799919799/functions/calloc.html" TargetMode="External"/><Relationship Id="rId10" Type="http://schemas.openxmlformats.org/officeDocument/2006/relationships/hyperlink" Target="https://learn.microsoft.com/en-us/windows/desktop/api/HeapApi/nf-heapapi-heapdestroy" TargetMode="External"/><Relationship Id="rId4" Type="http://schemas.openxmlformats.org/officeDocument/2006/relationships/hyperlink" Target="https://pubs.opengroup.org/onlinepubs/9799919799/functions/malloc.html" TargetMode="External"/><Relationship Id="rId9" Type="http://schemas.openxmlformats.org/officeDocument/2006/relationships/hyperlink" Target="https://pubs.opengroup.org/onlinepubs/9799919799/functions/free.html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windows/desktop/api/HeapApi/nf-heapapi-heapunlock" TargetMode="External"/><Relationship Id="rId2" Type="http://schemas.openxmlformats.org/officeDocument/2006/relationships/hyperlink" Target="https://learn.microsoft.com/en-us/windows/desktop/api/HeapApi/nf-heapapi-heaplock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learn.microsoft.com/en-us/windows/desktop/api/HeapApi/nf-heapapi-heapwalk" TargetMode="External"/><Relationship Id="rId5" Type="http://schemas.openxmlformats.org/officeDocument/2006/relationships/hyperlink" Target="https://learn.microsoft.com/en-us/windows/desktop/api/HeapApi/nf-heapapi-heapvalidate" TargetMode="External"/><Relationship Id="rId4" Type="http://schemas.openxmlformats.org/officeDocument/2006/relationships/hyperlink" Target="https://learn.microsoft.com/en-us/windows/desktop/api/HeapApi/nf-heapapi-heapcompact" TargetMode="Externa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975775-7036-98AF-A483-822007F372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6523" y="1186961"/>
            <a:ext cx="11558954" cy="960194"/>
          </a:xfrm>
          <a:ln>
            <a:noFill/>
          </a:ln>
          <a:effectLst/>
        </p:spPr>
        <p:txBody>
          <a:bodyPr/>
          <a:lstStyle/>
          <a:p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Операционные системы</a:t>
            </a:r>
            <a:endParaRPr lang="LID4096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649BFEE-497D-21FD-61AE-CA3D267537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02402" y="3635620"/>
            <a:ext cx="6587197" cy="461839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Autofit/>
          </a:bodyPr>
          <a:lstStyle/>
          <a:p>
            <a:r>
              <a:rPr lang="ru-RU" sz="2800" b="1" dirty="0">
                <a:latin typeface="Verdana" panose="020B0604030504040204" pitchFamily="34" charset="0"/>
                <a:ea typeface="Verdana" panose="020B0604030504040204" pitchFamily="34" charset="0"/>
              </a:rPr>
              <a:t>Свопинг и виртуальная память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BD3AED9-28E1-DDF9-E07D-185D5DD54F4C}"/>
              </a:ext>
            </a:extLst>
          </p:cNvPr>
          <p:cNvSpPr txBox="1"/>
          <p:nvPr/>
        </p:nvSpPr>
        <p:spPr>
          <a:xfrm>
            <a:off x="3200400" y="650631"/>
            <a:ext cx="56270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LID4096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277C454-9338-E7F4-034B-E11CD51ED0FB}"/>
              </a:ext>
            </a:extLst>
          </p:cNvPr>
          <p:cNvSpPr txBox="1"/>
          <p:nvPr/>
        </p:nvSpPr>
        <p:spPr>
          <a:xfrm>
            <a:off x="5025642" y="3051019"/>
            <a:ext cx="214071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>
                <a:latin typeface="Cambria" panose="02040503050406030204" pitchFamily="18" charset="0"/>
                <a:ea typeface="Cambria" panose="02040503050406030204" pitchFamily="18" charset="0"/>
              </a:rPr>
              <a:t>Лекция 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1</a:t>
            </a:r>
            <a:r>
              <a:rPr lang="ru-RU" sz="2800" dirty="0">
                <a:latin typeface="Cambria" panose="02040503050406030204" pitchFamily="18" charset="0"/>
                <a:ea typeface="Cambria" panose="02040503050406030204" pitchFamily="18" charset="0"/>
              </a:rPr>
              <a:t>3.2</a:t>
            </a:r>
          </a:p>
        </p:txBody>
      </p: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519E2ADD-505C-77F2-DF62-A29BD8ED577A}"/>
              </a:ext>
            </a:extLst>
          </p:cNvPr>
          <p:cNvCxnSpPr>
            <a:cxnSpLocks/>
          </p:cNvCxnSpPr>
          <p:nvPr/>
        </p:nvCxnSpPr>
        <p:spPr>
          <a:xfrm>
            <a:off x="4341228" y="3574239"/>
            <a:ext cx="350954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9860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4691"/>
            <a:ext cx="10515600" cy="4998183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Мультипрограммирование со свопингом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Виртуальная память: основные концепции, страничная, сегментная и сегментно-страничная организации виртуальной памяти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Задачи управления виртуальной памятью: задача размещения, задача перемещения, задача преобразования адресов, задача замещения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Подкачка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Алгоритм замещения страниц</a:t>
            </a:r>
            <a:endParaRPr lang="LID4096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921328" y="365126"/>
          <a:ext cx="10432472" cy="1018309"/>
        </p:xfrm>
        <a:graphic>
          <a:graphicData uri="http://schemas.openxmlformats.org/drawingml/2006/table">
            <a:tbl>
              <a:tblPr/>
              <a:tblGrid>
                <a:gridCol w="10432472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r>
                        <a:rPr kumimoji="0" lang="ru-RU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j-cs"/>
                        </a:rPr>
                        <a:t>План лекции</a:t>
                      </a:r>
                      <a:endParaRPr lang="LID4096" dirty="0"/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041007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Как уже говорилось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адресное пространство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– это набор адресов, который может быть использован процессом для обращения к памяти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У каждого процесса имеется собственное адресное пространство, независимое от того адресного пространства, которое принадлежит другим процессам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Стоит рассмотреть устройство данного виртуального адресного пространства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Стоит отметить что дальнейшее деление на отдельные области/сегменты является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сугубо логическим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и все области ничем физически между собой не отличаются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3582510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Виртуальное адресное пространство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18917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5767251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Виртуальное адресное пространство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pic>
        <p:nvPicPr>
          <p:cNvPr id="7" name="Объект 7">
            <a:hlinkClick r:id="rId2"/>
            <a:extLst>
              <a:ext uri="{FF2B5EF4-FFF2-40B4-BE49-F238E27FC236}">
                <a16:creationId xmlns:a16="http://schemas.microsoft.com/office/drawing/2014/main" id="{7C5DD650-9561-301B-AD81-9A02D78A32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496351" y="1516736"/>
            <a:ext cx="5454011" cy="524261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8" name="Рисунок 6">
            <a:extLst>
              <a:ext uri="{FF2B5EF4-FFF2-40B4-BE49-F238E27FC236}">
                <a16:creationId xmlns:a16="http://schemas.microsoft.com/office/drawing/2014/main" id="{1199D2CD-C406-5AC9-7A3B-D34AD1E501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3590" y="1516736"/>
            <a:ext cx="3758266" cy="524594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2437268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4799479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Виртуальное адресное пространство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pic>
        <p:nvPicPr>
          <p:cNvPr id="4" name="Рисунок 9">
            <a:extLst>
              <a:ext uri="{FF2B5EF4-FFF2-40B4-BE49-F238E27FC236}">
                <a16:creationId xmlns:a16="http://schemas.microsoft.com/office/drawing/2014/main" id="{E0D07C0F-A4EA-9784-CEC2-EC7DBE2EA8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10075"/>
            <a:ext cx="12192000" cy="5510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30303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Информация о памяти и настройках связанных с памятью в системе: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WinAPI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Системная информация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– </a:t>
            </a:r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GetSystemInfo</a:t>
            </a:r>
            <a:endParaRPr lang="en-US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Статус виртуальной памяти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– </a:t>
            </a:r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GlobalMemoryStatusEx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Определение состояния адресного пространства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– </a:t>
            </a:r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VirtualQueryEx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VirtualQuery</a:t>
            </a:r>
            <a:endParaRPr lang="ru-RU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POSIX: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Информация об используемых ресурсах – </a:t>
            </a:r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getrusage</a:t>
            </a:r>
            <a:endParaRPr lang="ru-RU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Информация об ограничениях на ресурсы – </a:t>
            </a:r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getrlimit</a:t>
            </a:r>
            <a:endParaRPr lang="en-US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Информация из системных переменных - </a:t>
            </a:r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sysconf</a:t>
            </a:r>
            <a:endParaRPr lang="ru-RU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Виртуальное адресное пространство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387504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lnSpcReduction="1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Виды памяти: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Куча (уровень пользователя)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По умолчанию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Общая куча, используемая для передачи больших аргументов экземпляру сеанса Csrss.exe процесса (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Windows only)</a:t>
            </a: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Созданная библиотекой времени выполнения языка С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Стек (уровень пользователя и ядра)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Свободная виртуальная память (уровень пользователя)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Пул памяти (уровень ядра)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Выгружаемый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Невыгружаемый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Резервные списки (уровень ядра)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Виртуальное адресное пространство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116376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lnSpcReduction="1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Windows API содержит четыре группы функций для управления памятью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приложениях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API Virtual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API Heap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be-BY" dirty="0">
                <a:latin typeface="Cambria" panose="02040503050406030204" pitchFamily="18" charset="0"/>
                <a:ea typeface="Cambria" panose="02040503050406030204" pitchFamily="18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Локальные/глобальные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API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(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целях совместимости с 16-битными приложениями)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be-BY" dirty="0">
                <a:latin typeface="Cambria" panose="02040503050406030204" pitchFamily="18" charset="0"/>
                <a:ea typeface="Cambria" panose="02040503050406030204" pitchFamily="18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Файлы, отображенные в память</a:t>
            </a:r>
            <a:endParaRPr lang="be-BY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be-BY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be-BY" dirty="0">
                <a:latin typeface="Cambria" panose="02040503050406030204" pitchFamily="18" charset="0"/>
                <a:ea typeface="Cambria" panose="02040503050406030204" pitchFamily="18" charset="0"/>
              </a:rPr>
              <a:t>Примечание: работа с памятью в большинстве случаев требует </a:t>
            </a:r>
            <a:r>
              <a:rPr lang="be-BY" b="1" dirty="0">
                <a:latin typeface="Cambria" panose="02040503050406030204" pitchFamily="18" charset="0"/>
                <a:ea typeface="Cambria" panose="02040503050406030204" pitchFamily="18" charset="0"/>
              </a:rPr>
              <a:t>соблюдения гранулярности </a:t>
            </a:r>
            <a:r>
              <a:rPr lang="be-BY" dirty="0">
                <a:latin typeface="Cambria" panose="02040503050406030204" pitchFamily="18" charset="0"/>
                <a:ea typeface="Cambria" panose="02040503050406030204" pitchFamily="18" charset="0"/>
              </a:rPr>
              <a:t>выделяемого объёма памяти. В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Windows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имеется специальное значение гранулярности кратно которому должна выделяться память (обычно 64Кб)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Виртуальное адресное пространство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392130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POSIX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содержат такие группы функций для управления памятью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приложениях как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API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mman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API heap/stack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(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аналогично стандартной библиотеке С)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be-BY" dirty="0">
                <a:latin typeface="Cambria" panose="02040503050406030204" pitchFamily="18" charset="0"/>
                <a:ea typeface="Cambria" panose="02040503050406030204" pitchFamily="18" charset="0"/>
              </a:rPr>
              <a:t>Файлы, отображенные в память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(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mman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be-BY" dirty="0">
                <a:latin typeface="Cambria" panose="02040503050406030204" pitchFamily="18" charset="0"/>
                <a:ea typeface="Cambria" panose="02040503050406030204" pitchFamily="18" charset="0"/>
              </a:rPr>
              <a:t>Примечание: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Linux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гранулярность памяти основывается на размере виртуальной страницы (обычно 4Кб)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Виртуальное адресное пространство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192530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Действия над виртуальными страницами: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Виртуальное адресное пространство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graphicFrame>
        <p:nvGraphicFramePr>
          <p:cNvPr id="2" name="Таблица 2">
            <a:extLst>
              <a:ext uri="{FF2B5EF4-FFF2-40B4-BE49-F238E27FC236}">
                <a16:creationId xmlns:a16="http://schemas.microsoft.com/office/drawing/2014/main" id="{E01B4238-28B7-35C5-DBC4-D1E3BAC770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3441412"/>
              </p:ext>
            </p:extLst>
          </p:nvPr>
        </p:nvGraphicFramePr>
        <p:xfrm>
          <a:off x="990600" y="2088082"/>
          <a:ext cx="10210800" cy="45287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05400">
                  <a:extLst>
                    <a:ext uri="{9D8B030D-6E8A-4147-A177-3AD203B41FA5}">
                      <a16:colId xmlns:a16="http://schemas.microsoft.com/office/drawing/2014/main" val="3805420538"/>
                    </a:ext>
                  </a:extLst>
                </a:gridCol>
                <a:gridCol w="5105400">
                  <a:extLst>
                    <a:ext uri="{9D8B030D-6E8A-4147-A177-3AD203B41FA5}">
                      <a16:colId xmlns:a16="http://schemas.microsoft.com/office/drawing/2014/main" val="1783500756"/>
                    </a:ext>
                  </a:extLst>
                </a:gridCol>
              </a:tblGrid>
              <a:tr h="52111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Windows</a:t>
                      </a:r>
                      <a:endParaRPr lang="LID4096" sz="28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POSIX</a:t>
                      </a:r>
                      <a:endParaRPr lang="LID4096" sz="28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34457057"/>
                  </a:ext>
                </a:extLst>
              </a:tr>
              <a:tr h="521110">
                <a:tc gridSpan="2">
                  <a:txBody>
                    <a:bodyPr/>
                    <a:lstStyle/>
                    <a:p>
                      <a:pPr algn="ctr"/>
                      <a:r>
                        <a:rPr lang="ru-RU" sz="20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Резервирование региона в адресном пространстве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78648226"/>
                  </a:ext>
                </a:extLst>
              </a:tr>
              <a:tr h="521110">
                <a:tc gridSpan="2">
                  <a:txBody>
                    <a:bodyPr/>
                    <a:lstStyle/>
                    <a:p>
                      <a:pPr algn="ctr"/>
                      <a:r>
                        <a:rPr lang="be-BY" sz="20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Передача памяти зарезервированному региону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18387925"/>
                  </a:ext>
                </a:extLst>
              </a:tr>
              <a:tr h="676919">
                <a:tc>
                  <a:txBody>
                    <a:bodyPr/>
                    <a:lstStyle/>
                    <a:p>
                      <a:pPr algn="ctr"/>
                      <a:r>
                        <a:rPr lang="ru-RU" sz="20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Перевод региона в неактивное состояние и обратно</a:t>
                      </a:r>
                      <a:endParaRPr lang="LID4096" sz="20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01655220"/>
                  </a:ext>
                </a:extLst>
              </a:tr>
              <a:tr h="67691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Возврат физической памяти </a:t>
                      </a:r>
                      <a:endParaRPr lang="LID4096" sz="20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-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LID4096" sz="20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05136949"/>
                  </a:ext>
                </a:extLst>
              </a:tr>
              <a:tr h="52111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Освобождение региона</a:t>
                      </a:r>
                      <a:endParaRPr lang="LID4096" sz="20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20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3594233"/>
                  </a:ext>
                </a:extLst>
              </a:tr>
              <a:tr h="521110">
                <a:tc gridSpan="2">
                  <a:txBody>
                    <a:bodyPr/>
                    <a:lstStyle/>
                    <a:p>
                      <a:pPr algn="ctr"/>
                      <a:r>
                        <a:rPr lang="ru-RU" sz="20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Запрет/разрешение на выгрузку региона из физической памяти</a:t>
                      </a:r>
                      <a:endParaRPr lang="LID4096" sz="20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20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36418253"/>
                  </a:ext>
                </a:extLst>
              </a:tr>
              <a:tr h="521110">
                <a:tc gridSpan="2">
                  <a:txBody>
                    <a:bodyPr/>
                    <a:lstStyle/>
                    <a:p>
                      <a:pPr algn="ctr"/>
                      <a:r>
                        <a:rPr lang="ru-RU" sz="20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Смена параметров доступа к региону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2182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19296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Действия над виртуальными страницами (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API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):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Виртуальное адресное пространство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graphicFrame>
        <p:nvGraphicFramePr>
          <p:cNvPr id="4" name="Таблица 2">
            <a:extLst>
              <a:ext uri="{FF2B5EF4-FFF2-40B4-BE49-F238E27FC236}">
                <a16:creationId xmlns:a16="http://schemas.microsoft.com/office/drawing/2014/main" id="{FFE7FA85-3DD8-CA32-2E69-67D11CAE0C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6005909"/>
              </p:ext>
            </p:extLst>
          </p:nvPr>
        </p:nvGraphicFramePr>
        <p:xfrm>
          <a:off x="990600" y="2113249"/>
          <a:ext cx="10210800" cy="4496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05400">
                  <a:extLst>
                    <a:ext uri="{9D8B030D-6E8A-4147-A177-3AD203B41FA5}">
                      <a16:colId xmlns:a16="http://schemas.microsoft.com/office/drawing/2014/main" val="3805420538"/>
                    </a:ext>
                  </a:extLst>
                </a:gridCol>
                <a:gridCol w="5105400">
                  <a:extLst>
                    <a:ext uri="{9D8B030D-6E8A-4147-A177-3AD203B41FA5}">
                      <a16:colId xmlns:a16="http://schemas.microsoft.com/office/drawing/2014/main" val="1783500756"/>
                    </a:ext>
                  </a:extLst>
                </a:gridCol>
              </a:tblGrid>
              <a:tr h="515344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Windows</a:t>
                      </a:r>
                      <a:endParaRPr lang="LID4096" sz="28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POSIX</a:t>
                      </a:r>
                      <a:endParaRPr lang="LID4096" sz="28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34457057"/>
                  </a:ext>
                </a:extLst>
              </a:tr>
              <a:tr h="515344">
                <a:tc>
                  <a:txBody>
                    <a:bodyPr/>
                    <a:lstStyle/>
                    <a:p>
                      <a:pPr algn="ctr"/>
                      <a:r>
                        <a:rPr lang="en-US" sz="20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2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VirtualAlloc</a:t>
                      </a:r>
                      <a:r>
                        <a:rPr lang="en-US" sz="20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 </a:t>
                      </a:r>
                      <a:r>
                        <a:rPr lang="en-US" sz="2000" b="0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c</a:t>
                      </a:r>
                      <a:r>
                        <a:rPr lang="en-US" sz="20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 MEM_RESERVE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kern="1200" dirty="0" err="1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mmap</a:t>
                      </a:r>
                      <a:r>
                        <a:rPr lang="en-US" sz="20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 c PROT_NONE</a:t>
                      </a:r>
                      <a:endParaRPr lang="ru-RU" sz="20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78648226"/>
                  </a:ext>
                </a:extLst>
              </a:tr>
              <a:tr h="673243">
                <a:tc>
                  <a:txBody>
                    <a:bodyPr/>
                    <a:lstStyle/>
                    <a:p>
                      <a:pPr algn="ctr"/>
                      <a:r>
                        <a:rPr lang="en-US" sz="20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2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VirtualAlloc</a:t>
                      </a:r>
                      <a:r>
                        <a:rPr lang="en-US" sz="20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 </a:t>
                      </a:r>
                      <a:r>
                        <a:rPr lang="en-US" sz="2000" b="0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c</a:t>
                      </a:r>
                      <a:r>
                        <a:rPr lang="en-US" sz="20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 MEM_COMMIT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kern="1200" dirty="0" err="1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mprotect</a:t>
                      </a:r>
                      <a:r>
                        <a:rPr lang="en-US" sz="20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 </a:t>
                      </a:r>
                      <a:r>
                        <a:rPr lang="ru-RU" sz="2000" b="0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со значением отличным от </a:t>
                      </a:r>
                      <a:r>
                        <a:rPr lang="en-US" sz="20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PROT_NONE</a:t>
                      </a:r>
                      <a:endParaRPr lang="ru-RU" sz="20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18387925"/>
                  </a:ext>
                </a:extLst>
              </a:tr>
              <a:tr h="515344">
                <a:tc>
                  <a:txBody>
                    <a:bodyPr/>
                    <a:lstStyle/>
                    <a:p>
                      <a:pPr algn="ctr"/>
                      <a:r>
                        <a:rPr lang="en-US" sz="20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2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VirtualAlloc</a:t>
                      </a:r>
                      <a:r>
                        <a:rPr lang="en-US" sz="2000" b="0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 c </a:t>
                      </a:r>
                      <a:r>
                        <a:rPr lang="en-US" sz="20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MEM_RESET</a:t>
                      </a:r>
                      <a:endParaRPr lang="LID4096" sz="20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-</a:t>
                      </a:r>
                      <a:endParaRPr lang="ru-RU" sz="20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01655220"/>
                  </a:ext>
                </a:extLst>
              </a:tr>
              <a:tr h="51534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kern="1200" dirty="0" err="1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5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VirtualFree</a:t>
                      </a:r>
                      <a:r>
                        <a:rPr lang="ru-RU" sz="20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 </a:t>
                      </a:r>
                      <a:r>
                        <a:rPr lang="ru-RU" sz="2000" b="0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с</a:t>
                      </a:r>
                      <a:r>
                        <a:rPr lang="ru-RU" sz="20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 </a:t>
                      </a:r>
                      <a:r>
                        <a:rPr lang="en-US" sz="20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MEM_RELEASE</a:t>
                      </a:r>
                      <a:endParaRPr lang="LID4096" sz="20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9738010"/>
                  </a:ext>
                </a:extLst>
              </a:tr>
              <a:tr h="515344">
                <a:tc>
                  <a:txBody>
                    <a:bodyPr/>
                    <a:lstStyle/>
                    <a:p>
                      <a:pPr algn="ctr"/>
                      <a:r>
                        <a:rPr lang="en-US" sz="2000" b="1" kern="1200" dirty="0" err="1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5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VirtualFree</a:t>
                      </a:r>
                      <a:r>
                        <a:rPr lang="ru-RU" sz="20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 </a:t>
                      </a:r>
                      <a:r>
                        <a:rPr lang="ru-RU" sz="2000" b="0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с</a:t>
                      </a:r>
                      <a:r>
                        <a:rPr lang="ru-RU" sz="20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 </a:t>
                      </a:r>
                      <a:r>
                        <a:rPr lang="en-US" sz="20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MEM_DECOMMIT</a:t>
                      </a:r>
                      <a:endParaRPr lang="LID4096" sz="20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kern="1200" dirty="0" err="1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6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munmap</a:t>
                      </a:r>
                      <a:endParaRPr lang="ru-RU" sz="20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3594233"/>
                  </a:ext>
                </a:extLst>
              </a:tr>
              <a:tr h="673243">
                <a:tc>
                  <a:txBody>
                    <a:bodyPr/>
                    <a:lstStyle/>
                    <a:p>
                      <a:pPr algn="ctr"/>
                      <a:r>
                        <a:rPr lang="en-US" sz="2000" b="1" kern="1200" dirty="0" err="1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7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VirtualLock</a:t>
                      </a:r>
                      <a:endParaRPr lang="en-US" sz="20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  <a:p>
                      <a:pPr algn="ctr"/>
                      <a:r>
                        <a:rPr lang="en-US" sz="20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8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VirtualUnlock</a:t>
                      </a:r>
                      <a:endParaRPr lang="LID4096" sz="20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kern="1200" dirty="0" err="1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9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mlock</a:t>
                      </a:r>
                      <a:endParaRPr lang="en-US" sz="20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  <a:hlinkClick r:id="rId9">
                          <a:extLst>
                            <a:ext uri="{A12FA001-AC4F-418D-AE19-62706E023703}">
                              <ahyp:hlinkClr xmlns:ahyp="http://schemas.microsoft.com/office/drawing/2018/hyperlinkcolor" val="tx"/>
                            </a:ext>
                          </a:extLst>
                        </a:hlinkClick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kern="1200" dirty="0" err="1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9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munlock</a:t>
                      </a:r>
                      <a:endParaRPr lang="ru-RU" sz="20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36418253"/>
                  </a:ext>
                </a:extLst>
              </a:tr>
              <a:tr h="515344">
                <a:tc>
                  <a:txBody>
                    <a:bodyPr/>
                    <a:lstStyle/>
                    <a:p>
                      <a:pPr algn="ctr"/>
                      <a:r>
                        <a:rPr lang="en-US" sz="2000" b="1" kern="1200" dirty="0" err="1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1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VirtualProtect</a:t>
                      </a:r>
                      <a:r>
                        <a:rPr lang="ru-RU" sz="20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 (</a:t>
                      </a:r>
                      <a:r>
                        <a:rPr lang="ru-RU" sz="20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11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флаги</a:t>
                      </a:r>
                      <a:r>
                        <a:rPr lang="ru-RU" sz="20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)</a:t>
                      </a:r>
                      <a:endParaRPr lang="LID4096" sz="20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kern="1200" dirty="0" err="1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mprotect</a:t>
                      </a:r>
                      <a:endParaRPr lang="ru-RU" sz="20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49905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330606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lnSpcReduction="1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Дополнительные функции для работы с памятью: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WinAPI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управление рабочим множеством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– </a:t>
            </a:r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GetProcessWorkingSetSize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SetProcessWorkingSetSize</a:t>
            </a:r>
            <a:endParaRPr lang="en-US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Операции над памятью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–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FillMemory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CopyMemory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MoveMemory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,  </a:t>
            </a:r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SecureZeroMemory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ReadProcessMemory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WriteProcessMemory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POSIX</a:t>
            </a: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Операции над памятью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– </a:t>
            </a:r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memcpy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memmove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  <a:hlinkClick r:id="rId1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memccpy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  <a:hlinkClick r:id="rId1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memset</a:t>
            </a:r>
            <a:endParaRPr lang="ru-RU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Напомним, что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рабочее множество процесса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– это набор страниц виртуальной памяти, которые процесс активно использует в текущий момент времени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Очевидно, что данный набор является не постоянным как по составу, так и по размеру</a:t>
            </a:r>
          </a:p>
          <a:p>
            <a:pPr marL="457200" lvl="1" indent="0">
              <a:buNone/>
            </a:pPr>
            <a:endParaRPr lang="ru-RU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Виртуальное адресное пространство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803960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Когда работать с виртуальной памятью напрямую: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При разработке системного программного обеспечения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Когда в приложении требуется максимальный контроль над выделением памяти (кучи не могут похвастаться таким)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Когда планируется большое количество операций с большими массивами объектов или структур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Когда планируется реализовать свой собственный алгоритм выделения памяти пользовательского уровня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Виртуальное адресное пространство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818629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Куча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– это регион зарезервированного адресного пространства. Первоначально большей его части физическая память не передается. По мере того, как программа занимает эту область под данные, специальный диспетчер, управляющий кучами (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heap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manager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), постранично передает ей физическую память (из страничного файла). А при освобождении блоков в куче диспетчер возвращает системе соответствующие страницы физической памяти</a:t>
            </a:r>
          </a:p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Динамическая память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, или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куча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– область, из которой память (для переменных) может динамически выделяться в ходе выполнения программы. Верхний конец кучи называют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крайней точкой программы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Виртуальное адресное пространство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205419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Действия над кучей: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Виртуальное адресное пространство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graphicFrame>
        <p:nvGraphicFramePr>
          <p:cNvPr id="5" name="Таблица 2">
            <a:extLst>
              <a:ext uri="{FF2B5EF4-FFF2-40B4-BE49-F238E27FC236}">
                <a16:creationId xmlns:a16="http://schemas.microsoft.com/office/drawing/2014/main" id="{245D2E3C-A273-7560-6197-5B83ECE871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8553334"/>
              </p:ext>
            </p:extLst>
          </p:nvPr>
        </p:nvGraphicFramePr>
        <p:xfrm>
          <a:off x="990600" y="2088082"/>
          <a:ext cx="10210800" cy="44804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05400">
                  <a:extLst>
                    <a:ext uri="{9D8B030D-6E8A-4147-A177-3AD203B41FA5}">
                      <a16:colId xmlns:a16="http://schemas.microsoft.com/office/drawing/2014/main" val="3805420538"/>
                    </a:ext>
                  </a:extLst>
                </a:gridCol>
                <a:gridCol w="5105400">
                  <a:extLst>
                    <a:ext uri="{9D8B030D-6E8A-4147-A177-3AD203B41FA5}">
                      <a16:colId xmlns:a16="http://schemas.microsoft.com/office/drawing/2014/main" val="1783500756"/>
                    </a:ext>
                  </a:extLst>
                </a:gridCol>
              </a:tblGrid>
              <a:tr h="52111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Windows</a:t>
                      </a:r>
                      <a:endParaRPr lang="LID4096" sz="28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POSIX</a:t>
                      </a:r>
                      <a:endParaRPr lang="LID4096" sz="28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34457057"/>
                  </a:ext>
                </a:extLst>
              </a:tr>
              <a:tr h="52111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Создание кучи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78648226"/>
                  </a:ext>
                </a:extLst>
              </a:tr>
              <a:tr h="521110">
                <a:tc gridSpan="2">
                  <a:txBody>
                    <a:bodyPr/>
                    <a:lstStyle/>
                    <a:p>
                      <a:pPr algn="ctr"/>
                      <a:r>
                        <a:rPr lang="be-BY" sz="20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Выделение области памяти в куче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18387925"/>
                  </a:ext>
                </a:extLst>
              </a:tr>
              <a:tr h="676919">
                <a:tc gridSpan="2">
                  <a:txBody>
                    <a:bodyPr/>
                    <a:lstStyle/>
                    <a:p>
                      <a:pPr algn="ctr"/>
                      <a:r>
                        <a:rPr lang="ru-RU" sz="20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Перераспределение области памяти в куче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01655220"/>
                  </a:ext>
                </a:extLst>
              </a:tr>
              <a:tr h="676919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Очистка области памяти в куче</a:t>
                      </a:r>
                      <a:endParaRPr lang="LID4096" sz="20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05136949"/>
                  </a:ext>
                </a:extLst>
              </a:tr>
              <a:tr h="52111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Удаление кучи</a:t>
                      </a:r>
                      <a:endParaRPr lang="LID4096" sz="20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-</a:t>
                      </a:r>
                      <a:endParaRPr lang="LID4096" sz="20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3594233"/>
                  </a:ext>
                </a:extLst>
              </a:tr>
              <a:tr h="521110">
                <a:tc>
                  <a:txBody>
                    <a:bodyPr/>
                    <a:lstStyle/>
                    <a:p>
                      <a:pPr algn="ctr"/>
                      <a:r>
                        <a:rPr lang="ru-RU" sz="20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Получение кучи процесса</a:t>
                      </a:r>
                      <a:endParaRPr lang="LID4096" sz="20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-</a:t>
                      </a:r>
                      <a:endParaRPr lang="LID4096" sz="20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36418253"/>
                  </a:ext>
                </a:extLst>
              </a:tr>
              <a:tr h="521110">
                <a:tc>
                  <a:txBody>
                    <a:bodyPr/>
                    <a:lstStyle/>
                    <a:p>
                      <a:pPr algn="ctr"/>
                      <a:r>
                        <a:rPr lang="ru-RU" sz="20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Установка крайней точки программы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12182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366785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Действия над кучей (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API)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: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Виртуальное адресное пространство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graphicFrame>
        <p:nvGraphicFramePr>
          <p:cNvPr id="2" name="Таблица 2">
            <a:extLst>
              <a:ext uri="{FF2B5EF4-FFF2-40B4-BE49-F238E27FC236}">
                <a16:creationId xmlns:a16="http://schemas.microsoft.com/office/drawing/2014/main" id="{5C87B1C0-9B7A-425B-4555-008675E4B9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3131883"/>
              </p:ext>
            </p:extLst>
          </p:nvPr>
        </p:nvGraphicFramePr>
        <p:xfrm>
          <a:off x="990600" y="2071304"/>
          <a:ext cx="10210800" cy="44413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05400">
                  <a:extLst>
                    <a:ext uri="{9D8B030D-6E8A-4147-A177-3AD203B41FA5}">
                      <a16:colId xmlns:a16="http://schemas.microsoft.com/office/drawing/2014/main" val="3805420538"/>
                    </a:ext>
                  </a:extLst>
                </a:gridCol>
                <a:gridCol w="5105400">
                  <a:extLst>
                    <a:ext uri="{9D8B030D-6E8A-4147-A177-3AD203B41FA5}">
                      <a16:colId xmlns:a16="http://schemas.microsoft.com/office/drawing/2014/main" val="1783500756"/>
                    </a:ext>
                  </a:extLst>
                </a:gridCol>
              </a:tblGrid>
              <a:tr h="515344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Windows</a:t>
                      </a:r>
                      <a:endParaRPr lang="LID4096" sz="28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POSIX + Windows</a:t>
                      </a:r>
                      <a:endParaRPr lang="LID4096" sz="28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34457057"/>
                  </a:ext>
                </a:extLst>
              </a:tr>
              <a:tr h="515344">
                <a:tc>
                  <a:txBody>
                    <a:bodyPr/>
                    <a:lstStyle/>
                    <a:p>
                      <a:pPr algn="ctr"/>
                      <a:r>
                        <a:rPr lang="en-US" sz="2000" b="1" kern="1200" dirty="0" err="1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2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HeapCreate</a:t>
                      </a:r>
                      <a:endParaRPr lang="en-US" sz="20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-</a:t>
                      </a:r>
                      <a:endParaRPr lang="ru-RU" sz="20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78648226"/>
                  </a:ext>
                </a:extLst>
              </a:tr>
              <a:tr h="673243">
                <a:tc>
                  <a:txBody>
                    <a:bodyPr/>
                    <a:lstStyle/>
                    <a:p>
                      <a:pPr algn="ctr"/>
                      <a:r>
                        <a:rPr lang="en-US" sz="2000" b="1" kern="1200" dirty="0" err="1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HeapAlloc</a:t>
                      </a:r>
                      <a:endParaRPr lang="en-US" sz="20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malloc</a:t>
                      </a:r>
                      <a:r>
                        <a:rPr lang="en-US" sz="20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, </a:t>
                      </a:r>
                      <a:r>
                        <a:rPr lang="en-US" sz="2000" b="1" kern="1200" dirty="0" err="1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5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calloc</a:t>
                      </a:r>
                      <a:endParaRPr lang="ru-RU" sz="20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18387925"/>
                  </a:ext>
                </a:extLst>
              </a:tr>
              <a:tr h="515344">
                <a:tc>
                  <a:txBody>
                    <a:bodyPr/>
                    <a:lstStyle/>
                    <a:p>
                      <a:pPr algn="ctr"/>
                      <a:r>
                        <a:rPr lang="en-US" sz="2000" b="1" kern="1200" dirty="0" err="1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6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HeapReAlloc</a:t>
                      </a:r>
                      <a:endParaRPr lang="LID4096" sz="20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kern="1200" dirty="0" err="1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7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realloc</a:t>
                      </a:r>
                      <a:endParaRPr lang="ru-RU" sz="20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01655220"/>
                  </a:ext>
                </a:extLst>
              </a:tr>
              <a:tr h="51534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kern="1200" dirty="0" err="1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8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HeapFree</a:t>
                      </a:r>
                      <a:endParaRPr lang="LID4096" sz="20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9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free</a:t>
                      </a:r>
                      <a:endParaRPr lang="ru-RU" sz="20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9738010"/>
                  </a:ext>
                </a:extLst>
              </a:tr>
              <a:tr h="515344">
                <a:tc>
                  <a:txBody>
                    <a:bodyPr/>
                    <a:lstStyle/>
                    <a:p>
                      <a:pPr algn="ctr"/>
                      <a:r>
                        <a:rPr lang="en-US" sz="2000" b="1" kern="1200" dirty="0" err="1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1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HeapDestroy</a:t>
                      </a:r>
                      <a:endParaRPr lang="LID4096" sz="20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-</a:t>
                      </a:r>
                      <a:endParaRPr lang="ru-RU" sz="20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3594233"/>
                  </a:ext>
                </a:extLst>
              </a:tr>
              <a:tr h="673243">
                <a:tc>
                  <a:txBody>
                    <a:bodyPr/>
                    <a:lstStyle/>
                    <a:p>
                      <a:pPr algn="ctr"/>
                      <a:r>
                        <a:rPr lang="en-US" sz="2000" b="1" kern="1200" dirty="0" err="1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11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GetProcessHeap</a:t>
                      </a:r>
                      <a:endParaRPr lang="LID4096" sz="20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-</a:t>
                      </a:r>
                      <a:endParaRPr lang="ru-RU" sz="20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36418253"/>
                  </a:ext>
                </a:extLst>
              </a:tr>
              <a:tr h="515344">
                <a:tc>
                  <a:txBody>
                    <a:bodyPr/>
                    <a:lstStyle/>
                    <a:p>
                      <a:pPr algn="ctr"/>
                      <a:r>
                        <a:rPr lang="en-US" sz="20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-</a:t>
                      </a:r>
                      <a:endParaRPr lang="LID4096" sz="20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kern="1200" dirty="0" err="1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12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brk</a:t>
                      </a:r>
                      <a:r>
                        <a:rPr lang="en-US" sz="20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12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, </a:t>
                      </a:r>
                      <a:r>
                        <a:rPr lang="en-US" sz="2000" b="1" kern="1200" dirty="0" err="1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12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sbrk</a:t>
                      </a:r>
                      <a:r>
                        <a:rPr lang="en-US" sz="20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 (Non-windows)</a:t>
                      </a:r>
                      <a:endParaRPr lang="ru-RU" sz="20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49905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039966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Дополнительные функции для работы с кучей в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WinAPI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HeapLock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–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занятие кучи потоком (для синхронизации доступа к куче)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HeapUnlock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– освобождение кучи потоком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HeapCompact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–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уплотнение кучи (для борьбы с фрагментацией)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HeapValidate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– проверка целостности кучи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HeapWalk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– </a:t>
            </a:r>
            <a:r>
              <a:rPr lang="be-BY" dirty="0">
                <a:latin typeface="Cambria" panose="02040503050406030204" pitchFamily="18" charset="0"/>
                <a:ea typeface="Cambria" panose="02040503050406030204" pitchFamily="18" charset="0"/>
              </a:rPr>
              <a:t>позволяет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be-BY" dirty="0">
                <a:latin typeface="Cambria" panose="02040503050406030204" pitchFamily="18" charset="0"/>
                <a:ea typeface="Cambria" panose="02040503050406030204" pitchFamily="18" charset="0"/>
              </a:rPr>
              <a:t>просматривать содержимое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be-BY" dirty="0">
                <a:latin typeface="Cambria" panose="02040503050406030204" pitchFamily="18" charset="0"/>
                <a:ea typeface="Cambria" panose="02040503050406030204" pitchFamily="18" charset="0"/>
              </a:rPr>
              <a:t>кучи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(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для отладки)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Виртуальное адресное пространство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238186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Когда стоит использовать кучи: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Наиболее подходящие для работы с множеством малых объектов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Когда в приложении не требуется полный контроль над выделением памяти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Когда требуется точное выделение памяти (память в кучах не подвержена гранулярности, но при создании самих куч правило гранулярности работает)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Виртуальное адресное пространство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957259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Когда стоит создавать отдельные кучи (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WinAPI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Защита компонентов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Более эффективное управление памятью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(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по сравнению с использованием общей кучи)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Локальный доступ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Исключение издержек, связанных с синхронизацией потоков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Быстрое освобождение всей памяти в куче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Виртуальное адресное пространство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547404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lnSpcReduction="1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Программный поток должен иметь доступ к временной области памяти для хранения параметров функций, локальных переменных и адреса возврата после вызова функции. Эта часть памяти называется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стеком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(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</a:rPr>
              <a:t>stack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Стек является довольно статичной частью адресного пространства, в том смысле, что практически не существует инструментов взаимодействия с ним на пользовательском уровне</a:t>
            </a:r>
          </a:p>
          <a:p>
            <a:pPr marL="0" indent="0">
              <a:buNone/>
            </a:pP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Примечание: существует функция </a:t>
            </a:r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</a:rPr>
              <a:t>alloca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для выделения памяти в стеке. Однако её использование является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крайне не рекомендованным!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Виртуальное адресное пространство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953687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fontScale="92500" lnSpcReduction="1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Советы по работе со стеком: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Избегайте использования стека для динамических структур. Используйте кучу, а в стек записывайте указатель на структуру в куче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Внимательно работайте с большими локальными переменными. Такие переменные быстро заполнят стек и приведут к ошибке переполнения стека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Избегайте рекурсий с большими структурами данными (по тем же причинами, что и в прошлом пункте)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Если требуется увеличить размер стека, делайте это рассудительно, так как выделение большего количества памяти, чем требуется может привести к неоправданному потреблению памяти и ошибкам «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Out-of-memory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»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Виртуальное адресное пространство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553714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На стадии инициализации системы диспетчер памяти создает два пула памяти, или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кучи (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heap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), с динамически изменяемым размером; они используются большинством компонентов режима ядра для выделения системной памяти: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Невыгружаемый пул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–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состоит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из диапазонов системных виртуальных адресов,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которые заведомо будут постоянно находиться в физической памяти. Таким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образом, к этим адресам можно обратиться в любой момент без возникновения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ошибки страницы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Выгружаемый пул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–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область виртуальной памяти в системном пространстве,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содержимое которой может подгружаться в систему и выгружаться из нее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Виртуальное адресное пространство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756551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lnSpcReduction="10000"/>
          </a:bodyPr>
          <a:lstStyle/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Тегирование пулов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– это механизм, который позволяет присвоить уникальный идентификатор, называемый "тегом", пулу памяти или ресурсов ввода/вывода. Этот тег можно использовать для отслеживания и управления ресурсами, связанными с конкретным процессом, потоком или компонентом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Тегирование пулов может помочь оптимизировать производительность системы, позволяя определить и управлять ресурсами, которые вызывают задержки или проблемы с производительностью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Тегирование пулов может помочь в устранении неполадок, предоставляя способ определить источник утечек ресурсов или других проблем</a:t>
            </a:r>
          </a:p>
          <a:p>
            <a:pPr marL="0" indent="0">
              <a:buNone/>
            </a:pP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Виртуальное адресное пространство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6132708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Windows также предоставляет быстрый механизм выделения памяти – так называемые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резервные списки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(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</a:rPr>
              <a:t>look-aside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</a:rPr>
              <a:t>lists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). Основное различие между пулами и резервными списками заключается в том, что из пула могут выделяться блоки памяти переменного размера, тогда как резервные списки содержат только блоки фиксированного размера. И хотя обобщенные пулы памяти более гибки в отношении того, что они могут поддерживать, резервные списки работают быстрее, потому что они не используют спин-блокировки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Виртуальное адресное пространство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0282039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fontScale="85000" lnSpcReduction="20000"/>
          </a:bodyPr>
          <a:lstStyle/>
          <a:p>
            <a:pPr marL="0" indent="0">
              <a:buNone/>
            </a:pPr>
            <a:r>
              <a:rPr lang="ru-RU" sz="3100" dirty="0">
                <a:latin typeface="Cambria" panose="02040503050406030204" pitchFamily="18" charset="0"/>
                <a:ea typeface="Cambria" panose="02040503050406030204" pitchFamily="18" charset="0"/>
              </a:rPr>
              <a:t>Советы при работе с памятью: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Когда возможно используйте стандартные функции выделения памяти (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malloc,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calloc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, free, …)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, вместо работы с виртуальной памятью напрямую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Всегда проверяйте возвращаемое значение функций выделения памяти, чтобы убедиться, что выделение прошло успешно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Всегда освобождайте выделенную память, когда она больше не нужна, чтобы предотвратить утечки памяти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Используйте память стека (например, локальные переменные) вместо памяти кучи (например, динамически выделенной памяти), когда это возможно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Избегайте использования глобальных переменных, так как они могут привести к утечкам памяти и сделать код более сложным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Избегайте использования сырых указателей (например,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int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*), когда это возможно, так как они могут привести к утечкам памяти и висячим указателям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Виртуальное адресное пространство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148746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975775-7036-98AF-A483-822007F372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6523" y="1186961"/>
            <a:ext cx="11558954" cy="960194"/>
          </a:xfrm>
          <a:ln>
            <a:noFill/>
          </a:ln>
          <a:effectLst/>
        </p:spPr>
        <p:txBody>
          <a:bodyPr/>
          <a:lstStyle/>
          <a:p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Операционные системы</a:t>
            </a:r>
            <a:endParaRPr lang="LID4096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649BFEE-497D-21FD-61AE-CA3D267537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02402" y="3635620"/>
            <a:ext cx="6587197" cy="461839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Autofit/>
          </a:bodyPr>
          <a:lstStyle/>
          <a:p>
            <a:r>
              <a:rPr lang="ru-RU" sz="2800" b="1" dirty="0">
                <a:latin typeface="Verdana" panose="020B0604030504040204" pitchFamily="34" charset="0"/>
                <a:ea typeface="Verdana" panose="020B0604030504040204" pitchFamily="34" charset="0"/>
              </a:rPr>
              <a:t>Свопинг и виртуальная память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BD3AED9-28E1-DDF9-E07D-185D5DD54F4C}"/>
              </a:ext>
            </a:extLst>
          </p:cNvPr>
          <p:cNvSpPr txBox="1"/>
          <p:nvPr/>
        </p:nvSpPr>
        <p:spPr>
          <a:xfrm>
            <a:off x="3200400" y="650631"/>
            <a:ext cx="56270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LID4096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277C454-9338-E7F4-034B-E11CD51ED0FB}"/>
              </a:ext>
            </a:extLst>
          </p:cNvPr>
          <p:cNvSpPr txBox="1"/>
          <p:nvPr/>
        </p:nvSpPr>
        <p:spPr>
          <a:xfrm>
            <a:off x="5025642" y="3051019"/>
            <a:ext cx="214071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>
                <a:latin typeface="Cambria" panose="02040503050406030204" pitchFamily="18" charset="0"/>
                <a:ea typeface="Cambria" panose="02040503050406030204" pitchFamily="18" charset="0"/>
              </a:rPr>
              <a:t>Лекция 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1</a:t>
            </a:r>
            <a:r>
              <a:rPr lang="ru-RU" sz="2800" dirty="0">
                <a:latin typeface="Cambria" panose="02040503050406030204" pitchFamily="18" charset="0"/>
                <a:ea typeface="Cambria" panose="02040503050406030204" pitchFamily="18" charset="0"/>
              </a:rPr>
              <a:t>3.2</a:t>
            </a:r>
          </a:p>
        </p:txBody>
      </p: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519E2ADD-505C-77F2-DF62-A29BD8ED577A}"/>
              </a:ext>
            </a:extLst>
          </p:cNvPr>
          <p:cNvCxnSpPr>
            <a:cxnSpLocks/>
          </p:cNvCxnSpPr>
          <p:nvPr/>
        </p:nvCxnSpPr>
        <p:spPr>
          <a:xfrm>
            <a:off x="4341228" y="3574239"/>
            <a:ext cx="350954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358932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44431</TotalTime>
  <Words>1468</Words>
  <Application>Microsoft Office PowerPoint</Application>
  <PresentationFormat>Widescreen</PresentationFormat>
  <Paragraphs>188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3" baseType="lpstr">
      <vt:lpstr>Arial</vt:lpstr>
      <vt:lpstr>Calibri</vt:lpstr>
      <vt:lpstr>Calibri Light</vt:lpstr>
      <vt:lpstr>Cambria</vt:lpstr>
      <vt:lpstr>Verdana</vt:lpstr>
      <vt:lpstr>Wingdings</vt:lpstr>
      <vt:lpstr>Тема Office</vt:lpstr>
      <vt:lpstr>Операционные системы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Операционные системы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Pavel Bernatsky</dc:creator>
  <cp:lastModifiedBy>Pavel Bernatsky</cp:lastModifiedBy>
  <cp:revision>1464</cp:revision>
  <cp:lastPrinted>2025-11-01T06:17:20Z</cp:lastPrinted>
  <dcterms:created xsi:type="dcterms:W3CDTF">2024-09-04T11:03:42Z</dcterms:created>
  <dcterms:modified xsi:type="dcterms:W3CDTF">2025-12-12T22:17:52Z</dcterms:modified>
</cp:coreProperties>
</file>