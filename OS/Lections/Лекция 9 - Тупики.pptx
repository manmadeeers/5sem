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2"/>
  </p:notesMasterIdLst>
  <p:sldIdLst>
    <p:sldId id="256" r:id="rId2"/>
    <p:sldId id="322" r:id="rId3"/>
    <p:sldId id="2176" r:id="rId4"/>
    <p:sldId id="2260" r:id="rId5"/>
    <p:sldId id="2261" r:id="rId6"/>
    <p:sldId id="2263" r:id="rId7"/>
    <p:sldId id="2264" r:id="rId8"/>
    <p:sldId id="2265" r:id="rId9"/>
    <p:sldId id="2266" r:id="rId10"/>
    <p:sldId id="2267" r:id="rId11"/>
    <p:sldId id="2268" r:id="rId12"/>
    <p:sldId id="2269" r:id="rId13"/>
    <p:sldId id="2270" r:id="rId14"/>
    <p:sldId id="2271" r:id="rId15"/>
    <p:sldId id="2272" r:id="rId16"/>
    <p:sldId id="2273" r:id="rId17"/>
    <p:sldId id="2274" r:id="rId18"/>
    <p:sldId id="2262" r:id="rId19"/>
    <p:sldId id="2275" r:id="rId20"/>
    <p:sldId id="2277" r:id="rId21"/>
    <p:sldId id="2276" r:id="rId22"/>
    <p:sldId id="2279" r:id="rId23"/>
    <p:sldId id="2280" r:id="rId24"/>
    <p:sldId id="2281" r:id="rId25"/>
    <p:sldId id="2282" r:id="rId26"/>
    <p:sldId id="2283" r:id="rId27"/>
    <p:sldId id="2284" r:id="rId28"/>
    <p:sldId id="2285" r:id="rId29"/>
    <p:sldId id="2286" r:id="rId30"/>
    <p:sldId id="2278" r:id="rId31"/>
    <p:sldId id="2287" r:id="rId32"/>
    <p:sldId id="2289" r:id="rId33"/>
    <p:sldId id="2290" r:id="rId34"/>
    <p:sldId id="2291" r:id="rId35"/>
    <p:sldId id="2292" r:id="rId36"/>
    <p:sldId id="2293" r:id="rId37"/>
    <p:sldId id="2294" r:id="rId38"/>
    <p:sldId id="2295" r:id="rId39"/>
    <p:sldId id="2296" r:id="rId40"/>
    <p:sldId id="2297" r:id="rId41"/>
    <p:sldId id="2298" r:id="rId42"/>
    <p:sldId id="2299" r:id="rId43"/>
    <p:sldId id="2300" r:id="rId44"/>
    <p:sldId id="2301" r:id="rId45"/>
    <p:sldId id="2302" r:id="rId46"/>
    <p:sldId id="2288" r:id="rId47"/>
    <p:sldId id="2304" r:id="rId48"/>
    <p:sldId id="2306" r:id="rId49"/>
    <p:sldId id="2307" r:id="rId50"/>
    <p:sldId id="2308" r:id="rId51"/>
    <p:sldId id="2305" r:id="rId52"/>
    <p:sldId id="2309" r:id="rId53"/>
    <p:sldId id="2303" r:id="rId54"/>
    <p:sldId id="2310" r:id="rId55"/>
    <p:sldId id="2311" r:id="rId56"/>
    <p:sldId id="2313" r:id="rId57"/>
    <p:sldId id="2312" r:id="rId58"/>
    <p:sldId id="2315" r:id="rId59"/>
    <p:sldId id="2316" r:id="rId60"/>
    <p:sldId id="2318" r:id="rId61"/>
    <p:sldId id="2319" r:id="rId62"/>
    <p:sldId id="2320" r:id="rId63"/>
    <p:sldId id="2322" r:id="rId64"/>
    <p:sldId id="2323" r:id="rId65"/>
    <p:sldId id="2324" r:id="rId66"/>
    <p:sldId id="2325" r:id="rId67"/>
    <p:sldId id="2326" r:id="rId68"/>
    <p:sldId id="2327" r:id="rId69"/>
    <p:sldId id="2328" r:id="rId70"/>
    <p:sldId id="2329" r:id="rId71"/>
    <p:sldId id="2330" r:id="rId72"/>
    <p:sldId id="2331" r:id="rId73"/>
    <p:sldId id="2332" r:id="rId74"/>
    <p:sldId id="2314" r:id="rId75"/>
    <p:sldId id="2334" r:id="rId76"/>
    <p:sldId id="2335" r:id="rId77"/>
    <p:sldId id="2336" r:id="rId78"/>
    <p:sldId id="2337" r:id="rId79"/>
    <p:sldId id="2338" r:id="rId80"/>
    <p:sldId id="2339" r:id="rId81"/>
    <p:sldId id="2340" r:id="rId82"/>
    <p:sldId id="2341" r:id="rId83"/>
    <p:sldId id="2343" r:id="rId84"/>
    <p:sldId id="2344" r:id="rId85"/>
    <p:sldId id="2345" r:id="rId86"/>
    <p:sldId id="2346" r:id="rId87"/>
    <p:sldId id="2347" r:id="rId88"/>
    <p:sldId id="2349" r:id="rId89"/>
    <p:sldId id="2348" r:id="rId90"/>
    <p:sldId id="2342" r:id="rId91"/>
    <p:sldId id="2350" r:id="rId92"/>
    <p:sldId id="2351" r:id="rId93"/>
    <p:sldId id="2352" r:id="rId94"/>
    <p:sldId id="2353" r:id="rId95"/>
    <p:sldId id="2354" r:id="rId96"/>
    <p:sldId id="2355" r:id="rId97"/>
    <p:sldId id="2356" r:id="rId98"/>
    <p:sldId id="2357" r:id="rId99"/>
    <p:sldId id="2358" r:id="rId100"/>
    <p:sldId id="2359" r:id="rId101"/>
    <p:sldId id="2360" r:id="rId102"/>
    <p:sldId id="2361" r:id="rId103"/>
    <p:sldId id="2362" r:id="rId104"/>
    <p:sldId id="2363" r:id="rId105"/>
    <p:sldId id="2365" r:id="rId106"/>
    <p:sldId id="2366" r:id="rId107"/>
    <p:sldId id="2367" r:id="rId108"/>
    <p:sldId id="2368" r:id="rId109"/>
    <p:sldId id="2333" r:id="rId110"/>
    <p:sldId id="2369" r:id="rId111"/>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176"/>
            <p14:sldId id="2260"/>
            <p14:sldId id="2261"/>
            <p14:sldId id="2263"/>
            <p14:sldId id="2264"/>
            <p14:sldId id="2265"/>
            <p14:sldId id="2266"/>
            <p14:sldId id="2267"/>
            <p14:sldId id="2268"/>
            <p14:sldId id="2269"/>
            <p14:sldId id="2270"/>
            <p14:sldId id="2271"/>
            <p14:sldId id="2272"/>
            <p14:sldId id="2273"/>
            <p14:sldId id="2274"/>
            <p14:sldId id="2262"/>
            <p14:sldId id="2275"/>
            <p14:sldId id="2277"/>
            <p14:sldId id="2276"/>
            <p14:sldId id="2279"/>
            <p14:sldId id="2280"/>
            <p14:sldId id="2281"/>
            <p14:sldId id="2282"/>
            <p14:sldId id="2283"/>
            <p14:sldId id="2284"/>
            <p14:sldId id="2285"/>
            <p14:sldId id="2286"/>
            <p14:sldId id="2278"/>
            <p14:sldId id="2287"/>
            <p14:sldId id="2289"/>
            <p14:sldId id="2290"/>
            <p14:sldId id="2291"/>
            <p14:sldId id="2292"/>
            <p14:sldId id="2293"/>
            <p14:sldId id="2294"/>
            <p14:sldId id="2295"/>
            <p14:sldId id="2296"/>
            <p14:sldId id="2297"/>
            <p14:sldId id="2298"/>
            <p14:sldId id="2299"/>
            <p14:sldId id="2300"/>
            <p14:sldId id="2301"/>
            <p14:sldId id="2302"/>
            <p14:sldId id="2288"/>
            <p14:sldId id="2304"/>
            <p14:sldId id="2306"/>
            <p14:sldId id="2307"/>
            <p14:sldId id="2308"/>
            <p14:sldId id="2305"/>
            <p14:sldId id="2309"/>
            <p14:sldId id="2303"/>
            <p14:sldId id="2310"/>
            <p14:sldId id="2311"/>
            <p14:sldId id="2313"/>
            <p14:sldId id="2312"/>
            <p14:sldId id="2315"/>
            <p14:sldId id="2316"/>
            <p14:sldId id="2318"/>
            <p14:sldId id="2319"/>
            <p14:sldId id="2320"/>
            <p14:sldId id="2322"/>
            <p14:sldId id="2323"/>
            <p14:sldId id="2324"/>
            <p14:sldId id="2325"/>
            <p14:sldId id="2326"/>
            <p14:sldId id="2327"/>
            <p14:sldId id="2328"/>
            <p14:sldId id="2329"/>
            <p14:sldId id="2330"/>
            <p14:sldId id="2331"/>
            <p14:sldId id="2332"/>
            <p14:sldId id="2314"/>
            <p14:sldId id="2334"/>
            <p14:sldId id="2335"/>
            <p14:sldId id="2336"/>
            <p14:sldId id="2337"/>
            <p14:sldId id="2338"/>
            <p14:sldId id="2339"/>
            <p14:sldId id="2340"/>
            <p14:sldId id="2341"/>
            <p14:sldId id="2343"/>
            <p14:sldId id="2344"/>
            <p14:sldId id="2345"/>
            <p14:sldId id="2346"/>
            <p14:sldId id="2347"/>
            <p14:sldId id="2349"/>
            <p14:sldId id="2348"/>
            <p14:sldId id="2342"/>
            <p14:sldId id="2350"/>
            <p14:sldId id="2351"/>
            <p14:sldId id="2352"/>
            <p14:sldId id="2353"/>
            <p14:sldId id="2354"/>
            <p14:sldId id="2355"/>
            <p14:sldId id="2356"/>
            <p14:sldId id="2357"/>
            <p14:sldId id="2358"/>
            <p14:sldId id="2359"/>
            <p14:sldId id="2360"/>
            <p14:sldId id="2361"/>
            <p14:sldId id="2362"/>
            <p14:sldId id="2363"/>
            <p14:sldId id="2365"/>
            <p14:sldId id="2366"/>
            <p14:sldId id="2367"/>
            <p14:sldId id="2368"/>
            <p14:sldId id="2333"/>
            <p14:sldId id="23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18" autoAdjust="0"/>
    <p:restoredTop sz="94660"/>
  </p:normalViewPr>
  <p:slideViewPr>
    <p:cSldViewPr snapToGrid="0">
      <p:cViewPr varScale="1">
        <p:scale>
          <a:sx n="57" d="100"/>
          <a:sy n="57" d="100"/>
        </p:scale>
        <p:origin x="102" y="11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commentAuthors" Target="commen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12/28/2025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18</a:t>
            </a:fld>
            <a:endParaRPr lang="LID4096"/>
          </a:p>
        </p:txBody>
      </p:sp>
    </p:spTree>
    <p:extLst>
      <p:ext uri="{BB962C8B-B14F-4D97-AF65-F5344CB8AC3E}">
        <p14:creationId xmlns:p14="http://schemas.microsoft.com/office/powerpoint/2010/main" val="262661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12/28/2025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5218440" y="3635620"/>
            <a:ext cx="1755121"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Тупики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9</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Понятие тупика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Условия возникновения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Подходы к разрешению проблемы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Дисциплины предотвращения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 банкира для обхода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Граф запросов и распределения ресурсов в алгоритмах обнаружения тупиков</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мы уже говорили в компьютерных системах множество ресурсов, которые одновременно могут использоваться только одним процессом</a:t>
            </a:r>
          </a:p>
          <a:p>
            <a:pPr marL="0" indent="0">
              <a:buNone/>
            </a:pPr>
            <a:r>
              <a:rPr lang="ru-RU" dirty="0">
                <a:latin typeface="Cambria" panose="02040503050406030204" pitchFamily="18" charset="0"/>
                <a:ea typeface="Cambria" panose="02040503050406030204" pitchFamily="18" charset="0"/>
              </a:rPr>
              <a:t>Поэтому все операционные системы способны временно предоставлять процессу исключительные права доступа к конкретным ресурсам (в общем-то в этом и есть суть синхронизации)</a:t>
            </a:r>
          </a:p>
          <a:p>
            <a:pPr marL="0" indent="0">
              <a:buNone/>
            </a:pPr>
            <a:r>
              <a:rPr lang="ru-RU" dirty="0">
                <a:latin typeface="Cambria" panose="02040503050406030204" pitchFamily="18" charset="0"/>
                <a:ea typeface="Cambria" panose="02040503050406030204" pitchFamily="18" charset="0"/>
              </a:rPr>
              <a:t>Однако при работе многих приложений процессу может быть нужен исключительный доступ не к одному, а сразу к нескольким ресурсам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57513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373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Предположим, к примеру, что каждый из двух процессов захотел записать отсканированный документ на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 Процесс A запрашивает разрешение на использование сканера и получает его</a:t>
            </a:r>
          </a:p>
          <a:p>
            <a:pPr marL="0" indent="0">
              <a:buNone/>
            </a:pPr>
            <a:r>
              <a:rPr lang="ru-RU" dirty="0">
                <a:latin typeface="Cambria" panose="02040503050406030204" pitchFamily="18" charset="0"/>
                <a:ea typeface="Cambria" panose="02040503050406030204" pitchFamily="18" charset="0"/>
              </a:rPr>
              <a:t>Процесс B запрограммирован по-другому: сначала он запрашивает разрешение на использование пишущего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и также получает это разрешение</a:t>
            </a:r>
          </a:p>
          <a:p>
            <a:pPr marL="0" indent="0">
              <a:buNone/>
            </a:pPr>
            <a:r>
              <a:rPr lang="ru-RU" dirty="0">
                <a:latin typeface="Cambria" panose="02040503050406030204" pitchFamily="18" charset="0"/>
                <a:ea typeface="Cambria" panose="02040503050406030204" pitchFamily="18" charset="0"/>
              </a:rPr>
              <a:t>Теперь A запрашивает разрешение на использование пишущего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но запрос отклоняется до тех пор, пока это устройство не будет освобождено процессом B. К сожалению, вместо того чтобы освободить привод, B запрашивает разрешение на использование сканера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7440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 этот момент оба процесса оказываются заблокированными навсегда</a:t>
            </a:r>
          </a:p>
          <a:p>
            <a:pPr marL="0" indent="0">
              <a:buNone/>
            </a:pPr>
            <a:r>
              <a:rPr lang="ru-RU" dirty="0">
                <a:latin typeface="Cambria" panose="02040503050406030204" pitchFamily="18" charset="0"/>
                <a:ea typeface="Cambria" panose="02040503050406030204" pitchFamily="18" charset="0"/>
              </a:rPr>
              <a:t>И как мы уже упоминали в лекции по синхронизации, такая ситуация называется </a:t>
            </a:r>
            <a:r>
              <a:rPr lang="ru-RU" b="1" dirty="0">
                <a:latin typeface="Cambria" panose="02040503050406030204" pitchFamily="18" charset="0"/>
                <a:ea typeface="Cambria" panose="02040503050406030204" pitchFamily="18" charset="0"/>
              </a:rPr>
              <a:t>взаимоблокировкой </a:t>
            </a:r>
            <a:r>
              <a:rPr lang="ru-RU"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deadlock</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тупиковой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ситуацией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тупиком</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Взаимоблокировки могут случаться и между машинами, например, если для нескольких устройств рассматривать тот же принтер в качестве общего ресурса</a:t>
            </a:r>
          </a:p>
          <a:p>
            <a:pPr marL="0" indent="0">
              <a:buNone/>
            </a:pPr>
            <a:r>
              <a:rPr lang="ru-RU" dirty="0">
                <a:latin typeface="Cambria" panose="02040503050406030204" pitchFamily="18" charset="0"/>
                <a:ea typeface="Cambria" panose="02040503050406030204" pitchFamily="18" charset="0"/>
              </a:rPr>
              <a:t>Взаимоблокировки могут возникать и при массе других обстоятельств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9071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Основная часть взаимоблокировок связана с ресурсами, к которым некоторым процессам были предоставлены исключительные права доступа. К их числу относятся устройства, записи данных, файлы и т. д.</a:t>
            </a:r>
          </a:p>
          <a:p>
            <a:pPr marL="0" indent="0">
              <a:buNone/>
            </a:pPr>
            <a:r>
              <a:rPr lang="ru-RU" dirty="0">
                <a:latin typeface="Cambria" panose="02040503050406030204" pitchFamily="18" charset="0"/>
                <a:ea typeface="Cambria" panose="02040503050406030204" pitchFamily="18" charset="0"/>
              </a:rPr>
              <a:t>Чтобы придать рассмотрению взаимоблокировок как можно более универсальный характер, мы будем называть объекты, к которым предоставляется доступ, </a:t>
            </a:r>
            <a:r>
              <a:rPr lang="ru-RU" b="1" dirty="0">
                <a:latin typeface="Cambria" panose="02040503050406030204" pitchFamily="18" charset="0"/>
                <a:ea typeface="Cambria" panose="02040503050406030204" pitchFamily="18" charset="0"/>
              </a:rPr>
              <a:t>ресурсами</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Ресурсами могут быть аппаратные устройства (например,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или какая-то часть информации (например, запись базы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945219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7173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Обычно у компьютера может быть множество ресурсов, которые могут быть предоставлены процессу. Некоторые ресурсы могут быть доступны в нескольких идентичных экземплярах, например три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a:p>
            <a:pPr marL="0" indent="0">
              <a:buNone/>
            </a:pPr>
            <a:r>
              <a:rPr lang="ru-RU" dirty="0">
                <a:latin typeface="Cambria" panose="02040503050406030204" pitchFamily="18" charset="0"/>
                <a:ea typeface="Cambria" panose="02040503050406030204" pitchFamily="18" charset="0"/>
              </a:rPr>
              <a:t>Когда доступны несколько копий ресурса, то для удовлетворения любого запроса на ресурс может быть использован один из них</a:t>
            </a:r>
          </a:p>
          <a:p>
            <a:pPr marL="0" indent="0">
              <a:buNone/>
            </a:pPr>
            <a:r>
              <a:rPr lang="ru-RU" dirty="0">
                <a:latin typeface="Cambria" panose="02040503050406030204" pitchFamily="18" charset="0"/>
                <a:ea typeface="Cambria" panose="02040503050406030204" pitchFamily="18" charset="0"/>
              </a:rPr>
              <a:t>Короче говоря, под ресурсом понимается все, что должно предоставляться, использоваться и через некоторое время высвобождаться, поскольку в один и тот же момент времени может использоваться только одним процессом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481975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07028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Ресурсы бывают двух видов: выгружаемые и невыгружаемые</a:t>
            </a:r>
          </a:p>
          <a:p>
            <a:pPr marL="0" indent="0">
              <a:buNone/>
            </a:pPr>
            <a:r>
              <a:rPr lang="ru-RU" dirty="0">
                <a:latin typeface="Cambria" panose="02040503050406030204" pitchFamily="18" charset="0"/>
                <a:ea typeface="Cambria" panose="02040503050406030204" pitchFamily="18" charset="0"/>
              </a:rPr>
              <a:t>К </a:t>
            </a:r>
            <a:r>
              <a:rPr lang="ru-RU" b="1" dirty="0">
                <a:latin typeface="Cambria" panose="02040503050406030204" pitchFamily="18" charset="0"/>
                <a:ea typeface="Cambria" panose="02040503050406030204" pitchFamily="18" charset="0"/>
              </a:rPr>
              <a:t>выгружаемым</a:t>
            </a:r>
            <a:r>
              <a:rPr lang="ru-RU" dirty="0">
                <a:latin typeface="Cambria" panose="02040503050406030204" pitchFamily="18" charset="0"/>
                <a:ea typeface="Cambria" panose="02040503050406030204" pitchFamily="18" charset="0"/>
              </a:rPr>
              <a:t> относятся такие ресурсы, которые могут быть безболезненно отобраны у процесса, который ими обладает</a:t>
            </a:r>
          </a:p>
          <a:p>
            <a:pPr marL="0" indent="0">
              <a:buNone/>
            </a:pPr>
            <a:r>
              <a:rPr lang="ru-RU" dirty="0">
                <a:latin typeface="Cambria" panose="02040503050406030204" pitchFamily="18" charset="0"/>
                <a:ea typeface="Cambria" panose="02040503050406030204" pitchFamily="18" charset="0"/>
              </a:rPr>
              <a:t>Примером такого ресурса может послужить память. Рассмотрим систему, имеющую 1 Гбайт пользовательской памяти, один принтер и два процесса по 1 Гбайт, каждый из которых хочет что-то вывести на печать. Процесс A запрашивает и получает принтер, а затем начинает вычислять значение, предназначенное для вывода на печать. Но до завершения вычисления истекает выделенный ему квант времени, и он выгружается на диск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210449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18790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запускается процесс B, безуспешно, как оказывается, пытаясь завладеть принтером. Потенциально возникает ситуация взаимоблокировки, поскольку у процесса A есть принтер, а у процесса B – память и ни один из них не может продолжить свою работу без ресурса, удерживаемого другим процессом</a:t>
            </a:r>
          </a:p>
          <a:p>
            <a:pPr marL="0" indent="0">
              <a:buNone/>
            </a:pPr>
            <a:r>
              <a:rPr lang="ru-RU" dirty="0">
                <a:latin typeface="Cambria" panose="02040503050406030204" pitchFamily="18" charset="0"/>
                <a:ea typeface="Cambria" panose="02040503050406030204" pitchFamily="18" charset="0"/>
              </a:rPr>
              <a:t>К счастью, есть возможность отобрать память у процесса B, выгрузив этот процесс на диск, и загрузить оттуда процесс A </a:t>
            </a:r>
          </a:p>
          <a:p>
            <a:pPr marL="0" indent="0">
              <a:buNone/>
            </a:pPr>
            <a:r>
              <a:rPr lang="ru-RU" dirty="0">
                <a:latin typeface="Cambria" panose="02040503050406030204" pitchFamily="18" charset="0"/>
                <a:ea typeface="Cambria" panose="02040503050406030204" pitchFamily="18" charset="0"/>
              </a:rPr>
              <a:t>Теперь A может возобновить свою работу, выполнить распечатку и высвободить принтер. И никакой взаимоблокировки не возникнет</a:t>
            </a:r>
            <a:endParaRPr lang="ru-RU"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31963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414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А вот </a:t>
            </a:r>
            <a:r>
              <a:rPr lang="ru-RU" b="1" dirty="0">
                <a:latin typeface="Cambria" panose="02040503050406030204" pitchFamily="18" charset="0"/>
                <a:ea typeface="Cambria" panose="02040503050406030204" pitchFamily="18" charset="0"/>
              </a:rPr>
              <a:t>невыгружаемый </a:t>
            </a:r>
            <a:r>
              <a:rPr lang="ru-RU" dirty="0">
                <a:latin typeface="Cambria" panose="02040503050406030204" pitchFamily="18" charset="0"/>
                <a:ea typeface="Cambria" panose="02040503050406030204" pitchFamily="18" charset="0"/>
              </a:rPr>
              <a:t>ресурс нельзя отобрать у его текущего владельца, не вызвав потенциально сбоя в вычислениях</a:t>
            </a:r>
          </a:p>
          <a:p>
            <a:pPr marL="0" indent="0">
              <a:buNone/>
            </a:pPr>
            <a:r>
              <a:rPr lang="ru-RU" dirty="0">
                <a:latin typeface="Cambria" panose="02040503050406030204" pitchFamily="18" charset="0"/>
                <a:ea typeface="Cambria" panose="02040503050406030204" pitchFamily="18" charset="0"/>
              </a:rPr>
              <a:t>Если у процесса, который уже приступил к записи на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 внезапно отобрать пишущий привод и отдать его другому процессу, это приведет к порче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-диска. Пишущие приводы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нельзя отобрать в произвольный момент</a:t>
            </a:r>
          </a:p>
          <a:p>
            <a:pPr marL="0" indent="0">
              <a:buNone/>
            </a:pPr>
            <a:r>
              <a:rPr lang="ru-RU" dirty="0">
                <a:latin typeface="Cambria" panose="02040503050406030204" pitchFamily="18" charset="0"/>
                <a:ea typeface="Cambria" panose="02040503050406030204" pitchFamily="18" charset="0"/>
              </a:rPr>
              <a:t>Выгружаемость ресурса зависит от контекста</a:t>
            </a:r>
          </a:p>
          <a:p>
            <a:pPr marL="0" indent="0">
              <a:buNone/>
            </a:pPr>
            <a:r>
              <a:rPr lang="ru-RU" dirty="0">
                <a:latin typeface="Cambria" panose="02040503050406030204" pitchFamily="18" charset="0"/>
                <a:ea typeface="Cambria" panose="02040503050406030204" pitchFamily="18" charset="0"/>
              </a:rPr>
              <a:t>Как правило, во взаимоблокировках фигурируют невыгружаемые ресурсы. Обычно потенциальные взаимоблокировки с участием выгружаемых ресурсов могут быть устранены путем перераспределения ресурсов от одного процесса к другому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041083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8400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наиболее общем виде при использовании ресурса происходит следующая последовательность событий:</a:t>
            </a:r>
          </a:p>
          <a:p>
            <a:pPr marL="0" indent="0">
              <a:buNone/>
            </a:pPr>
            <a:r>
              <a:rPr lang="ru-RU" dirty="0">
                <a:latin typeface="Cambria" panose="02040503050406030204" pitchFamily="18" charset="0"/>
                <a:ea typeface="Cambria" panose="02040503050406030204" pitchFamily="18" charset="0"/>
              </a:rPr>
              <a:t>1. Запрос ресурса</a:t>
            </a:r>
          </a:p>
          <a:p>
            <a:pPr marL="0" indent="0">
              <a:buNone/>
            </a:pPr>
            <a:r>
              <a:rPr lang="ru-RU" dirty="0">
                <a:latin typeface="Cambria" panose="02040503050406030204" pitchFamily="18" charset="0"/>
                <a:ea typeface="Cambria" panose="02040503050406030204" pitchFamily="18" charset="0"/>
              </a:rPr>
              <a:t>2. Использование ресурса</a:t>
            </a:r>
          </a:p>
          <a:p>
            <a:pPr marL="0" indent="0">
              <a:buNone/>
            </a:pPr>
            <a:r>
              <a:rPr lang="ru-RU" dirty="0">
                <a:latin typeface="Cambria" panose="02040503050406030204" pitchFamily="18" charset="0"/>
                <a:ea typeface="Cambria" panose="02040503050406030204" pitchFamily="18" charset="0"/>
              </a:rPr>
              <a:t>3. Высвобождение ресурса</a:t>
            </a:r>
          </a:p>
          <a:p>
            <a:pPr marL="0" indent="0">
              <a:buNone/>
            </a:pPr>
            <a:r>
              <a:rPr lang="ru-RU" dirty="0">
                <a:latin typeface="Cambria" panose="02040503050406030204" pitchFamily="18" charset="0"/>
                <a:ea typeface="Cambria" panose="02040503050406030204" pitchFamily="18" charset="0"/>
              </a:rPr>
              <a:t>Если во время запроса ресурс недоступен, запрашивающий процесс вынужден перейти к ожиданию. В некоторых операционных системах при отказе в выделении запрошенного ресурса процесс автоматически блокируется, а когда ресурс становится доступен – возобновляется</a:t>
            </a:r>
          </a:p>
          <a:p>
            <a:pPr marL="0" indent="0">
              <a:buNone/>
            </a:pPr>
            <a:r>
              <a:rPr lang="ru-RU" dirty="0">
                <a:latin typeface="Cambria" panose="02040503050406030204" pitchFamily="18" charset="0"/>
                <a:ea typeface="Cambria" panose="02040503050406030204" pitchFamily="18" charset="0"/>
              </a:rPr>
              <a:t>В других системах отказ в выделении запрашиваемого ресурса сопровождается кодом ошибки, и принятие решения о том, что следует делать, немного подождать или попытаться снова получить ресурс, возлагается на вызывающий процесс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69227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365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Для некоторых видов ресурсов, таких как записи в базе данных, управление использованием ресурсов зависит от самих пользовательских процессов, а не от системы</a:t>
            </a:r>
          </a:p>
          <a:p>
            <a:pPr marL="0" indent="0">
              <a:buNone/>
            </a:pPr>
            <a:r>
              <a:rPr lang="ru-RU" dirty="0">
                <a:latin typeface="Cambria" panose="02040503050406030204" pitchFamily="18" charset="0"/>
                <a:ea typeface="Cambria" panose="02040503050406030204" pitchFamily="18" charset="0"/>
              </a:rPr>
              <a:t>Один из способов, позволяющих ввести пользовательское управление ресурсами, заключается в присоединении семафора к каждому из ресурсов</a:t>
            </a:r>
          </a:p>
          <a:p>
            <a:pPr marL="0" indent="0">
              <a:buNone/>
            </a:pPr>
            <a:r>
              <a:rPr lang="ru-RU" dirty="0">
                <a:latin typeface="Cambria" panose="02040503050406030204" pitchFamily="18" charset="0"/>
                <a:ea typeface="Cambria" panose="02040503050406030204" pitchFamily="18" charset="0"/>
              </a:rPr>
              <a:t>Все эти семафоры получают исходное значение, равное 1. С таким же успехом могут использоваться и мьютексы</a:t>
            </a:r>
          </a:p>
          <a:p>
            <a:pPr marL="0" indent="0">
              <a:buNone/>
            </a:pPr>
            <a:r>
              <a:rPr lang="ru-RU" dirty="0">
                <a:latin typeface="Cambria" panose="02040503050406030204" pitchFamily="18" charset="0"/>
                <a:ea typeface="Cambria" panose="02040503050406030204" pitchFamily="18" charset="0"/>
              </a:rPr>
              <a:t>Перечисленные ранее три этапа затем воплощаются в применение к семафору вызова </a:t>
            </a:r>
            <a:r>
              <a:rPr lang="ru-RU" i="1" dirty="0" err="1">
                <a:latin typeface="Cambria" panose="02040503050406030204" pitchFamily="18" charset="0"/>
                <a:ea typeface="Cambria" panose="02040503050406030204" pitchFamily="18" charset="0"/>
              </a:rPr>
              <a:t>down</a:t>
            </a:r>
            <a:r>
              <a:rPr lang="ru-RU" dirty="0">
                <a:latin typeface="Cambria" panose="02040503050406030204" pitchFamily="18" charset="0"/>
                <a:ea typeface="Cambria" panose="02040503050406030204" pitchFamily="18" charset="0"/>
              </a:rPr>
              <a:t> для получения ресурса, использование ресурса и, в завершение, применение вызова </a:t>
            </a:r>
            <a:r>
              <a:rPr lang="ru-RU" i="1" dirty="0" err="1">
                <a:latin typeface="Cambria" panose="02040503050406030204" pitchFamily="18" charset="0"/>
                <a:ea typeface="Cambria" panose="02040503050406030204" pitchFamily="18" charset="0"/>
              </a:rPr>
              <a:t>up</a:t>
            </a:r>
            <a:r>
              <a:rPr lang="ru-RU" dirty="0">
                <a:latin typeface="Cambria" panose="02040503050406030204" pitchFamily="18" charset="0"/>
                <a:ea typeface="Cambria" panose="02040503050406030204" pitchFamily="18" charset="0"/>
              </a:rPr>
              <a:t> при высвобождении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951083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99742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415936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A49348B-0A25-60D5-60C2-5C1979E5C4DE}"/>
              </a:ext>
            </a:extLst>
          </p:cNvPr>
          <p:cNvPicPr>
            <a:picLocks noChangeAspect="1"/>
          </p:cNvPicPr>
          <p:nvPr/>
        </p:nvPicPr>
        <p:blipFill>
          <a:blip r:embed="rId2"/>
          <a:stretch>
            <a:fillRect/>
          </a:stretch>
        </p:blipFill>
        <p:spPr>
          <a:xfrm>
            <a:off x="1990152" y="1993253"/>
            <a:ext cx="8211696" cy="4001058"/>
          </a:xfrm>
          <a:prstGeom prst="rect">
            <a:avLst/>
          </a:prstGeom>
        </p:spPr>
      </p:pic>
    </p:spTree>
    <p:extLst>
      <p:ext uri="{BB962C8B-B14F-4D97-AF65-F5344CB8AC3E}">
        <p14:creationId xmlns:p14="http://schemas.microsoft.com/office/powerpoint/2010/main" val="157052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Пока все идет хорошо. Пока речь идет только об одном процессе, все работает нормально. Конечно, когда используется только один процесс, нет нужды в формальном получении ресурсов, поскольку нет соперничества за обладание ими</a:t>
            </a:r>
          </a:p>
          <a:p>
            <a:pPr marL="0" indent="0">
              <a:buNone/>
            </a:pPr>
            <a:r>
              <a:rPr lang="ru-RU" dirty="0">
                <a:latin typeface="Cambria" panose="02040503050406030204" pitchFamily="18" charset="0"/>
                <a:ea typeface="Cambria" panose="02040503050406030204" pitchFamily="18" charset="0"/>
              </a:rPr>
              <a:t>Теперь рассмотрим ситуацию с двумя процессами – A и B – и двумя ресурсами</a:t>
            </a:r>
          </a:p>
          <a:p>
            <a:pPr marL="0" indent="0">
              <a:buNone/>
            </a:pPr>
            <a:r>
              <a:rPr lang="ru-RU" dirty="0">
                <a:latin typeface="Cambria" panose="02040503050406030204" pitchFamily="18" charset="0"/>
                <a:ea typeface="Cambria" panose="02040503050406030204" pitchFamily="18" charset="0"/>
              </a:rPr>
              <a:t>Рассмотрим два сценария: </a:t>
            </a:r>
          </a:p>
          <a:p>
            <a:pPr marL="0" indent="0">
              <a:buNone/>
            </a:pPr>
            <a:r>
              <a:rPr lang="ru-RU" dirty="0">
                <a:latin typeface="Cambria" panose="02040503050406030204" pitchFamily="18" charset="0"/>
                <a:ea typeface="Cambria" panose="02040503050406030204" pitchFamily="18" charset="0"/>
              </a:rPr>
              <a:t>а – оба процесса запрашивают ресурсы в одном и том же порядке </a:t>
            </a:r>
          </a:p>
          <a:p>
            <a:pPr marL="0" indent="0">
              <a:buNone/>
            </a:pPr>
            <a:r>
              <a:rPr lang="ru-RU" dirty="0">
                <a:latin typeface="Cambria" panose="02040503050406030204" pitchFamily="18" charset="0"/>
                <a:ea typeface="Cambria" panose="02040503050406030204" pitchFamily="18" charset="0"/>
              </a:rPr>
              <a:t>б – запрашивают ресурсы в разном порядке</a:t>
            </a:r>
          </a:p>
          <a:p>
            <a:pPr marL="0" indent="0">
              <a:buNone/>
            </a:pPr>
            <a:r>
              <a:rPr lang="ru-RU" dirty="0">
                <a:latin typeface="Cambria" panose="02040503050406030204" pitchFamily="18" charset="0"/>
                <a:ea typeface="Cambria" panose="02040503050406030204" pitchFamily="18" charset="0"/>
              </a:rPr>
              <a:t>Разница может показаться несущественной, но это не так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40588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6266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210098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pSp>
        <p:nvGrpSpPr>
          <p:cNvPr id="10" name="Group 9">
            <a:extLst>
              <a:ext uri="{FF2B5EF4-FFF2-40B4-BE49-F238E27FC236}">
                <a16:creationId xmlns:a16="http://schemas.microsoft.com/office/drawing/2014/main" id="{E5B310D8-73D6-E436-0779-144338742D57}"/>
              </a:ext>
            </a:extLst>
          </p:cNvPr>
          <p:cNvGrpSpPr/>
          <p:nvPr/>
        </p:nvGrpSpPr>
        <p:grpSpPr>
          <a:xfrm>
            <a:off x="2640685" y="1618899"/>
            <a:ext cx="6910629" cy="4873975"/>
            <a:chOff x="2862783" y="1609121"/>
            <a:chExt cx="6201258" cy="4219925"/>
          </a:xfrm>
        </p:grpSpPr>
        <p:pic>
          <p:nvPicPr>
            <p:cNvPr id="9" name="Picture 8">
              <a:extLst>
                <a:ext uri="{FF2B5EF4-FFF2-40B4-BE49-F238E27FC236}">
                  <a16:creationId xmlns:a16="http://schemas.microsoft.com/office/drawing/2014/main" id="{A3A75EAF-96DE-7778-D356-DACA589BA106}"/>
                </a:ext>
              </a:extLst>
            </p:cNvPr>
            <p:cNvPicPr>
              <a:picLocks noChangeAspect="1"/>
            </p:cNvPicPr>
            <p:nvPr/>
          </p:nvPicPr>
          <p:blipFill>
            <a:blip r:embed="rId2"/>
            <a:stretch>
              <a:fillRect/>
            </a:stretch>
          </p:blipFill>
          <p:spPr>
            <a:xfrm>
              <a:off x="3243454" y="4485834"/>
              <a:ext cx="5820587" cy="1343212"/>
            </a:xfrm>
            <a:prstGeom prst="rect">
              <a:avLst/>
            </a:prstGeom>
          </p:spPr>
        </p:pic>
        <p:pic>
          <p:nvPicPr>
            <p:cNvPr id="7" name="Picture 6">
              <a:extLst>
                <a:ext uri="{FF2B5EF4-FFF2-40B4-BE49-F238E27FC236}">
                  <a16:creationId xmlns:a16="http://schemas.microsoft.com/office/drawing/2014/main" id="{890A872F-55F6-A796-53E8-4F319C0132E9}"/>
                </a:ext>
              </a:extLst>
            </p:cNvPr>
            <p:cNvPicPr>
              <a:picLocks noChangeAspect="1"/>
            </p:cNvPicPr>
            <p:nvPr/>
          </p:nvPicPr>
          <p:blipFill>
            <a:blip r:embed="rId3"/>
            <a:srcRect b="4292"/>
            <a:stretch/>
          </p:blipFill>
          <p:spPr>
            <a:xfrm>
              <a:off x="2862783" y="1609121"/>
              <a:ext cx="6192114" cy="3063464"/>
            </a:xfrm>
            <a:prstGeom prst="rect">
              <a:avLst/>
            </a:prstGeom>
          </p:spPr>
        </p:pic>
      </p:grpSp>
    </p:spTree>
    <p:extLst>
      <p:ext uri="{BB962C8B-B14F-4D97-AF65-F5344CB8AC3E}">
        <p14:creationId xmlns:p14="http://schemas.microsoft.com/office/powerpoint/2010/main" val="3544702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случае а – один из процессов запрашивает первый ресурс раньше, чем это делает второй процесс. Затем этот же процесс успешно получает второй ресурс и выполняет свою работу. Если второй процесс попытается получить ресурс 1 до его высвобождения, то он будет просто заблокирован до тех пор, пока ресурс не станет доступен</a:t>
            </a:r>
          </a:p>
          <a:p>
            <a:pPr marL="0" indent="0">
              <a:buNone/>
            </a:pPr>
            <a:r>
              <a:rPr lang="ru-RU" dirty="0">
                <a:latin typeface="Cambria" panose="02040503050406030204" pitchFamily="18" charset="0"/>
                <a:ea typeface="Cambria" panose="02040503050406030204" pitchFamily="18" charset="0"/>
              </a:rPr>
              <a:t>В случае б – один из процессов получит оба ресурса и надежно заблокирует другой процесс до тех пор, пока не сделает свою работу. Но может случиться и так, что процесс A получит ресурс 1, а процесс B получит ресурс 2. Каждый из них теперь будет заблокирован при попытке получения второго ресурса. Ни один из процессов не возобновит свою работу</a:t>
            </a:r>
          </a:p>
          <a:p>
            <a:pPr marL="0" indent="0">
              <a:buNone/>
            </a:pPr>
            <a:r>
              <a:rPr lang="ru-RU" dirty="0">
                <a:latin typeface="Cambria" panose="02040503050406030204" pitchFamily="18" charset="0"/>
                <a:ea typeface="Cambria" panose="02040503050406030204" pitchFamily="18" charset="0"/>
              </a:rPr>
              <a:t>Плохо то, что возникнет ситуация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422649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5735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Мы видим, что происходит из-за небольшой разницы в стиле программирования: в зависимости от того, какой из ресурсов будет получен первым, программа либо работает, либо дает трудноопределимый сбой</a:t>
            </a:r>
          </a:p>
          <a:p>
            <a:pPr marL="0" indent="0">
              <a:buNone/>
            </a:pPr>
            <a:r>
              <a:rPr lang="ru-RU" dirty="0">
                <a:latin typeface="Cambria" panose="02040503050406030204" pitchFamily="18" charset="0"/>
                <a:ea typeface="Cambria" panose="02040503050406030204" pitchFamily="18" charset="0"/>
              </a:rPr>
              <a:t>Поскольку взаимоблокировки могут возникать столь просто, для борьбы с ними были проведены обширные исследования. Поэтому стоит рассмотреть взаимоблокировки и средства борьбы с ними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691809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4891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Формально определим взаимоблокировку так:</a:t>
            </a:r>
          </a:p>
          <a:p>
            <a:pPr marL="0" indent="0">
              <a:buNone/>
            </a:pPr>
            <a:r>
              <a:rPr lang="ru-RU" b="1" i="1" dirty="0">
                <a:latin typeface="Cambria" panose="02040503050406030204" pitchFamily="18" charset="0"/>
                <a:ea typeface="Cambria" panose="02040503050406030204" pitchFamily="18" charset="0"/>
              </a:rPr>
              <a:t>Взаимоблокировка в группе процессов возникает в том случае, если каждый процесс из этой группы ожидает события, наступление которого зависит исключительно от другого процесса из этой же группы</a:t>
            </a:r>
          </a:p>
          <a:p>
            <a:pPr marL="0" indent="0">
              <a:buNone/>
            </a:pPr>
            <a:r>
              <a:rPr lang="ru-RU" dirty="0">
                <a:latin typeface="Cambria" panose="02040503050406030204" pitchFamily="18" charset="0"/>
                <a:ea typeface="Cambria" panose="02040503050406030204" pitchFamily="18" charset="0"/>
              </a:rPr>
              <a:t>В большинстве случаев событием, наступления которого ожидает каждый процесс, является высвобождение какого-либо ресурса, которым на данный момент владеет другой участник группы</a:t>
            </a:r>
          </a:p>
          <a:p>
            <a:pPr marL="0" indent="0">
              <a:buNone/>
            </a:pPr>
            <a:r>
              <a:rPr lang="ru-RU" dirty="0">
                <a:latin typeface="Cambria" panose="02040503050406030204" pitchFamily="18" charset="0"/>
                <a:ea typeface="Cambria" panose="02040503050406030204" pitchFamily="18" charset="0"/>
              </a:rPr>
              <a:t>Каждый процесс из группы, попавшей в ситуацию взаимоблокировки, ожидает ресурса, которым обладает другой процесс из этой же группы. Ни один из процессов не может работать, ни один из них не может высвободить какой-либо ресурс, и ни один из них не может возобновить свою работу</a:t>
            </a:r>
          </a:p>
          <a:p>
            <a:pPr marL="0" indent="0">
              <a:buNone/>
            </a:pPr>
            <a:r>
              <a:rPr lang="ru-RU" dirty="0">
                <a:latin typeface="Cambria" panose="02040503050406030204" pitchFamily="18" charset="0"/>
                <a:ea typeface="Cambria" panose="02040503050406030204" pitchFamily="18" charset="0"/>
              </a:rPr>
              <a:t>Этот результат сохраняется для любого типа ресурсов, включая аппаратные и программные ресурсы. Этот вид взаимоблокировки называется </a:t>
            </a:r>
            <a:r>
              <a:rPr lang="ru-RU" b="1" dirty="0">
                <a:latin typeface="Cambria" panose="02040503050406030204" pitchFamily="18" charset="0"/>
                <a:ea typeface="Cambria" panose="02040503050406030204" pitchFamily="18" charset="0"/>
              </a:rPr>
              <a:t>ресурсной взаимоблокировкой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20750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И вновь причиной взаимоблокировки является ошибка при разработке программы. Такие ошибки обычно довольно таинственны и трудноуловимы. Кроме того, может оказаться, что взаимоблокировку вызывает только достаточно редкая комбинация событий, и тогда до того, как ошибка проявит себя, программа может быть в эксплуатации многие годы</a:t>
            </a:r>
          </a:p>
          <a:p>
            <a:pPr marL="0" indent="0">
              <a:buNone/>
            </a:pPr>
            <a:r>
              <a:rPr lang="ru-RU" b="1" dirty="0">
                <a:latin typeface="Cambria" panose="02040503050406030204" pitchFamily="18" charset="0"/>
                <a:ea typeface="Cambria" panose="02040503050406030204" pitchFamily="18" charset="0"/>
              </a:rPr>
              <a:t>Единой</a:t>
            </a:r>
            <a:r>
              <a:rPr lang="ru-RU" dirty="0">
                <a:latin typeface="Cambria" panose="02040503050406030204" pitchFamily="18" charset="0"/>
                <a:ea typeface="Cambria" panose="02040503050406030204" pitchFamily="18" charset="0"/>
              </a:rPr>
              <a:t> эффективной </a:t>
            </a:r>
            <a:r>
              <a:rPr lang="ru-RU" b="1" dirty="0">
                <a:latin typeface="Cambria" panose="02040503050406030204" pitchFamily="18" charset="0"/>
                <a:ea typeface="Cambria" panose="02040503050406030204" pitchFamily="18" charset="0"/>
              </a:rPr>
              <a:t>стратегии</a:t>
            </a:r>
            <a:r>
              <a:rPr lang="ru-RU" dirty="0">
                <a:latin typeface="Cambria" panose="02040503050406030204" pitchFamily="18" charset="0"/>
                <a:ea typeface="Cambria" panose="02040503050406030204" pitchFamily="18" charset="0"/>
              </a:rPr>
              <a:t> для работы со всеми типами взаимоблокировок </a:t>
            </a:r>
            <a:r>
              <a:rPr lang="ru-RU" b="1" dirty="0">
                <a:latin typeface="Cambria" panose="02040503050406030204" pitchFamily="18" charset="0"/>
                <a:ea typeface="Cambria" panose="02040503050406030204" pitchFamily="18" charset="0"/>
              </a:rPr>
              <a:t>нет</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Основные подходы к решению этой проблемы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Игнорирование проблемы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Предотвращение взаимоблокировок</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Устранение взаимоблокировок</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9570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714085"/>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Игнорирование проблемы. </a:t>
            </a:r>
            <a:r>
              <a:rPr lang="ru-RU" dirty="0">
                <a:latin typeface="Cambria" panose="02040503050406030204" pitchFamily="18" charset="0"/>
                <a:ea typeface="Cambria" panose="02040503050406030204" pitchFamily="18" charset="0"/>
              </a:rPr>
              <a:t>Может быть, если вы проигнорируете ее, она проигнорирует вас</a:t>
            </a:r>
            <a:endParaRPr lang="en-US"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Предотвращение взаимоблокировок</a:t>
            </a:r>
            <a:r>
              <a:rPr lang="ru-RU" dirty="0">
                <a:latin typeface="Cambria" panose="02040503050406030204" pitchFamily="18" charset="0"/>
                <a:ea typeface="Cambria" panose="02040503050406030204" pitchFamily="18" charset="0"/>
              </a:rPr>
              <a:t>. Не позволять осуществиться одному из необходимых условий возникновения взаимоблокировки</a:t>
            </a:r>
          </a:p>
          <a:p>
            <a:pPr marL="0" indent="0">
              <a:buNone/>
            </a:pPr>
            <a:r>
              <a:rPr lang="ru-RU" b="1" dirty="0">
                <a:latin typeface="Cambria" panose="02040503050406030204" pitchFamily="18" charset="0"/>
                <a:ea typeface="Cambria" panose="02040503050406030204" pitchFamily="18" charset="0"/>
              </a:rPr>
              <a:t>Устранение взаимоблокировок</a:t>
            </a:r>
            <a:r>
              <a:rPr lang="ru-RU" dirty="0">
                <a:latin typeface="Cambria" panose="02040503050406030204" pitchFamily="18" charset="0"/>
                <a:ea typeface="Cambria" panose="02040503050406030204" pitchFamily="18" charset="0"/>
              </a:rPr>
              <a:t>. Не выполнять запрос ресурса, если его выделение может привести к взаимоблокировке.</a:t>
            </a:r>
          </a:p>
          <a:p>
            <a:pPr marL="0" indent="0">
              <a:buNone/>
            </a:pPr>
            <a:r>
              <a:rPr lang="ru-RU" b="1" dirty="0">
                <a:latin typeface="Cambria" panose="02040503050406030204" pitchFamily="18" charset="0"/>
                <a:ea typeface="Cambria" panose="02040503050406030204" pitchFamily="18" charset="0"/>
              </a:rPr>
              <a:t>Обнаружение взаимоблокировок</a:t>
            </a:r>
            <a:r>
              <a:rPr lang="ru-RU" dirty="0">
                <a:latin typeface="Cambria" panose="02040503050406030204" pitchFamily="18" charset="0"/>
                <a:ea typeface="Cambria" panose="02040503050406030204" pitchFamily="18" charset="0"/>
              </a:rPr>
              <a:t>. По возможности выполнять запросы ресурсов, но периодически проверять наличие взаимоблокировки и принимать меры для восстановления</a:t>
            </a:r>
          </a:p>
          <a:p>
            <a:pPr marL="0" indent="0">
              <a:buNone/>
            </a:pPr>
            <a:r>
              <a:rPr lang="ru-RU" dirty="0">
                <a:latin typeface="Cambria" panose="02040503050406030204" pitchFamily="18" charset="0"/>
                <a:ea typeface="Cambria" panose="02040503050406030204" pitchFamily="18" charset="0"/>
              </a:rPr>
              <a:t>Мы изучим все перечисленные подходы к решению проблемы, но сначала рассмотрим </a:t>
            </a:r>
            <a:r>
              <a:rPr lang="ru-RU" b="1" dirty="0">
                <a:latin typeface="Cambria" panose="02040503050406030204" pitchFamily="18" charset="0"/>
                <a:ea typeface="Cambria" panose="02040503050406030204" pitchFamily="18" charset="0"/>
              </a:rPr>
              <a:t>условия возникновения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00873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Эдвард </a:t>
            </a:r>
            <a:r>
              <a:rPr lang="ru-RU" dirty="0" err="1">
                <a:latin typeface="Cambria" panose="02040503050406030204" pitchFamily="18" charset="0"/>
                <a:ea typeface="Cambria" panose="02040503050406030204" pitchFamily="18" charset="0"/>
              </a:rPr>
              <a:t>Коффман</a:t>
            </a:r>
            <a:r>
              <a:rPr lang="ru-RU" dirty="0">
                <a:latin typeface="Cambria" panose="02040503050406030204" pitchFamily="18" charset="0"/>
                <a:ea typeface="Cambria" panose="02040503050406030204" pitchFamily="18" charset="0"/>
              </a:rPr>
              <a:t> показал, что для возникновения ресурсных взаимоблокировок должны выполняться четыре условия:</a:t>
            </a:r>
          </a:p>
          <a:p>
            <a:pPr marL="0" indent="0">
              <a:buNone/>
            </a:pPr>
            <a:r>
              <a:rPr lang="ru-RU" dirty="0">
                <a:latin typeface="Cambria" panose="02040503050406030204" pitchFamily="18" charset="0"/>
                <a:ea typeface="Cambria" panose="02040503050406030204" pitchFamily="18" charset="0"/>
              </a:rPr>
              <a:t>1. </a:t>
            </a:r>
            <a:r>
              <a:rPr lang="ru-RU" b="1" dirty="0">
                <a:latin typeface="Cambria" panose="02040503050406030204" pitchFamily="18" charset="0"/>
                <a:ea typeface="Cambria" panose="02040503050406030204" pitchFamily="18" charset="0"/>
              </a:rPr>
              <a:t>Условие взаимного исключения</a:t>
            </a:r>
            <a:r>
              <a:rPr lang="ru-RU" dirty="0">
                <a:latin typeface="Cambria" panose="02040503050406030204" pitchFamily="18" charset="0"/>
                <a:ea typeface="Cambria" panose="02040503050406030204" pitchFamily="18" charset="0"/>
              </a:rPr>
              <a:t>. Каждый ресурс либо выделен в данный момент только одному процессу, либо доступен</a:t>
            </a:r>
          </a:p>
          <a:p>
            <a:pPr marL="0" indent="0">
              <a:buNone/>
            </a:pPr>
            <a:r>
              <a:rPr lang="ru-RU" dirty="0">
                <a:latin typeface="Cambria" panose="02040503050406030204" pitchFamily="18" charset="0"/>
                <a:ea typeface="Cambria" panose="02040503050406030204" pitchFamily="18" charset="0"/>
              </a:rPr>
              <a:t>2. </a:t>
            </a:r>
            <a:r>
              <a:rPr lang="ru-RU" b="1" dirty="0">
                <a:latin typeface="Cambria" panose="02040503050406030204" pitchFamily="18" charset="0"/>
                <a:ea typeface="Cambria" panose="02040503050406030204" pitchFamily="18" charset="0"/>
              </a:rPr>
              <a:t>Условие удержания и ожидания</a:t>
            </a:r>
            <a:r>
              <a:rPr lang="ru-RU" dirty="0">
                <a:latin typeface="Cambria" panose="02040503050406030204" pitchFamily="18" charset="0"/>
                <a:ea typeface="Cambria" panose="02040503050406030204" pitchFamily="18" charset="0"/>
              </a:rPr>
              <a:t>. Процессы, удерживающие в данный момент ранее выделенные им ресурсы, могут запрашивать новые ресурсы</a:t>
            </a:r>
          </a:p>
          <a:p>
            <a:pPr marL="0" indent="0">
              <a:buNone/>
            </a:pPr>
            <a:r>
              <a:rPr lang="ru-RU" dirty="0">
                <a:latin typeface="Cambria" panose="02040503050406030204" pitchFamily="18" charset="0"/>
                <a:ea typeface="Cambria" panose="02040503050406030204" pitchFamily="18" charset="0"/>
              </a:rPr>
              <a:t>3. </a:t>
            </a:r>
            <a:r>
              <a:rPr lang="ru-RU" b="1" dirty="0">
                <a:latin typeface="Cambria" panose="02040503050406030204" pitchFamily="18" charset="0"/>
                <a:ea typeface="Cambria" panose="02040503050406030204" pitchFamily="18" charset="0"/>
              </a:rPr>
              <a:t>Условие невыгружаемости</a:t>
            </a:r>
            <a:r>
              <a:rPr lang="ru-RU" dirty="0">
                <a:latin typeface="Cambria" panose="02040503050406030204" pitchFamily="18" charset="0"/>
                <a:ea typeface="Cambria" panose="02040503050406030204" pitchFamily="18" charset="0"/>
              </a:rPr>
              <a:t>. Ранее выделенные ресурсы не могут быть принудительно отобраны у процесса. Они должны быть явным образом высвобождены тем процессом, который их удерживает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373046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Условия возникновения </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39106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4. </a:t>
            </a:r>
            <a:r>
              <a:rPr lang="ru-RU" b="1" dirty="0">
                <a:latin typeface="Cambria" panose="02040503050406030204" pitchFamily="18" charset="0"/>
                <a:ea typeface="Cambria" panose="02040503050406030204" pitchFamily="18" charset="0"/>
              </a:rPr>
              <a:t>Условие циклического ожидания</a:t>
            </a:r>
            <a:r>
              <a:rPr lang="ru-RU" dirty="0">
                <a:latin typeface="Cambria" panose="02040503050406030204" pitchFamily="18" charset="0"/>
                <a:ea typeface="Cambria" panose="02040503050406030204" pitchFamily="18" charset="0"/>
              </a:rPr>
              <a:t>. Должна существовать кольцевая последовательность из двух и более процессов, каждый из которых ожидает высвобождения ресурса, удерживаемого следующим членом последовательности</a:t>
            </a:r>
          </a:p>
          <a:p>
            <a:pPr marL="0" indent="0">
              <a:buNone/>
            </a:pPr>
            <a:r>
              <a:rPr lang="ru-RU" dirty="0">
                <a:latin typeface="Cambria" panose="02040503050406030204" pitchFamily="18" charset="0"/>
                <a:ea typeface="Cambria" panose="02040503050406030204" pitchFamily="18" charset="0"/>
              </a:rPr>
              <a:t>Для возникновения ресурсной взаимоблокировки </a:t>
            </a:r>
            <a:r>
              <a:rPr lang="ru-RU" b="1" dirty="0">
                <a:latin typeface="Cambria" panose="02040503050406030204" pitchFamily="18" charset="0"/>
                <a:ea typeface="Cambria" panose="02040503050406030204" pitchFamily="18" charset="0"/>
              </a:rPr>
              <a:t>должны соблюдаться все четыре условия</a:t>
            </a:r>
            <a:r>
              <a:rPr lang="ru-RU" dirty="0">
                <a:latin typeface="Cambria" panose="02040503050406030204" pitchFamily="18" charset="0"/>
                <a:ea typeface="Cambria" panose="02040503050406030204" pitchFamily="18" charset="0"/>
              </a:rPr>
              <a:t>. Если одно из них не соблюдается, ресурсная взаимоблокировка невозможна</a:t>
            </a:r>
          </a:p>
          <a:p>
            <a:pPr marL="0" indent="0">
              <a:buNone/>
            </a:pPr>
            <a:r>
              <a:rPr lang="ru-RU" dirty="0">
                <a:latin typeface="Cambria" panose="02040503050406030204" pitchFamily="18" charset="0"/>
                <a:ea typeface="Cambria" panose="02040503050406030204" pitchFamily="18" charset="0"/>
              </a:rPr>
              <a:t>Следует заметить, что каждое условие относится к той политике, которой придерживается или не придерживается система. Может ли данный ресурс быть выделен одновременно более чем одному процессу? Может ли процесс удерживать ресурс и запрашивать другой ресурс? Может ли ресурс быть отобран? Может ли получиться циклическое ожидание?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479220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Условия возникновения </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7614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Ричард Холт показал, как эти четыре условия могут быть смоделированы с использованием направленных графов</a:t>
            </a:r>
          </a:p>
          <a:p>
            <a:pPr marL="0" indent="0">
              <a:buNone/>
            </a:pPr>
            <a:r>
              <a:rPr lang="ru-RU" dirty="0">
                <a:latin typeface="Cambria" panose="02040503050406030204" pitchFamily="18" charset="0"/>
                <a:ea typeface="Cambria" panose="02040503050406030204" pitchFamily="18" charset="0"/>
              </a:rPr>
              <a:t>У графов имеется два вида узлов: </a:t>
            </a:r>
            <a:r>
              <a:rPr lang="ru-RU" b="1" dirty="0">
                <a:latin typeface="Cambria" panose="02040503050406030204" pitchFamily="18" charset="0"/>
                <a:ea typeface="Cambria" panose="02040503050406030204" pitchFamily="18" charset="0"/>
              </a:rPr>
              <a:t>процессы</a:t>
            </a:r>
            <a:r>
              <a:rPr lang="ru-RU" dirty="0">
                <a:latin typeface="Cambria" panose="02040503050406030204" pitchFamily="18" charset="0"/>
                <a:ea typeface="Cambria" panose="02040503050406030204" pitchFamily="18" charset="0"/>
              </a:rPr>
              <a:t>, показанные </a:t>
            </a:r>
            <a:r>
              <a:rPr lang="ru-RU" b="1" dirty="0">
                <a:latin typeface="Cambria" panose="02040503050406030204" pitchFamily="18" charset="0"/>
                <a:ea typeface="Cambria" panose="02040503050406030204" pitchFamily="18" charset="0"/>
              </a:rPr>
              <a:t>окружностями</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ресурсы</a:t>
            </a:r>
            <a:r>
              <a:rPr lang="ru-RU" dirty="0">
                <a:latin typeface="Cambria" panose="02040503050406030204" pitchFamily="18" charset="0"/>
                <a:ea typeface="Cambria" panose="02040503050406030204" pitchFamily="18" charset="0"/>
              </a:rPr>
              <a:t>, показанные </a:t>
            </a:r>
            <a:r>
              <a:rPr lang="ru-RU" b="1" dirty="0">
                <a:latin typeface="Cambria" panose="02040503050406030204" pitchFamily="18" charset="0"/>
                <a:ea typeface="Cambria" panose="02040503050406030204" pitchFamily="18" charset="0"/>
              </a:rPr>
              <a:t>квадратами</a:t>
            </a:r>
          </a:p>
          <a:p>
            <a:pPr marL="0" indent="0">
              <a:buNone/>
            </a:pPr>
            <a:r>
              <a:rPr lang="ru-RU" dirty="0">
                <a:latin typeface="Cambria" panose="02040503050406030204" pitchFamily="18" charset="0"/>
                <a:ea typeface="Cambria" panose="02040503050406030204" pitchFamily="18" charset="0"/>
              </a:rPr>
              <a:t>Направленное ребро, которое следует от узла ресурса (квадрата) к узлу процесса (окружности), означает, что этот ресурс был ранее запрошен, получен и на данный момент удерживается этим процессом (а)</a:t>
            </a:r>
          </a:p>
          <a:p>
            <a:pPr marL="0" indent="0">
              <a:buNone/>
            </a:pPr>
            <a:r>
              <a:rPr lang="ru-RU" dirty="0">
                <a:latin typeface="Cambria" panose="02040503050406030204" pitchFamily="18" charset="0"/>
                <a:ea typeface="Cambria" panose="02040503050406030204" pitchFamily="18" charset="0"/>
              </a:rPr>
              <a:t>Направленное ребро, идущее от процесса к ресурсу, означает, что процесс в данное время заблокирован в ожидании высвобождения этого ресурса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78237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81407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270095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B1F22054-7907-3B57-D8D6-A4BB72FC7F4D}"/>
              </a:ext>
            </a:extLst>
          </p:cNvPr>
          <p:cNvPicPr>
            <a:picLocks noChangeAspect="1"/>
          </p:cNvPicPr>
          <p:nvPr/>
        </p:nvPicPr>
        <p:blipFill>
          <a:blip r:embed="rId2"/>
          <a:stretch>
            <a:fillRect/>
          </a:stretch>
        </p:blipFill>
        <p:spPr>
          <a:xfrm>
            <a:off x="1761665" y="2186403"/>
            <a:ext cx="8536784" cy="3318285"/>
          </a:xfrm>
          <a:prstGeom prst="rect">
            <a:avLst/>
          </a:prstGeom>
        </p:spPr>
      </p:pic>
    </p:spTree>
    <p:extLst>
      <p:ext uri="{BB962C8B-B14F-4D97-AF65-F5344CB8AC3E}">
        <p14:creationId xmlns:p14="http://schemas.microsoft.com/office/powerpoint/2010/main" val="450349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На графе (в) мы наблюдаем взаимоблокировку: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процесс C ожидает высвобождения ресурса T, который в данный момент удерживается процессом D</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процесс D не собирается высвобождать ресурс T, поскольку он ожидает высвобождения ресурса U, удерживаемого процессом C</a:t>
            </a:r>
          </a:p>
          <a:p>
            <a:pPr marL="0" indent="0">
              <a:buNone/>
            </a:pPr>
            <a:r>
              <a:rPr lang="ru-RU" dirty="0">
                <a:latin typeface="Cambria" panose="02040503050406030204" pitchFamily="18" charset="0"/>
                <a:ea typeface="Cambria" panose="02040503050406030204" pitchFamily="18" charset="0"/>
              </a:rPr>
              <a:t>Оба процесса находятся в состоянии вечного ожидания</a:t>
            </a:r>
          </a:p>
          <a:p>
            <a:pPr marL="0" indent="0">
              <a:buNone/>
            </a:pPr>
            <a:r>
              <a:rPr lang="ru-RU" dirty="0">
                <a:latin typeface="Cambria" panose="02040503050406030204" pitchFamily="18" charset="0"/>
                <a:ea typeface="Cambria" panose="02040503050406030204" pitchFamily="18" charset="0"/>
              </a:rPr>
              <a:t>Циклическая структура графа означает, что мы имеем дело с взаимоблокировкой, включившей процессы и ресурсы в цикл (предполагается, что в системе есть только один ресурс каждого типа)</a:t>
            </a:r>
          </a:p>
          <a:p>
            <a:pPr marL="0" indent="0">
              <a:buNone/>
            </a:pPr>
            <a:r>
              <a:rPr lang="ru-RU" dirty="0">
                <a:latin typeface="Cambria" panose="02040503050406030204" pitchFamily="18" charset="0"/>
                <a:ea typeface="Cambria" panose="02040503050406030204" pitchFamily="18" charset="0"/>
              </a:rPr>
              <a:t>В данном примере получился следующий цикл: C–T–D–U–C</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75828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24063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пример того, как могут быть использованы графы ресурсов</a:t>
            </a:r>
          </a:p>
          <a:p>
            <a:pPr marL="0" indent="0">
              <a:buNone/>
            </a:pPr>
            <a:r>
              <a:rPr lang="ru-RU" dirty="0">
                <a:latin typeface="Cambria" panose="02040503050406030204" pitchFamily="18" charset="0"/>
                <a:ea typeface="Cambria" panose="02040503050406030204" pitchFamily="18" charset="0"/>
              </a:rPr>
              <a:t>Представим, что есть 3 процесса, A, B и C, и 3 ресурса, R, S и T</a:t>
            </a:r>
          </a:p>
          <a:p>
            <a:pPr marL="0" indent="0">
              <a:buNone/>
            </a:pPr>
            <a:r>
              <a:rPr lang="ru-RU" dirty="0">
                <a:latin typeface="Cambria" panose="02040503050406030204" pitchFamily="18" charset="0"/>
                <a:ea typeface="Cambria" panose="02040503050406030204" pitchFamily="18" charset="0"/>
              </a:rPr>
              <a:t>Последовательности действий по запросу и высвобождению ресурсов, осуществляемые этими тремя процессами: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161094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72CB8CC4-B33A-3A6E-429F-4197C95BF845}"/>
              </a:ext>
            </a:extLst>
          </p:cNvPr>
          <p:cNvPicPr>
            <a:picLocks noChangeAspect="1"/>
          </p:cNvPicPr>
          <p:nvPr/>
        </p:nvPicPr>
        <p:blipFill>
          <a:blip r:embed="rId2"/>
          <a:stretch>
            <a:fillRect/>
          </a:stretch>
        </p:blipFill>
        <p:spPr>
          <a:xfrm>
            <a:off x="2006842" y="3988010"/>
            <a:ext cx="8178316" cy="2293918"/>
          </a:xfrm>
          <a:prstGeom prst="rect">
            <a:avLst/>
          </a:prstGeom>
        </p:spPr>
      </p:pic>
    </p:spTree>
    <p:extLst>
      <p:ext uri="{BB962C8B-B14F-4D97-AF65-F5344CB8AC3E}">
        <p14:creationId xmlns:p14="http://schemas.microsoft.com/office/powerpoint/2010/main" val="485475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может в любое время запустить любой незаблокированный процесс, то есть она может принять решение запустить процесс A и дождаться, пока он не завершит всю свою работу, затем запустить процесс B и довести его работу до завершения и, наконец, запустить процесс C (*)</a:t>
            </a:r>
          </a:p>
          <a:p>
            <a:pPr marL="0" indent="0">
              <a:buNone/>
            </a:pPr>
            <a:r>
              <a:rPr lang="ru-RU" dirty="0">
                <a:latin typeface="Cambria" panose="02040503050406030204" pitchFamily="18" charset="0"/>
                <a:ea typeface="Cambria" panose="02040503050406030204" pitchFamily="18" charset="0"/>
              </a:rPr>
              <a:t>Теперь предположим, что процессы занимаются как вводом-выводом, так и вычислениями, поэтому наиболее разумным алгоритмом планирования их работы является циклический алгоритм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6257847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0399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 Такой порядок не приводит к взаимоблокировкам (поскольку отсутствует борьба за овладение ресурсами), но в нем нет и никакой параллельной работы. Кроме действий по запросу и высвобождению ресурсов процессы занимаются еще и вычислениями, и вводом-выводом данных. Когда процессы запускаются последовательно, отсутствует возможность использования центрального процессора одним процессом, в то время когда другой процесс ожидает завершения операции ввода-вывода. Поэтому строго последовательное выполнение процессов может быть не оптимальным решением. В то же время, если ни один из процессов не выполняет никаких операций ввода-вывода, алгоритм, при котором кратчайшее задание выполняется первым, более привлекателен, чем циклический алгоритм, поэтому при определенных условиях последовательный запуск всех процессов может быть наилучшим решением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3580866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67336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Запросы ресурсов могут происходить в том порядке: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эти шесть запросов выполняются именно в этом порядке, им соответствую шесть результирующих ресурсных графов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072623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8F92C372-C705-C369-3632-438640456A09}"/>
              </a:ext>
            </a:extLst>
          </p:cNvPr>
          <p:cNvPicPr>
            <a:picLocks noChangeAspect="1"/>
          </p:cNvPicPr>
          <p:nvPr/>
        </p:nvPicPr>
        <p:blipFill>
          <a:blip r:embed="rId2"/>
          <a:stretch>
            <a:fillRect/>
          </a:stretch>
        </p:blipFill>
        <p:spPr>
          <a:xfrm>
            <a:off x="4915885" y="2161469"/>
            <a:ext cx="2360230" cy="2535062"/>
          </a:xfrm>
          <a:prstGeom prst="rect">
            <a:avLst/>
          </a:prstGeom>
        </p:spPr>
      </p:pic>
    </p:spTree>
    <p:extLst>
      <p:ext uri="{BB962C8B-B14F-4D97-AF65-F5344CB8AC3E}">
        <p14:creationId xmlns:p14="http://schemas.microsoft.com/office/powerpoint/2010/main" val="52221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C10EAF-49F8-1C15-BFA9-BE11789E074A}"/>
              </a:ext>
            </a:extLst>
          </p:cNvPr>
          <p:cNvPicPr>
            <a:picLocks noGrp="1" noChangeAspect="1"/>
          </p:cNvPicPr>
          <p:nvPr>
            <p:ph idx="1"/>
          </p:nvPr>
        </p:nvPicPr>
        <p:blipFill>
          <a:blip r:embed="rId2"/>
          <a:stretch>
            <a:fillRect/>
          </a:stretch>
        </p:blipFill>
        <p:spPr>
          <a:xfrm>
            <a:off x="1425490" y="1383435"/>
            <a:ext cx="9341020" cy="5297096"/>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227569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03424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уже ранее упоминалось, от операционной системы не требовалось запускать процессы в каком-то определенном порядке</a:t>
            </a:r>
          </a:p>
          <a:p>
            <a:pPr marL="0" indent="0">
              <a:buNone/>
            </a:pPr>
            <a:r>
              <a:rPr lang="ru-RU" dirty="0">
                <a:latin typeface="Cambria" panose="02040503050406030204" pitchFamily="18" charset="0"/>
                <a:ea typeface="Cambria" panose="02040503050406030204" pitchFamily="18" charset="0"/>
              </a:rPr>
              <a:t>В частности, если удовлетворение конкретного запроса может привести к взаимоблокировке, операционная система может просто приостановить процесс, не удовлетворяя его запрос (то есть просто не планируя работу процесса) до тех пор, пока это не будет безопасно</a:t>
            </a:r>
          </a:p>
          <a:p>
            <a:pPr marL="0" indent="0">
              <a:buNone/>
            </a:pPr>
            <a:r>
              <a:rPr lang="ru-RU" dirty="0">
                <a:latin typeface="Cambria" panose="02040503050406030204" pitchFamily="18" charset="0"/>
                <a:ea typeface="Cambria" panose="02040503050406030204" pitchFamily="18" charset="0"/>
              </a:rPr>
              <a:t>Если операционная система знает о грядущей взаимоблокировке, она может приостановить процесс B, вместо того чтобы выделить ему ресурс S</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829972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48842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Запуская только процессы A и C, мы получим такую последовательность действий по запросу и высвобождению ресурсов:</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Эта последовательность отображается следующими ресурсными графами и не приводит к взаимоблокировке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7848183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4CC47DE3-815E-B011-E52B-F5B47F64FC05}"/>
              </a:ext>
            </a:extLst>
          </p:cNvPr>
          <p:cNvPicPr>
            <a:picLocks noChangeAspect="1"/>
          </p:cNvPicPr>
          <p:nvPr/>
        </p:nvPicPr>
        <p:blipFill>
          <a:blip r:embed="rId2"/>
          <a:stretch>
            <a:fillRect/>
          </a:stretch>
        </p:blipFill>
        <p:spPr>
          <a:xfrm>
            <a:off x="4779844" y="2726780"/>
            <a:ext cx="2591162" cy="2534004"/>
          </a:xfrm>
          <a:prstGeom prst="rect">
            <a:avLst/>
          </a:prstGeom>
        </p:spPr>
      </p:pic>
    </p:spTree>
    <p:extLst>
      <p:ext uri="{BB962C8B-B14F-4D97-AF65-F5344CB8AC3E}">
        <p14:creationId xmlns:p14="http://schemas.microsoft.com/office/powerpoint/2010/main" val="7576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C10EAF-49F8-1C15-BFA9-BE11789E074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425490" y="1383435"/>
            <a:ext cx="9341020" cy="5297096"/>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27784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760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Ресурсные графы являются инструментом, позволяющим понять, приводит ли данная последовательность запросов/возвратов ресурсов к взаимоблокировке</a:t>
            </a:r>
          </a:p>
          <a:p>
            <a:pPr marL="0" indent="0">
              <a:buNone/>
            </a:pPr>
            <a:r>
              <a:rPr lang="ru-RU" dirty="0">
                <a:latin typeface="Cambria" panose="02040503050406030204" pitchFamily="18" charset="0"/>
                <a:ea typeface="Cambria" panose="02040503050406030204" pitchFamily="18" charset="0"/>
              </a:rPr>
              <a:t>Мы всего лишь шаг за шагом осуществляем запросы и возвраты ресурсов и после каждого шага проверяем граф на наличие каких-либо циклов</a:t>
            </a:r>
          </a:p>
          <a:p>
            <a:pPr marL="0" indent="0">
              <a:buNone/>
            </a:pPr>
            <a:r>
              <a:rPr lang="ru-RU" b="1" dirty="0">
                <a:latin typeface="Cambria" panose="02040503050406030204" pitchFamily="18" charset="0"/>
                <a:ea typeface="Cambria" panose="02040503050406030204" pitchFamily="18" charset="0"/>
              </a:rPr>
              <a:t>Если образуется цикл</a:t>
            </a:r>
            <a:r>
              <a:rPr lang="ru-RU" dirty="0">
                <a:latin typeface="Cambria" panose="02040503050406030204" pitchFamily="18" charset="0"/>
                <a:ea typeface="Cambria" panose="02040503050406030204" pitchFamily="18" charset="0"/>
              </a:rPr>
              <a:t>, значит, </a:t>
            </a:r>
            <a:r>
              <a:rPr lang="ru-RU" b="1" dirty="0">
                <a:latin typeface="Cambria" panose="02040503050406030204" pitchFamily="18" charset="0"/>
                <a:ea typeface="Cambria" panose="02040503050406030204" pitchFamily="18" charset="0"/>
              </a:rPr>
              <a:t>возникла взаимоблокировка</a:t>
            </a:r>
            <a:r>
              <a:rPr lang="ru-RU" dirty="0">
                <a:latin typeface="Cambria" panose="02040503050406030204" pitchFamily="18" charset="0"/>
                <a:ea typeface="Cambria" panose="02040503050406030204" pitchFamily="18" charset="0"/>
              </a:rPr>
              <a:t>, а </a:t>
            </a:r>
            <a:r>
              <a:rPr lang="ru-RU" b="1" dirty="0">
                <a:latin typeface="Cambria" panose="02040503050406030204" pitchFamily="18" charset="0"/>
                <a:ea typeface="Cambria" panose="02040503050406030204" pitchFamily="18" charset="0"/>
              </a:rPr>
              <a:t>если нет</a:t>
            </a:r>
            <a:r>
              <a:rPr lang="ru-RU" dirty="0">
                <a:latin typeface="Cambria" panose="02040503050406030204" pitchFamily="18" charset="0"/>
                <a:ea typeface="Cambria" panose="02040503050406030204" pitchFamily="18" charset="0"/>
              </a:rPr>
              <a:t>, значит, </a:t>
            </a:r>
            <a:r>
              <a:rPr lang="ru-RU" b="1" dirty="0">
                <a:latin typeface="Cambria" panose="02040503050406030204" pitchFamily="18" charset="0"/>
                <a:ea typeface="Cambria" panose="02040503050406030204" pitchFamily="18" charset="0"/>
              </a:rPr>
              <a:t>нет и взаимоблокировки</a:t>
            </a:r>
          </a:p>
          <a:p>
            <a:pPr marL="0" indent="0">
              <a:buNone/>
            </a:pPr>
            <a:r>
              <a:rPr lang="ru-RU" dirty="0">
                <a:latin typeface="Cambria" panose="02040503050406030204" pitchFamily="18" charset="0"/>
                <a:ea typeface="Cambria" panose="02040503050406030204" pitchFamily="18" charset="0"/>
              </a:rPr>
              <a:t>Хотя мы рассматривали граф ресурсов, составленный для случая использования по одному ресурсу каждого типа, ресурсные графы могут быть применены также для обработки нескольких ресурсов одного и того же типа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441442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29886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D1B9A08-9506-38AD-283D-E31FB9BD52E5}"/>
              </a:ext>
            </a:extLst>
          </p:cNvPr>
          <p:cNvPicPr>
            <a:picLocks noGrp="1" noChangeAspect="1"/>
          </p:cNvPicPr>
          <p:nvPr>
            <p:ph idx="1"/>
          </p:nvPr>
        </p:nvPicPr>
        <p:blipFill>
          <a:blip r:embed="rId2"/>
          <a:stretch>
            <a:fillRect/>
          </a:stretch>
        </p:blipFill>
        <p:spPr>
          <a:xfrm>
            <a:off x="858837" y="1533440"/>
            <a:ext cx="10474325" cy="4959434"/>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122708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31381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Самым простым подходом к решению проблемы является </a:t>
            </a:r>
            <a:r>
              <a:rPr lang="ru-RU" b="1" dirty="0">
                <a:latin typeface="Cambria" panose="02040503050406030204" pitchFamily="18" charset="0"/>
                <a:ea typeface="Cambria" panose="02040503050406030204" pitchFamily="18" charset="0"/>
              </a:rPr>
              <a:t>«страусиный алгоритм»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спрячьте голову в песок и сделайте вид, что проблема отсутствует</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Люди реагируют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на эту стратегию по-разному</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Математики считают ее неприемлемой и говорят, что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взаимоблокировки следует предотвращать любой ценой</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Инженеры спрашивают, как</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часто ожидается возникновение проблемы, как часто система дает сбой по другим причинам и насколько серьезны последствия взаимоблокировки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взаимоблокировка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возникает в среднем один раз в пять лет, а система раз в неделю сбоит из-за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технических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отказов и дефектов операционной системы, большинство инженеров не захотят платить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 избавление от взаимоблокировок существенным снижением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производительности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или удобства использования</a:t>
            </a:r>
            <a:endParaRPr lang="en-US"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406729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Страусиный алгоритм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44659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Чтобы усилить контраст между этими двумя позициями, рассмотрим операционную</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систему, которая блокирует вызывающий процесс, когда системный вызов </a:t>
            </a:r>
            <a:r>
              <a:rPr lang="ru-RU" i="1" dirty="0" err="1">
                <a:latin typeface="Cambria" panose="02040503050406030204" pitchFamily="18" charset="0"/>
                <a:ea typeface="Cambria" panose="02040503050406030204" pitchFamily="18" charset="0"/>
              </a:rPr>
              <a:t>open</a:t>
            </a:r>
            <a:r>
              <a:rPr lang="ru-RU" dirty="0">
                <a:latin typeface="Cambria" panose="02040503050406030204" pitchFamily="18" charset="0"/>
                <a:ea typeface="Cambria" panose="02040503050406030204" pitchFamily="18" charset="0"/>
              </a:rPr>
              <a:t>, относящийся к такому физическому устройству, как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-диска или принтер, не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может быть выполнен из-за занятости устройства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Обычно именно драйвер устройства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решает, какое действие и при каких обстоятельствах предпринять. Две вполне очевидные возможности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это блокировка или возвращение кода ошибки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одному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процессу удастся «открыть»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а другому посчастливится «открыть» принтер, а затем каждый процесс попытается «открыть» еще и другой ресурс</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его попытка будет заблокирована, возникнет взаимоблокировка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Лишь немногие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современные системы в состоянии обнаружить подобную ситуацию</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0179308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Страусиный алгоритм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0295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Вторая по счету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технология обнаружения и восстановления</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 ее использовании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система не пытается предотвращать взаимоблокировки. Она позволяет им произойти,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пытается обнаружить момент их возникновения, а затем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предпринимает некоторые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действия по восстановлению работоспособности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Рассмотрим следующие моменты: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взаимоблокировки при использовании одного ресурса каждого типа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взаимоблокировки при использовании нескольких ресурсов каждого типа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Выход из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177979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3145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Начнем с самого простого случая, когда используется только один ресурс каждого типа. У системы может быть один сканер, один пишущий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один плоттер и один накопитель на магнитной ленте, но только по одному экземпляру каждого класса ресурсов</a:t>
            </a:r>
          </a:p>
          <a:p>
            <a:pPr marL="0" indent="0">
              <a:buNone/>
            </a:pPr>
            <a:r>
              <a:rPr lang="ru-RU" dirty="0">
                <a:latin typeface="Cambria" panose="02040503050406030204" pitchFamily="18" charset="0"/>
                <a:ea typeface="Cambria" panose="02040503050406030204" pitchFamily="18" charset="0"/>
              </a:rPr>
              <a:t>Иными словами, мы временно исключаем системы, имеющие два принтера</a:t>
            </a:r>
          </a:p>
          <a:p>
            <a:pPr marL="0" indent="0">
              <a:buNone/>
            </a:pPr>
            <a:r>
              <a:rPr lang="ru-RU" dirty="0">
                <a:latin typeface="Cambria" panose="02040503050406030204" pitchFamily="18" charset="0"/>
                <a:ea typeface="Cambria" panose="02040503050406030204" pitchFamily="18" charset="0"/>
              </a:rPr>
              <a:t>Для такой системы можно построить ресурсный граф. Если этот граф содержит один и более циклов, значит, мы имеем дело с взаимоблокировкой. Любой процесс, являющийся частью цикла, заблокирован намертво. Если циклов нет, значит, система не находится в состоянии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806238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79945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качестве примера более сложной системы по сравнению с ранее рассмотренными, возьмем систему с семью процессами от A до G и шестью ресурсами от R до W. Каждый ресурс находится в состоянии текущей занятости, и на каждый ресурс в данный момент поступил запрос:</a:t>
            </a:r>
          </a:p>
          <a:p>
            <a:pPr marL="0" indent="0">
              <a:buNone/>
            </a:pPr>
            <a:r>
              <a:rPr lang="ru-RU" dirty="0">
                <a:latin typeface="Cambria" panose="02040503050406030204" pitchFamily="18" charset="0"/>
                <a:ea typeface="Cambria" panose="02040503050406030204" pitchFamily="18" charset="0"/>
              </a:rPr>
              <a:t>1. Процесс A удерживает R и хочет получить S</a:t>
            </a:r>
          </a:p>
          <a:p>
            <a:pPr marL="0" indent="0">
              <a:buNone/>
            </a:pPr>
            <a:r>
              <a:rPr lang="ru-RU" dirty="0">
                <a:latin typeface="Cambria" panose="02040503050406030204" pitchFamily="18" charset="0"/>
                <a:ea typeface="Cambria" panose="02040503050406030204" pitchFamily="18" charset="0"/>
              </a:rPr>
              <a:t>2. Процесс B не удерживает никаких ресурсов, но хочет получить T</a:t>
            </a:r>
          </a:p>
          <a:p>
            <a:pPr marL="0" indent="0">
              <a:buNone/>
            </a:pPr>
            <a:r>
              <a:rPr lang="ru-RU" dirty="0">
                <a:latin typeface="Cambria" panose="02040503050406030204" pitchFamily="18" charset="0"/>
                <a:ea typeface="Cambria" panose="02040503050406030204" pitchFamily="18" charset="0"/>
              </a:rPr>
              <a:t>3. Процесс C не удерживает никаких ресурсов, но хочет получить S</a:t>
            </a:r>
          </a:p>
          <a:p>
            <a:pPr marL="0" indent="0">
              <a:buNone/>
            </a:pPr>
            <a:r>
              <a:rPr lang="ru-RU" dirty="0">
                <a:latin typeface="Cambria" panose="02040503050406030204" pitchFamily="18" charset="0"/>
                <a:ea typeface="Cambria" panose="02040503050406030204" pitchFamily="18" charset="0"/>
              </a:rPr>
              <a:t>4. Процесс D удерживает U и хочет получить S и T</a:t>
            </a:r>
          </a:p>
          <a:p>
            <a:pPr marL="0" indent="0">
              <a:buNone/>
            </a:pPr>
            <a:r>
              <a:rPr lang="ru-RU" dirty="0">
                <a:latin typeface="Cambria" panose="02040503050406030204" pitchFamily="18" charset="0"/>
                <a:ea typeface="Cambria" panose="02040503050406030204" pitchFamily="18" charset="0"/>
              </a:rPr>
              <a:t>5. Процесс E удерживает T и хочет получить V</a:t>
            </a:r>
          </a:p>
          <a:p>
            <a:pPr marL="0" indent="0">
              <a:buNone/>
            </a:pPr>
            <a:r>
              <a:rPr lang="ru-RU" dirty="0">
                <a:latin typeface="Cambria" panose="02040503050406030204" pitchFamily="18" charset="0"/>
                <a:ea typeface="Cambria" panose="02040503050406030204" pitchFamily="18" charset="0"/>
              </a:rPr>
              <a:t>6. Процесс F удерживает W и хочет получить S</a:t>
            </a:r>
          </a:p>
          <a:p>
            <a:pPr marL="0" indent="0">
              <a:buNone/>
            </a:pPr>
            <a:r>
              <a:rPr lang="ru-RU" dirty="0">
                <a:latin typeface="Cambria" panose="02040503050406030204" pitchFamily="18" charset="0"/>
                <a:ea typeface="Cambria" panose="02040503050406030204" pitchFamily="18" charset="0"/>
              </a:rPr>
              <a:t>7. Процесс G удерживает V и хочет получить U</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63799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3981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Возникает следующий вопрос: «Находится ли эта система в состоянии взаимоблокировки, и если находится, то какие процессы вовлечены в это состояние?»</a:t>
            </a:r>
          </a:p>
          <a:p>
            <a:pPr marL="0" indent="0">
              <a:buNone/>
            </a:pPr>
            <a:r>
              <a:rPr lang="ru-RU" dirty="0">
                <a:latin typeface="Cambria" panose="02040503050406030204" pitchFamily="18" charset="0"/>
                <a:ea typeface="Cambria" panose="02040503050406030204" pitchFamily="18" charset="0"/>
              </a:rPr>
              <a:t>Чтобы ответить на этот вопрос, можно построить граф ресурсов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01698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83524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284787-73E0-CF6A-28C7-96D6AF3BDDF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008940" y="1853552"/>
            <a:ext cx="10174120" cy="4639322"/>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617008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25027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Этот граф содержит один цикл (</a:t>
            </a:r>
            <a:r>
              <a:rPr lang="en-US" dirty="0">
                <a:latin typeface="Cambria" panose="02040503050406030204" pitchFamily="18" charset="0"/>
                <a:ea typeface="Cambria" panose="02040503050406030204" pitchFamily="18" charset="0"/>
              </a:rPr>
              <a:t>b)</a:t>
            </a:r>
            <a:r>
              <a:rPr lang="ru-RU" dirty="0">
                <a:latin typeface="Cambria" panose="02040503050406030204" pitchFamily="18" charset="0"/>
                <a:ea typeface="Cambria" panose="02040503050406030204" pitchFamily="18" charset="0"/>
              </a:rPr>
              <a:t>, который можно обнаружить визуально</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Из цикла видно, что процессы D, E и G вовлечены во взаимоблокировку</a:t>
            </a:r>
          </a:p>
          <a:p>
            <a:pPr marL="0" indent="0">
              <a:buNone/>
            </a:pPr>
            <a:r>
              <a:rPr lang="ru-RU" dirty="0">
                <a:latin typeface="Cambria" panose="02040503050406030204" pitchFamily="18" charset="0"/>
                <a:ea typeface="Cambria" panose="02040503050406030204" pitchFamily="18" charset="0"/>
              </a:rPr>
              <a:t>Процессы A, C и F не находятся в состоянии взаимоблокировки, поскольку ресурс S</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может быть выделен любому из них, который затем закончит свою работу и вернет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ресурс. Затем оставшиеся два процесса смогут взять его по очереди и также завершить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свою работу</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(Заметьте, чтобы сделать этот пример немного интереснее, мы позволили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процессам, а именно процессу D, запрашивать одновременно два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424594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8134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Хотя визуально выделить взаимоблокировку из простого графа относительно нетрудно, для использования в настоящих системах нужен формальный алгоритм обнаружения взаимоблокировок. Известно множество алгоритмов для обнаружения циклов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направленных графах</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Далее будет приведен простой алгоритм, проверяющий граф</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прекращающий свою работу либо при обнаружении цикла, либо при обнаружении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отсутствия циклов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нем используется одна динамическая структура данных, L, представляющая собой список узлов, а также список ребер. В процессе работы алгоритма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ребра будут помечаться для обозначения того, что они уже были проверены, чтобы</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предотвратить повторные проверки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691194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08933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6214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Действие алгоритма основано на выполнении следующих шагов</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1. </a:t>
            </a:r>
            <a:r>
              <a:rPr lang="ru-RU" dirty="0">
                <a:latin typeface="Cambria" panose="02040503050406030204" pitchFamily="18" charset="0"/>
                <a:ea typeface="Cambria" panose="02040503050406030204" pitchFamily="18" charset="0"/>
              </a:rPr>
              <a:t>Для каждого узла N, имеющегося в графе, выполняются следующие пять шагов,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использующих узел N в качестве начального</a:t>
            </a:r>
          </a:p>
          <a:p>
            <a:pPr marL="0" indent="0">
              <a:buNone/>
            </a:pPr>
            <a:r>
              <a:rPr lang="ru-RU" dirty="0">
                <a:latin typeface="Cambria" panose="02040503050406030204" pitchFamily="18" charset="0"/>
                <a:ea typeface="Cambria" panose="02040503050406030204" pitchFamily="18" charset="0"/>
              </a:rPr>
              <a:t>2. Инициализируется (очищается) список L, а со всех ребер снимаются пометки</a:t>
            </a:r>
          </a:p>
          <a:p>
            <a:pPr marL="0" indent="0">
              <a:buNone/>
            </a:pPr>
            <a:r>
              <a:rPr lang="ru-RU" dirty="0">
                <a:latin typeface="Cambria" panose="02040503050406030204" pitchFamily="18" charset="0"/>
                <a:ea typeface="Cambria" panose="02040503050406030204" pitchFamily="18" charset="0"/>
              </a:rPr>
              <a:t>3. Текущий узел добавляется к концу списка L, и проводится проверка, не появится ли этот узел в списке L дважды. Если это произойдет, значит, граф содержит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цикл (отображенный в списке L), и алгоритм прекращает работу</a:t>
            </a:r>
          </a:p>
          <a:p>
            <a:pPr marL="0" indent="0">
              <a:buNone/>
            </a:pPr>
            <a:r>
              <a:rPr lang="ru-RU" dirty="0">
                <a:latin typeface="Cambria" panose="02040503050406030204" pitchFamily="18" charset="0"/>
                <a:ea typeface="Cambria" panose="02040503050406030204" pitchFamily="18" charset="0"/>
              </a:rPr>
              <a:t>4. Для заданного узла определяется, нет ли каких-нибудь отходящих от него непомеченных ребер. Если такие ребра есть, осуществляется переход к шагу 5, если 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нет, осуществляется переход к шагу 6</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4416359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35264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en-US" dirty="0">
                <a:latin typeface="Cambria" panose="02040503050406030204" pitchFamily="18" charset="0"/>
                <a:ea typeface="Cambria" panose="02040503050406030204" pitchFamily="18" charset="0"/>
              </a:rPr>
              <a:t>5. </a:t>
            </a:r>
            <a:r>
              <a:rPr lang="ru-RU" dirty="0">
                <a:latin typeface="Cambria" panose="02040503050406030204" pitchFamily="18" charset="0"/>
                <a:ea typeface="Cambria" panose="02040503050406030204" pitchFamily="18" charset="0"/>
              </a:rPr>
              <a:t>Произвольно выбирается и помечается непомеченное отходящее от узла ребро.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Затем по нему осуществляется переход к новому текущему узлу, и алгоритм возвращается к шагу 3</a:t>
            </a:r>
          </a:p>
          <a:p>
            <a:pPr marL="0" indent="0">
              <a:buNone/>
            </a:pPr>
            <a:r>
              <a:rPr lang="ru-RU" dirty="0">
                <a:latin typeface="Cambria" panose="02040503050406030204" pitchFamily="18" charset="0"/>
                <a:ea typeface="Cambria" panose="02040503050406030204" pitchFamily="18" charset="0"/>
              </a:rPr>
              <a:t>6. Если этот узел является первоначальным узлом, значит, граф не содержит никаких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циклов, и алгоритм завершает свою работу. В противном случае алгоритм зашел</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тупик. Этот узел удаляется, и алгоритм возвращается к предыдущему узлу, 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есть к тому узлу, который был текущим перед только что удаленным узлом. Данный узел делается текущим, и осуществляется переход к шагу 3</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156564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494557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Чтобы увидеть на практике работу этого алгоритма, воспользуемся графом из последнего примера</a:t>
            </a:r>
          </a:p>
          <a:p>
            <a:pPr marL="0" indent="0">
              <a:buNone/>
            </a:pPr>
            <a:r>
              <a:rPr lang="ru-RU" dirty="0">
                <a:latin typeface="Cambria" panose="02040503050406030204" pitchFamily="18" charset="0"/>
                <a:ea typeface="Cambria" panose="02040503050406030204" pitchFamily="18" charset="0"/>
              </a:rPr>
              <a:t>Порядок обработки узлов произвольный, поэтому будем исследовать их слева направо и сверху вниз, выбрав при первом запуске алгоритма начальный узел R, затем последовательно выбирая узлы A, B, C, S, D, T, E, F и т. д. Если мы обнаружим цикл, алгоритм прекратит свою работу</a:t>
            </a:r>
          </a:p>
          <a:p>
            <a:pPr marL="0" indent="0">
              <a:buNone/>
            </a:pPr>
            <a:r>
              <a:rPr lang="ru-RU" dirty="0">
                <a:latin typeface="Cambria" panose="02040503050406030204" pitchFamily="18" charset="0"/>
                <a:ea typeface="Cambria" panose="02040503050406030204" pitchFamily="18" charset="0"/>
              </a:rPr>
              <a:t>Начинаем с узла R и инициализируем L как пустой список. Затем добавляем узел R в список, переходим к единственно возможному узлу A и также добавляем его к списку L, получая L = [R, A]. Из узла A следуем к узлу S, получая L = [R, A, S]</a:t>
            </a:r>
          </a:p>
          <a:p>
            <a:pPr marL="0" indent="0">
              <a:buNone/>
            </a:pPr>
            <a:r>
              <a:rPr lang="ru-RU" dirty="0">
                <a:latin typeface="Cambria" panose="02040503050406030204" pitchFamily="18" charset="0"/>
                <a:ea typeface="Cambria" panose="02040503050406030204" pitchFamily="18" charset="0"/>
              </a:rPr>
              <a:t>Узел S не имеет отходящих от него ребер, следовательно, это тупик, который заставляет нас вернуться к узлу A. Так как у узла A также нет немаркированных отходящих от него ребер, мы возвращаемся к узлу R, завершая таким образом его исследование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414806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3091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перезапускаем алгоритм, начиная его работу с узла A и предварительно вернув список L в исходное состояние. Этот поиск также быстро остановится, поэтому начнем снова с узла B. Из узла B проследуем по отходящим ребрам до тех пор, пока не доберемся до узла D; к этому моменту список будет иметь следующий вид: L = [B, T, E, V, G, U, D]</a:t>
            </a:r>
          </a:p>
          <a:p>
            <a:pPr marL="0" indent="0">
              <a:buNone/>
            </a:pPr>
            <a:r>
              <a:rPr lang="ru-RU" dirty="0">
                <a:latin typeface="Cambria" panose="02040503050406030204" pitchFamily="18" charset="0"/>
                <a:ea typeface="Cambria" panose="02040503050406030204" pitchFamily="18" charset="0"/>
              </a:rPr>
              <a:t>Теперь нужно сделать произвольный выбор. Если выбрать узел S, мы попадаем в тупик и возвращаемся к узлу D. Во второй раз выбираем узел T и обновляем список L до вида [B, T, E, V, G, U, D, T], где обнаруживаем цикл и останавливаем работу алгоритма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884286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051644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Когда в системе существует несколько экземпляров каких-нибудь ресурсов, для обнаружения взаимоблокировки необходим другой подход</a:t>
            </a:r>
          </a:p>
          <a:p>
            <a:pPr marL="0" indent="0">
              <a:buNone/>
            </a:pPr>
            <a:r>
              <a:rPr lang="ru-RU" dirty="0">
                <a:latin typeface="Cambria" panose="02040503050406030204" pitchFamily="18" charset="0"/>
                <a:ea typeface="Cambria" panose="02040503050406030204" pitchFamily="18" charset="0"/>
              </a:rPr>
              <a:t>Сейчас будет представлен алгоритм, основанный на использовании матриц и предназначенный для обнаружения взаимоблокировки при работе n процессов, от P</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до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Пусть m – это число классов ресурсов, Е</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 количество ресурсов класса 1, Е</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количество ресурсов класса 2, а в общем </a:t>
            </a:r>
            <a:r>
              <a:rPr lang="ru-RU" dirty="0" err="1">
                <a:latin typeface="Cambria" panose="02040503050406030204" pitchFamily="18" charset="0"/>
                <a:ea typeface="Cambria" panose="02040503050406030204" pitchFamily="18" charset="0"/>
              </a:rPr>
              <a:t>E</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 количество ресурсов класса i (где 1 ≤ i ≤ m)</a:t>
            </a:r>
          </a:p>
          <a:p>
            <a:pPr marL="0" indent="0">
              <a:buNone/>
            </a:pPr>
            <a:r>
              <a:rPr lang="ru-RU" dirty="0">
                <a:latin typeface="Cambria" panose="02040503050406030204" pitchFamily="18" charset="0"/>
                <a:ea typeface="Cambria" panose="02040503050406030204" pitchFamily="18" charset="0"/>
              </a:rPr>
              <a:t>E – это </a:t>
            </a:r>
            <a:r>
              <a:rPr lang="ru-RU" b="1" dirty="0">
                <a:latin typeface="Cambria" panose="02040503050406030204" pitchFamily="18" charset="0"/>
                <a:ea typeface="Cambria" panose="02040503050406030204" pitchFamily="18" charset="0"/>
              </a:rPr>
              <a:t>вектор существующих ресурсов</a:t>
            </a:r>
            <a:r>
              <a:rPr lang="ru-RU" dirty="0">
                <a:latin typeface="Cambria" panose="02040503050406030204" pitchFamily="18" charset="0"/>
                <a:ea typeface="Cambria" panose="02040503050406030204" pitchFamily="18" charset="0"/>
              </a:rPr>
              <a:t>. Он передает общее количество имеющихся в наличии экземпляров каждого ресурса</a:t>
            </a:r>
          </a:p>
          <a:p>
            <a:pPr marL="0" indent="0">
              <a:buNone/>
            </a:pPr>
            <a:r>
              <a:rPr lang="ru-RU" dirty="0">
                <a:latin typeface="Cambria" panose="02040503050406030204" pitchFamily="18" charset="0"/>
                <a:ea typeface="Cambria" panose="02040503050406030204" pitchFamily="18" charset="0"/>
              </a:rPr>
              <a:t>Например, если класс 1 представляет собой накопители на магнитных лентах, то E</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 2 означает, что в системе есть два таких накопителя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9987886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818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любой момент времени какие-то ресурсы могут быть выделены и недоступны</a:t>
            </a:r>
          </a:p>
          <a:p>
            <a:pPr marL="0" indent="0">
              <a:buNone/>
            </a:pPr>
            <a:r>
              <a:rPr lang="ru-RU" dirty="0">
                <a:latin typeface="Cambria" panose="02040503050406030204" pitchFamily="18" charset="0"/>
                <a:ea typeface="Cambria" panose="02040503050406030204" pitchFamily="18" charset="0"/>
              </a:rPr>
              <a:t>Пусть A будет </a:t>
            </a:r>
            <a:r>
              <a:rPr lang="ru-RU" b="1" dirty="0">
                <a:latin typeface="Cambria" panose="02040503050406030204" pitchFamily="18" charset="0"/>
                <a:ea typeface="Cambria" panose="02040503050406030204" pitchFamily="18" charset="0"/>
              </a:rPr>
              <a:t>вектором доступных ресурсов</a:t>
            </a:r>
            <a:r>
              <a:rPr lang="ru-RU" dirty="0">
                <a:latin typeface="Cambria" panose="02040503050406030204" pitchFamily="18" charset="0"/>
                <a:ea typeface="Cambria" panose="02040503050406030204" pitchFamily="18" charset="0"/>
              </a:rPr>
              <a:t>, где </a:t>
            </a:r>
            <a:r>
              <a:rPr lang="ru-RU" dirty="0" err="1">
                <a:latin typeface="Cambria" panose="02040503050406030204" pitchFamily="18" charset="0"/>
                <a:ea typeface="Cambria" panose="02040503050406030204" pitchFamily="18" charset="0"/>
              </a:rPr>
              <a:t>A</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дает количество экземпляров ресурса i, доступных на данный момент (то есть не выделенных). Если оба накопителя на магнитной ленте уже выделены, A</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будет равно 0</a:t>
            </a:r>
          </a:p>
          <a:p>
            <a:pPr marL="0" indent="0">
              <a:buNone/>
            </a:pPr>
            <a:r>
              <a:rPr lang="ru-RU" dirty="0">
                <a:latin typeface="Cambria" panose="02040503050406030204" pitchFamily="18" charset="0"/>
                <a:ea typeface="Cambria" panose="02040503050406030204" pitchFamily="18" charset="0"/>
              </a:rPr>
              <a:t>Теперь нам нужны два массива: C – </a:t>
            </a:r>
            <a:r>
              <a:rPr lang="ru-RU" b="1" dirty="0">
                <a:latin typeface="Cambria" panose="02040503050406030204" pitchFamily="18" charset="0"/>
                <a:ea typeface="Cambria" panose="02040503050406030204" pitchFamily="18" charset="0"/>
              </a:rPr>
              <a:t>матрица текущего распределения </a:t>
            </a:r>
            <a:r>
              <a:rPr lang="ru-RU" dirty="0">
                <a:latin typeface="Cambria" panose="02040503050406030204" pitchFamily="18" charset="0"/>
                <a:ea typeface="Cambria" panose="02040503050406030204" pitchFamily="18" charset="0"/>
              </a:rPr>
              <a:t>и R – </a:t>
            </a:r>
            <a:r>
              <a:rPr lang="ru-RU" b="1" dirty="0">
                <a:latin typeface="Cambria" panose="02040503050406030204" pitchFamily="18" charset="0"/>
                <a:ea typeface="Cambria" panose="02040503050406030204" pitchFamily="18" charset="0"/>
              </a:rPr>
              <a:t>матрица запросов</a:t>
            </a:r>
            <a:r>
              <a:rPr lang="ru-RU" dirty="0">
                <a:latin typeface="Cambria" panose="02040503050406030204" pitchFamily="18" charset="0"/>
                <a:ea typeface="Cambria" panose="02040503050406030204" pitchFamily="18" charset="0"/>
              </a:rPr>
              <a:t>. i-я строка в матрице C говорит о том, сколько экземпляров каждого класса ресурсов в данный момент удерживает процесс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Таким образом, </a:t>
            </a:r>
            <a:r>
              <a:rPr lang="ru-RU" dirty="0" err="1">
                <a:latin typeface="Cambria" panose="02040503050406030204" pitchFamily="18" charset="0"/>
                <a:ea typeface="Cambria" panose="02040503050406030204" pitchFamily="18" charset="0"/>
              </a:rPr>
              <a:t>C</a:t>
            </a:r>
            <a:r>
              <a:rPr lang="ru-RU" baseline="-25000" dirty="0" err="1">
                <a:latin typeface="Cambria" panose="02040503050406030204" pitchFamily="18" charset="0"/>
                <a:ea typeface="Cambria" panose="02040503050406030204" pitchFamily="18" charset="0"/>
              </a:rPr>
              <a:t>ij</a:t>
            </a:r>
            <a:r>
              <a:rPr lang="ru-RU" dirty="0">
                <a:latin typeface="Cambria" panose="02040503050406030204" pitchFamily="18" charset="0"/>
                <a:ea typeface="Cambria" panose="02040503050406030204" pitchFamily="18" charset="0"/>
              </a:rPr>
              <a:t> – это количество экземпляров ресурса j, которое удерживается процессом i. По аналогии с этим </a:t>
            </a:r>
            <a:r>
              <a:rPr lang="ru-RU" dirty="0" err="1">
                <a:latin typeface="Cambria" panose="02040503050406030204" pitchFamily="18" charset="0"/>
                <a:ea typeface="Cambria" panose="02040503050406030204" pitchFamily="18" charset="0"/>
              </a:rPr>
              <a:t>R</a:t>
            </a:r>
            <a:r>
              <a:rPr lang="ru-RU" baseline="-25000" dirty="0" err="1">
                <a:latin typeface="Cambria" panose="02040503050406030204" pitchFamily="18" charset="0"/>
                <a:ea typeface="Cambria" panose="02040503050406030204" pitchFamily="18" charset="0"/>
              </a:rPr>
              <a:t>ij</a:t>
            </a:r>
            <a:r>
              <a:rPr lang="ru-RU" dirty="0">
                <a:latin typeface="Cambria" panose="02040503050406030204" pitchFamily="18" charset="0"/>
                <a:ea typeface="Cambria" panose="02040503050406030204" pitchFamily="18" charset="0"/>
              </a:rPr>
              <a:t> – это количество экземпляров ресурса j, которое хочет получить процесс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243931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8906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88DF67-18F1-069F-4CE6-13F304535656}"/>
              </a:ext>
            </a:extLst>
          </p:cNvPr>
          <p:cNvPicPr>
            <a:picLocks noGrp="1" noChangeAspect="1"/>
          </p:cNvPicPr>
          <p:nvPr>
            <p:ph idx="1"/>
          </p:nvPr>
        </p:nvPicPr>
        <p:blipFill>
          <a:blip r:embed="rId2"/>
          <a:stretch>
            <a:fillRect/>
          </a:stretch>
        </p:blipFill>
        <p:spPr>
          <a:xfrm>
            <a:off x="858837" y="1863089"/>
            <a:ext cx="10474325" cy="4518153"/>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9068962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32186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этих четырех структур данных сохраняется одно важное соотношение. А именно – каждый ресурс является либо выделенным, либо доступным. Это наблюдение означает, что:</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Иными словами, если сложить все уже выделенные экземпляры ресурса j и к ним прибавить все еще доступные экземпляры, в результате получится количество существующих экземпляров ресурса этого класса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19273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23174935-919A-B329-956E-C527AEC86A21}"/>
              </a:ext>
            </a:extLst>
          </p:cNvPr>
          <p:cNvPicPr>
            <a:picLocks noChangeAspect="1"/>
          </p:cNvPicPr>
          <p:nvPr/>
        </p:nvPicPr>
        <p:blipFill>
          <a:blip r:embed="rId2"/>
          <a:stretch>
            <a:fillRect/>
          </a:stretch>
        </p:blipFill>
        <p:spPr>
          <a:xfrm>
            <a:off x="4121885" y="2785898"/>
            <a:ext cx="3907080" cy="1630781"/>
          </a:xfrm>
          <a:prstGeom prst="rect">
            <a:avLst/>
          </a:prstGeom>
        </p:spPr>
      </p:pic>
    </p:spTree>
    <p:extLst>
      <p:ext uri="{BB962C8B-B14F-4D97-AF65-F5344CB8AC3E}">
        <p14:creationId xmlns:p14="http://schemas.microsoft.com/office/powerpoint/2010/main" val="3542116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 обнаружения взаимоблокировок основан на сравнении векторов</a:t>
            </a:r>
          </a:p>
          <a:p>
            <a:pPr marL="0" indent="0">
              <a:buNone/>
            </a:pPr>
            <a:r>
              <a:rPr lang="ru-RU" dirty="0">
                <a:latin typeface="Cambria" panose="02040503050406030204" pitchFamily="18" charset="0"/>
                <a:ea typeface="Cambria" panose="02040503050406030204" pitchFamily="18" charset="0"/>
              </a:rPr>
              <a:t>Определим, что для двух векторов A и B соотношение A ≤ B означает, что каждый элемент вектора A меньше или равен соответствующему элементу вектора B.</a:t>
            </a:r>
          </a:p>
          <a:p>
            <a:pPr marL="0" indent="0">
              <a:buNone/>
            </a:pPr>
            <a:r>
              <a:rPr lang="ru-RU" dirty="0">
                <a:latin typeface="Cambria" panose="02040503050406030204" pitchFamily="18" charset="0"/>
                <a:ea typeface="Cambria" panose="02040503050406030204" pitchFamily="18" charset="0"/>
              </a:rPr>
              <a:t>Математически это можно записать так: A ≤ B тогда и только тогда, когда </a:t>
            </a:r>
            <a:r>
              <a:rPr lang="ru-RU" dirty="0" err="1">
                <a:latin typeface="Cambria" panose="02040503050406030204" pitchFamily="18" charset="0"/>
                <a:ea typeface="Cambria" panose="02040503050406030204" pitchFamily="18" charset="0"/>
              </a:rPr>
              <a:t>A</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 </a:t>
            </a:r>
            <a:r>
              <a:rPr lang="ru-RU" dirty="0" err="1">
                <a:latin typeface="Cambria" panose="02040503050406030204" pitchFamily="18" charset="0"/>
                <a:ea typeface="Cambria" panose="02040503050406030204" pitchFamily="18" charset="0"/>
              </a:rPr>
              <a:t>B</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для 1 ≤ i ≤ m</a:t>
            </a:r>
          </a:p>
          <a:p>
            <a:pPr marL="0" indent="0">
              <a:buNone/>
            </a:pPr>
            <a:r>
              <a:rPr lang="ru-RU" dirty="0">
                <a:latin typeface="Cambria" panose="02040503050406030204" pitchFamily="18" charset="0"/>
                <a:ea typeface="Cambria" panose="02040503050406030204" pitchFamily="18" charset="0"/>
              </a:rPr>
              <a:t>Каждый процесс изначально объявляется немаркированным. По мере работы процессы будут помечаться, показывая, что они способны завершить свою работу и не участвуют во взаимоблокировке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3971749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385603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Когда алгоритм завершает свою работу, любой непомеченный процесс считается участвующим во взаимоблокировке. При работе этого алгоритма предполагается наихудший из возможных сценариев развития событий: все процессы удерживают все полученные ресурсы до тех пор, пока не закончат свою работу</a:t>
            </a:r>
          </a:p>
          <a:p>
            <a:pPr marL="0" indent="0">
              <a:buNone/>
            </a:pPr>
            <a:r>
              <a:rPr lang="ru-RU" dirty="0">
                <a:latin typeface="Cambria" panose="02040503050406030204" pitchFamily="18" charset="0"/>
                <a:ea typeface="Cambria" panose="02040503050406030204" pitchFamily="18" charset="0"/>
              </a:rPr>
              <a:t>Теперь алгоритм обнаружения взаимного исключения можно изложить в следующей последовательности:</a:t>
            </a:r>
          </a:p>
          <a:p>
            <a:pPr marL="0" indent="0">
              <a:buNone/>
            </a:pPr>
            <a:r>
              <a:rPr lang="ru-RU" dirty="0">
                <a:latin typeface="Cambria" panose="02040503050406030204" pitchFamily="18" charset="0"/>
                <a:ea typeface="Cambria" panose="02040503050406030204" pitchFamily="18" charset="0"/>
              </a:rPr>
              <a:t>1. Поиск непомеченного процесса,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для которого i-я строка матрицы R меньше или равна A</a:t>
            </a:r>
          </a:p>
          <a:p>
            <a:pPr marL="0" indent="0">
              <a:buNone/>
            </a:pPr>
            <a:r>
              <a:rPr lang="ru-RU" dirty="0">
                <a:latin typeface="Cambria" panose="02040503050406030204" pitchFamily="18" charset="0"/>
                <a:ea typeface="Cambria" panose="02040503050406030204" pitchFamily="18" charset="0"/>
              </a:rPr>
              <a:t>2. Если такой процесс найден, прибавление к A i-й строки матрицы C, установка метки на процесс и возвращение к шагу 1</a:t>
            </a:r>
          </a:p>
          <a:p>
            <a:pPr marL="0" indent="0">
              <a:buNone/>
            </a:pPr>
            <a:r>
              <a:rPr lang="ru-RU" dirty="0">
                <a:latin typeface="Cambria" panose="02040503050406030204" pitchFamily="18" charset="0"/>
                <a:ea typeface="Cambria" panose="02040503050406030204" pitchFamily="18" charset="0"/>
              </a:rPr>
              <a:t>3. Если такого процесса нет, алгоритм завершает работу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58101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88045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 первом шаге алгоритм ищет процесс, который может доработать до конца. Такой процесс характеризуется тем, что все его запросы на ресурсы могут быть удовлетворены за счет текущих доступных ресурсов</a:t>
            </a:r>
          </a:p>
          <a:p>
            <a:pPr marL="0" indent="0">
              <a:buNone/>
            </a:pPr>
            <a:r>
              <a:rPr lang="ru-RU" dirty="0">
                <a:latin typeface="Cambria" panose="02040503050406030204" pitchFamily="18" charset="0"/>
                <a:ea typeface="Cambria" panose="02040503050406030204" pitchFamily="18" charset="0"/>
              </a:rPr>
              <a:t>Тогда выбранный процесс доработает до конца, после чего вернет все удерживаемые им ресурсы в фонд доступных ресурсов. Затем этот процесс помечается завершенным</a:t>
            </a:r>
          </a:p>
          <a:p>
            <a:pPr marL="0" indent="0">
              <a:buNone/>
            </a:pPr>
            <a:r>
              <a:rPr lang="ru-RU" dirty="0">
                <a:latin typeface="Cambria" panose="02040503050406030204" pitchFamily="18" charset="0"/>
                <a:ea typeface="Cambria" panose="02040503050406030204" pitchFamily="18" charset="0"/>
              </a:rPr>
              <a:t>Если в итоге окажется, что все процессы могут доработать до конца, значит, ни один из них не участвует во взаимоблокировке</a:t>
            </a:r>
          </a:p>
          <a:p>
            <a:pPr marL="0" indent="0">
              <a:buNone/>
            </a:pPr>
            <a:r>
              <a:rPr lang="ru-RU" dirty="0">
                <a:latin typeface="Cambria" panose="02040503050406030204" pitchFamily="18" charset="0"/>
                <a:ea typeface="Cambria" panose="02040503050406030204" pitchFamily="18" charset="0"/>
              </a:rPr>
              <a:t>Если часть процессов никогда не сможет доработать до конца, значит, они находятся в состоянии взаимоблокировки</a:t>
            </a:r>
          </a:p>
          <a:p>
            <a:pPr marL="0" indent="0">
              <a:buNone/>
            </a:pPr>
            <a:r>
              <a:rPr lang="ru-RU" dirty="0">
                <a:latin typeface="Cambria" panose="02040503050406030204" pitchFamily="18" charset="0"/>
                <a:ea typeface="Cambria" panose="02040503050406030204" pitchFamily="18" charset="0"/>
              </a:rPr>
              <a:t>Хотя алгоритм не является детерминированным (поскольку он может запускать процессы в любом возможном порядке), результат всегда одинаков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4015458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3516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следующий пример работы алгоритма обнаружения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0513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887903" y="2416372"/>
            <a:ext cx="6375043" cy="4260628"/>
          </a:xfrm>
          <a:prstGeom prst="rect">
            <a:avLst/>
          </a:prstGeom>
        </p:spPr>
      </p:pic>
    </p:spTree>
    <p:extLst>
      <p:ext uri="{BB962C8B-B14F-4D97-AF65-F5344CB8AC3E}">
        <p14:creationId xmlns:p14="http://schemas.microsoft.com/office/powerpoint/2010/main" val="2122231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нас есть три процесса и четыре класса ресурсов, которые мы произвольно обозначили как накопители на магнитной ленте, плоттеры, сканер и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a:p>
            <a:pPr marL="0" indent="0">
              <a:buNone/>
            </a:pPr>
            <a:r>
              <a:rPr lang="ru-RU" dirty="0">
                <a:latin typeface="Cambria" panose="02040503050406030204" pitchFamily="18" charset="0"/>
                <a:ea typeface="Cambria" panose="02040503050406030204" pitchFamily="18" charset="0"/>
              </a:rPr>
              <a:t>Процесс 1 удерживает один сканер. Процесс 2 удерживает два ленточных привода и один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Процесс 3 удерживает плоттер и два сканера. Каждый процесс нуждается в дополнительных ресурсах, что отображено в матрице R</a:t>
            </a:r>
          </a:p>
          <a:p>
            <a:pPr marL="0" indent="0">
              <a:buNone/>
            </a:pPr>
            <a:r>
              <a:rPr lang="ru-RU" dirty="0">
                <a:latin typeface="Cambria" panose="02040503050406030204" pitchFamily="18" charset="0"/>
                <a:ea typeface="Cambria" panose="02040503050406030204" pitchFamily="18" charset="0"/>
              </a:rPr>
              <a:t>Во время работы алгоритма обнаружения взаимоблокировок осуществляется поиск процесса, чей запрос на ресурс может быть удовлетворен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9848934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2319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8DF03-E776-2CF4-F1DF-B5D260179187}"/>
              </a:ext>
            </a:extLst>
          </p:cNvPr>
          <p:cNvPicPr>
            <a:picLocks noChangeAspect="1"/>
          </p:cNvPicPr>
          <p:nvPr/>
        </p:nvPicPr>
        <p:blipFill>
          <a:blip r:embed="rId2"/>
          <a:stretch>
            <a:fillRect/>
          </a:stretch>
        </p:blipFill>
        <p:spPr>
          <a:xfrm>
            <a:off x="3624390" y="4325112"/>
            <a:ext cx="2547810" cy="44822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Требования первого процесса удовлетворить невозможно из-за отсутствия доступного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Запрос второго процесса также нельзя удовлетворить, так как нет свободного сканера</a:t>
            </a:r>
          </a:p>
          <a:p>
            <a:pPr marL="0" indent="0">
              <a:buNone/>
            </a:pPr>
            <a:r>
              <a:rPr lang="ru-RU" dirty="0">
                <a:latin typeface="Cambria" panose="02040503050406030204" pitchFamily="18" charset="0"/>
                <a:ea typeface="Cambria" panose="02040503050406030204" pitchFamily="18" charset="0"/>
              </a:rPr>
              <a:t>К счастью, можно удовлетворить запрос третьего процесса, поэтому третий процесс запускается и в конечном итоге высвобождает все удерживавшиеся им ресурсы, в результате чего получается: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301274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09605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707371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cxnSp>
        <p:nvCxnSpPr>
          <p:cNvPr id="9" name="Straight Connector 8">
            <a:extLst>
              <a:ext uri="{FF2B5EF4-FFF2-40B4-BE49-F238E27FC236}">
                <a16:creationId xmlns:a16="http://schemas.microsoft.com/office/drawing/2014/main" id="{D9D3B2C9-D63F-065F-3147-63622A51ABEA}"/>
              </a:ext>
            </a:extLst>
          </p:cNvPr>
          <p:cNvCxnSpPr/>
          <p:nvPr/>
        </p:nvCxnSpPr>
        <p:spPr>
          <a:xfrm>
            <a:off x="7223760" y="627126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A08076AF-8900-6460-73C9-3B0E7FBEE63E}"/>
              </a:ext>
            </a:extLst>
          </p:cNvPr>
          <p:cNvCxnSpPr/>
          <p:nvPr/>
        </p:nvCxnSpPr>
        <p:spPr>
          <a:xfrm>
            <a:off x="3653790" y="6267450"/>
            <a:ext cx="135636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2589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8DF03-E776-2CF4-F1DF-B5D2601791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97493" y="2208629"/>
            <a:ext cx="2039815" cy="530352"/>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может быть запущен процесс 2, высвобождающий удерживающиеся им ресурсы, в результате чего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получается:</a:t>
            </a:r>
          </a:p>
          <a:p>
            <a:pPr marL="0" indent="0">
              <a:buNone/>
            </a:pPr>
            <a:r>
              <a:rPr lang="ru-RU" dirty="0">
                <a:latin typeface="Cambria" panose="02040503050406030204" pitchFamily="18" charset="0"/>
                <a:ea typeface="Cambria" panose="02040503050406030204" pitchFamily="18" charset="0"/>
              </a:rPr>
              <a:t>и может быть запущен оставшийся процесс</a:t>
            </a:r>
          </a:p>
          <a:p>
            <a:pPr marL="0" indent="0">
              <a:buNone/>
            </a:pPr>
            <a:r>
              <a:rPr lang="ru-RU" dirty="0">
                <a:latin typeface="Cambria" panose="02040503050406030204" pitchFamily="18" charset="0"/>
                <a:ea typeface="Cambria" panose="02040503050406030204" pitchFamily="18" charset="0"/>
              </a:rPr>
              <a:t>При этом взаимоблокировки в системе не возникает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616308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335568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6954845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cxnSp>
        <p:nvCxnSpPr>
          <p:cNvPr id="9" name="Straight Connector 8">
            <a:extLst>
              <a:ext uri="{FF2B5EF4-FFF2-40B4-BE49-F238E27FC236}">
                <a16:creationId xmlns:a16="http://schemas.microsoft.com/office/drawing/2014/main" id="{D9D3B2C9-D63F-065F-3147-63622A51ABEA}"/>
              </a:ext>
            </a:extLst>
          </p:cNvPr>
          <p:cNvCxnSpPr/>
          <p:nvPr/>
        </p:nvCxnSpPr>
        <p:spPr>
          <a:xfrm>
            <a:off x="7223760" y="627126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A08076AF-8900-6460-73C9-3B0E7FBEE63E}"/>
              </a:ext>
            </a:extLst>
          </p:cNvPr>
          <p:cNvCxnSpPr/>
          <p:nvPr/>
        </p:nvCxnSpPr>
        <p:spPr>
          <a:xfrm>
            <a:off x="3653790" y="6267450"/>
            <a:ext cx="1356360" cy="0"/>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3862CF84-6DC4-E93F-A76D-E77B244B0667}"/>
              </a:ext>
            </a:extLst>
          </p:cNvPr>
          <p:cNvPicPr>
            <a:picLocks noChangeAspect="1"/>
          </p:cNvPicPr>
          <p:nvPr/>
        </p:nvPicPr>
        <p:blipFill>
          <a:blip r:embed="rId4"/>
          <a:stretch>
            <a:fillRect/>
          </a:stretch>
        </p:blipFill>
        <p:spPr>
          <a:xfrm>
            <a:off x="6797039" y="3416737"/>
            <a:ext cx="189579" cy="250914"/>
          </a:xfrm>
          <a:prstGeom prst="rect">
            <a:avLst/>
          </a:prstGeom>
        </p:spPr>
      </p:pic>
      <p:pic>
        <p:nvPicPr>
          <p:cNvPr id="10" name="Picture 9">
            <a:extLst>
              <a:ext uri="{FF2B5EF4-FFF2-40B4-BE49-F238E27FC236}">
                <a16:creationId xmlns:a16="http://schemas.microsoft.com/office/drawing/2014/main" id="{66114750-4E06-C143-ADDE-B2B559DA6CB0}"/>
              </a:ext>
            </a:extLst>
          </p:cNvPr>
          <p:cNvPicPr>
            <a:picLocks noChangeAspect="1"/>
          </p:cNvPicPr>
          <p:nvPr/>
        </p:nvPicPr>
        <p:blipFill>
          <a:blip r:embed="rId5"/>
          <a:stretch>
            <a:fillRect/>
          </a:stretch>
        </p:blipFill>
        <p:spPr>
          <a:xfrm>
            <a:off x="8316175" y="3391900"/>
            <a:ext cx="189579" cy="275751"/>
          </a:xfrm>
          <a:prstGeom prst="rect">
            <a:avLst/>
          </a:prstGeom>
        </p:spPr>
      </p:pic>
      <p:cxnSp>
        <p:nvCxnSpPr>
          <p:cNvPr id="12" name="Straight Connector 11">
            <a:extLst>
              <a:ext uri="{FF2B5EF4-FFF2-40B4-BE49-F238E27FC236}">
                <a16:creationId xmlns:a16="http://schemas.microsoft.com/office/drawing/2014/main" id="{E9346F3D-D6BF-F789-C200-64B011E10C2D}"/>
              </a:ext>
            </a:extLst>
          </p:cNvPr>
          <p:cNvCxnSpPr/>
          <p:nvPr/>
        </p:nvCxnSpPr>
        <p:spPr>
          <a:xfrm>
            <a:off x="7269480" y="598678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9FE156AF-E469-BF84-8CAB-B462A0F78C8D}"/>
              </a:ext>
            </a:extLst>
          </p:cNvPr>
          <p:cNvCxnSpPr/>
          <p:nvPr/>
        </p:nvCxnSpPr>
        <p:spPr>
          <a:xfrm>
            <a:off x="3653790" y="5986780"/>
            <a:ext cx="139827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913748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незначительное изменение ситуации. Предположим, что процесс 3 нуждается в приводе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а также в двух ленточных накопителях и плоттере</a:t>
            </a:r>
          </a:p>
          <a:p>
            <a:pPr marL="0" indent="0">
              <a:buNone/>
            </a:pPr>
            <a:r>
              <a:rPr lang="ru-RU" dirty="0">
                <a:latin typeface="Cambria" panose="02040503050406030204" pitchFamily="18" charset="0"/>
                <a:ea typeface="Cambria" panose="02040503050406030204" pitchFamily="18" charset="0"/>
              </a:rPr>
              <a:t>Ни один из этих запросов не может быть удовлетворен, поэтому вся система в конечном итоге войдет в состояние взаимоблокировки</a:t>
            </a:r>
          </a:p>
          <a:p>
            <a:pPr marL="0" indent="0">
              <a:buNone/>
            </a:pPr>
            <a:r>
              <a:rPr lang="ru-RU" dirty="0">
                <a:latin typeface="Cambria" panose="02040503050406030204" pitchFamily="18" charset="0"/>
                <a:ea typeface="Cambria" panose="02040503050406030204" pitchFamily="18" charset="0"/>
              </a:rPr>
              <a:t>Даже если мы дадим процессу 3 два его ленточных накопителя и один плоттер, система войдет в состояние взаимоблокировки при запросе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886695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12503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130510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pic>
        <p:nvPicPr>
          <p:cNvPr id="3" name="Picture 2">
            <a:extLst>
              <a:ext uri="{FF2B5EF4-FFF2-40B4-BE49-F238E27FC236}">
                <a16:creationId xmlns:a16="http://schemas.microsoft.com/office/drawing/2014/main" id="{3862CF84-6DC4-E93F-A76D-E77B244B0667}"/>
              </a:ext>
            </a:extLst>
          </p:cNvPr>
          <p:cNvPicPr>
            <a:picLocks noChangeAspect="1"/>
          </p:cNvPicPr>
          <p:nvPr/>
        </p:nvPicPr>
        <p:blipFill>
          <a:blip r:embed="rId4"/>
          <a:stretch>
            <a:fillRect/>
          </a:stretch>
        </p:blipFill>
        <p:spPr>
          <a:xfrm>
            <a:off x="6797039" y="3416737"/>
            <a:ext cx="189579" cy="250914"/>
          </a:xfrm>
          <a:prstGeom prst="rect">
            <a:avLst/>
          </a:prstGeom>
        </p:spPr>
      </p:pic>
      <p:pic>
        <p:nvPicPr>
          <p:cNvPr id="10" name="Picture 9">
            <a:extLst>
              <a:ext uri="{FF2B5EF4-FFF2-40B4-BE49-F238E27FC236}">
                <a16:creationId xmlns:a16="http://schemas.microsoft.com/office/drawing/2014/main" id="{66114750-4E06-C143-ADDE-B2B559DA6CB0}"/>
              </a:ext>
            </a:extLst>
          </p:cNvPr>
          <p:cNvPicPr>
            <a:picLocks noChangeAspect="1"/>
          </p:cNvPicPr>
          <p:nvPr/>
        </p:nvPicPr>
        <p:blipFill>
          <a:blip r:embed="rId5"/>
          <a:stretch>
            <a:fillRect/>
          </a:stretch>
        </p:blipFill>
        <p:spPr>
          <a:xfrm>
            <a:off x="8316175" y="3391900"/>
            <a:ext cx="189579" cy="275751"/>
          </a:xfrm>
          <a:prstGeom prst="rect">
            <a:avLst/>
          </a:prstGeom>
        </p:spPr>
      </p:pic>
      <p:pic>
        <p:nvPicPr>
          <p:cNvPr id="2" name="Picture 1">
            <a:extLst>
              <a:ext uri="{FF2B5EF4-FFF2-40B4-BE49-F238E27FC236}">
                <a16:creationId xmlns:a16="http://schemas.microsoft.com/office/drawing/2014/main" id="{A05D7A11-E368-1CEA-B8EA-17E5A592EFF1}"/>
              </a:ext>
            </a:extLst>
          </p:cNvPr>
          <p:cNvPicPr>
            <a:picLocks noChangeAspect="1"/>
          </p:cNvPicPr>
          <p:nvPr/>
        </p:nvPicPr>
        <p:blipFill>
          <a:blip r:embed="rId5"/>
          <a:stretch>
            <a:fillRect/>
          </a:stretch>
        </p:blipFill>
        <p:spPr>
          <a:xfrm>
            <a:off x="8354275" y="6112240"/>
            <a:ext cx="189579" cy="275751"/>
          </a:xfrm>
          <a:prstGeom prst="rect">
            <a:avLst/>
          </a:prstGeom>
        </p:spPr>
      </p:pic>
      <p:sp>
        <p:nvSpPr>
          <p:cNvPr id="14" name="Oval 13">
            <a:extLst>
              <a:ext uri="{FF2B5EF4-FFF2-40B4-BE49-F238E27FC236}">
                <a16:creationId xmlns:a16="http://schemas.microsoft.com/office/drawing/2014/main" id="{CCDB72AE-C198-8A4D-96BA-DCFC591805FC}"/>
              </a:ext>
            </a:extLst>
          </p:cNvPr>
          <p:cNvSpPr/>
          <p:nvPr/>
        </p:nvSpPr>
        <p:spPr>
          <a:xfrm>
            <a:off x="8354275" y="6112240"/>
            <a:ext cx="189579" cy="275751"/>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ABF4A47-039F-D224-F9DD-BF8AB8E2A05C}"/>
              </a:ext>
            </a:extLst>
          </p:cNvPr>
          <p:cNvCxnSpPr/>
          <p:nvPr/>
        </p:nvCxnSpPr>
        <p:spPr>
          <a:xfrm flipH="1" flipV="1">
            <a:off x="8614410" y="6290310"/>
            <a:ext cx="933450" cy="2324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513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Теперь, когда мы знаем, как можно обнаружить взаимоблокировку (по крайней мере, при заранее известных статических запросах на выделение ресурсов), возникает вопрос, когда именно нужно приступать к их поиску</a:t>
            </a:r>
          </a:p>
          <a:p>
            <a:pPr marL="0" indent="0">
              <a:buNone/>
            </a:pPr>
            <a:r>
              <a:rPr lang="ru-RU" dirty="0">
                <a:latin typeface="Cambria" panose="02040503050406030204" pitchFamily="18" charset="0"/>
                <a:ea typeface="Cambria" panose="02040503050406030204" pitchFamily="18" charset="0"/>
              </a:rPr>
              <a:t>Можно, конечно, проводить проверку при выдаче каждого запроса на выделение ресурса. Тем самым будет обеспечено их обнаружение на самой ранней стадии, но это слишком обременительно для центрального процессора</a:t>
            </a:r>
          </a:p>
          <a:p>
            <a:pPr marL="0" indent="0">
              <a:buNone/>
            </a:pPr>
            <a:r>
              <a:rPr lang="ru-RU" dirty="0">
                <a:latin typeface="Cambria" panose="02040503050406030204" pitchFamily="18" charset="0"/>
                <a:ea typeface="Cambria" panose="02040503050406030204" pitchFamily="18" charset="0"/>
              </a:rPr>
              <a:t>Есть альтернативная стратегия, предусматривающая проверку каждые k минут или, может быть, только в том случае, когда степень загруженности процессора снижается относительно какого-то порога. Оценка загруженности процессора имеет определенный смысл, поскольку при участии во взаимоблокировке достаточного количества процессов работоспособными останутся лишь несколько процессов и центральный процессор будет часто простаивать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676628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168539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Предположим, что наш алгоритм обнаружения взаимоблокировки успешно отработал и обнаружил такую блокировку. Что же дальше? </a:t>
            </a:r>
          </a:p>
          <a:p>
            <a:pPr marL="0" indent="0">
              <a:buNone/>
            </a:pPr>
            <a:r>
              <a:rPr lang="ru-RU" dirty="0">
                <a:latin typeface="Cambria" panose="02040503050406030204" pitchFamily="18" charset="0"/>
                <a:ea typeface="Cambria" panose="02040503050406030204" pitchFamily="18" charset="0"/>
              </a:rPr>
              <a:t>Нужны какие-то методы выхода из нее, позволяющие системе восстановить работоспособность. Рассмотрим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за счет приоритетного овладения ресурсом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путем отката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путем уничтожения процессов</a:t>
            </a:r>
          </a:p>
          <a:p>
            <a:pPr marL="0" indent="0">
              <a:buNone/>
            </a:pPr>
            <a:r>
              <a:rPr lang="ru-RU" dirty="0">
                <a:latin typeface="Cambria" panose="02040503050406030204" pitchFamily="18" charset="0"/>
                <a:ea typeface="Cambria" panose="02040503050406030204" pitchFamily="18" charset="0"/>
              </a:rPr>
              <a:t>Ни один из них не обладает какой-то исключительной привлекательностью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465964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62738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Иногда можно временно отобрать ресурс у его текущего владельца и передать его другому процессу. В большинстве случаев для этого может понадобиться вмешательство оператора, особенно в операционных системах пакетной обработки, запускаемых на универсальных машинах</a:t>
            </a:r>
          </a:p>
          <a:p>
            <a:pPr marL="0" indent="0">
              <a:buNone/>
            </a:pPr>
            <a:r>
              <a:rPr lang="ru-RU" dirty="0">
                <a:latin typeface="Cambria" panose="02040503050406030204" pitchFamily="18" charset="0"/>
                <a:ea typeface="Cambria" panose="02040503050406030204" pitchFamily="18" charset="0"/>
              </a:rPr>
              <a:t>Возможность отобрать ресурс у процесса, позволить использовать его другому процессу, а затем вернуть его без извещения процесса во многом зависит от природы этого ресурса</a:t>
            </a:r>
          </a:p>
          <a:p>
            <a:pPr marL="0" indent="0">
              <a:buNone/>
            </a:pPr>
            <a:r>
              <a:rPr lang="ru-RU" dirty="0">
                <a:latin typeface="Cambria" panose="02040503050406030204" pitchFamily="18" charset="0"/>
                <a:ea typeface="Cambria" panose="02040503050406030204" pitchFamily="18" charset="0"/>
              </a:rPr>
              <a:t>Восстановление этим способом зачастую затруднено или вовсе невозможно. Выбор процесса для приостановки обусловлен тем, какой именно процесс обладает тем ресурсом, который у него можно легко отобрать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064953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Приоритетное овладение ресурсом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16405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 примеру, чтобы отобрать лазерный принтер у владельца, оператор может сложить все уже отпечатанные листы в стопку</a:t>
            </a:r>
          </a:p>
          <a:p>
            <a:pPr marL="0" indent="0">
              <a:buNone/>
            </a:pPr>
            <a:r>
              <a:rPr lang="ru-RU" dirty="0">
                <a:latin typeface="Cambria" panose="02040503050406030204" pitchFamily="18" charset="0"/>
                <a:ea typeface="Cambria" panose="02040503050406030204" pitchFamily="18" charset="0"/>
              </a:rPr>
              <a:t>Затем процесс может быть приостановлен (помечен как неработоспособный)</a:t>
            </a:r>
          </a:p>
          <a:p>
            <a:pPr marL="0" indent="0">
              <a:buNone/>
            </a:pPr>
            <a:r>
              <a:rPr lang="ru-RU" dirty="0">
                <a:latin typeface="Cambria" panose="02040503050406030204" pitchFamily="18" charset="0"/>
                <a:ea typeface="Cambria" panose="02040503050406030204" pitchFamily="18" charset="0"/>
              </a:rPr>
              <a:t>После этого принтер может быть выделен другому процессу</a:t>
            </a:r>
          </a:p>
          <a:p>
            <a:pPr marL="0" indent="0">
              <a:buNone/>
            </a:pPr>
            <a:r>
              <a:rPr lang="ru-RU" dirty="0">
                <a:latin typeface="Cambria" panose="02040503050406030204" pitchFamily="18" charset="0"/>
                <a:ea typeface="Cambria" panose="02040503050406030204" pitchFamily="18" charset="0"/>
              </a:rPr>
              <a:t>Когда этот процесс завершит свою работу, стопка отпечатанных листов бумаги может быть помещена обратно в приемный лоток принтера и работа исходного процесса может быть возобновлена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Приоритетное овладение ресурсом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022718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Если разработчики системы и операторы вычислительной машины знают о том, что есть вероятность возникновения взаимоблокировки, они могут организовать периодическое создание процессами </a:t>
            </a:r>
            <a:r>
              <a:rPr lang="ru-RU" b="1" dirty="0">
                <a:latin typeface="Cambria" panose="02040503050406030204" pitchFamily="18" charset="0"/>
                <a:ea typeface="Cambria" panose="02040503050406030204" pitchFamily="18" charset="0"/>
              </a:rPr>
              <a:t>контрольных точек</a:t>
            </a:r>
          </a:p>
          <a:p>
            <a:pPr marL="0" indent="0">
              <a:buNone/>
            </a:pPr>
            <a:r>
              <a:rPr lang="ru-RU" dirty="0">
                <a:latin typeface="Cambria" panose="02040503050406030204" pitchFamily="18" charset="0"/>
                <a:ea typeface="Cambria" panose="02040503050406030204" pitchFamily="18" charset="0"/>
              </a:rPr>
              <a:t>Это означает, что состояние процесса записывается в файл, что позволит осуществить его последующий перезапуск. Контрольные точки содержат не только образ памяти, но и состояние ресурсов, то есть информацию о том, какие ресурсы в данный момент выделены процессу</a:t>
            </a:r>
          </a:p>
          <a:p>
            <a:pPr marL="0" indent="0">
              <a:buNone/>
            </a:pPr>
            <a:r>
              <a:rPr lang="ru-RU" dirty="0">
                <a:latin typeface="Cambria" panose="02040503050406030204" pitchFamily="18" charset="0"/>
                <a:ea typeface="Cambria" panose="02040503050406030204" pitchFamily="18" charset="0"/>
              </a:rPr>
              <a:t>Для большей эффективности новая контрольная точка должна записываться не поверх старой, а в новый файл, чтобы во время выполнения процесса собралась целая последовательность контрольных точек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5591877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28088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обнаружении взаимоблокировки несложно определить, какие ресурсы нужны</a:t>
            </a:r>
          </a:p>
          <a:p>
            <a:pPr marL="0" indent="0">
              <a:buNone/>
            </a:pPr>
            <a:r>
              <a:rPr lang="ru-RU" dirty="0">
                <a:latin typeface="Cambria" panose="02040503050406030204" pitchFamily="18" charset="0"/>
                <a:ea typeface="Cambria" panose="02040503050406030204" pitchFamily="18" charset="0"/>
              </a:rPr>
              <a:t>Чтобы выйти из взаимоблокировки, процесс, владеющий необходимым ресурсом, откатывается назад к точке, предшествующей получению данного ресурса, для чего он запускается из одной из своих контрольных точек. Вся работа, выполненная после этой контрольной точки, теряется </a:t>
            </a:r>
          </a:p>
          <a:p>
            <a:pPr marL="0" indent="0">
              <a:buNone/>
            </a:pPr>
            <a:r>
              <a:rPr lang="ru-RU" dirty="0">
                <a:latin typeface="Cambria" panose="02040503050406030204" pitchFamily="18" charset="0"/>
                <a:ea typeface="Cambria" panose="02040503050406030204" pitchFamily="18" charset="0"/>
              </a:rPr>
              <a:t>Фактически процесс возвращается к предшествующему моменту, когда он еще не обладал тем ресурсом, который теперь выделен одному из участвующих во взаимоблокировке процессов. Если перезапущенный процесс пытается опять получить ресурс, ему приходится ждать, пока тот не станет доступен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259828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вернуться к примеру с лазерным принтером, то, должна быть выброшена вся отпечатанная после этой контрольной точки выходная информация, поскольку она будет отпечатана снова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602330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082612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Самым грубым, но и самым простым способом прервать взаимоблокировку является уничтожение одного или нескольких процессов</a:t>
            </a:r>
          </a:p>
          <a:p>
            <a:pPr marL="0" indent="0">
              <a:buNone/>
            </a:pPr>
            <a:r>
              <a:rPr lang="ru-RU" dirty="0">
                <a:latin typeface="Cambria" panose="02040503050406030204" pitchFamily="18" charset="0"/>
                <a:ea typeface="Cambria" panose="02040503050406030204" pitchFamily="18" charset="0"/>
              </a:rPr>
              <a:t>Можно уничтожить процесс, находящийся в цикле взаимоблокировки. Если повезет, то другие процессы смогут продолжить свою работу. Если это не поможет, то все можно повторить, пока цикл не будет разорван</a:t>
            </a:r>
          </a:p>
          <a:p>
            <a:pPr marL="0" indent="0">
              <a:buNone/>
            </a:pPr>
            <a:r>
              <a:rPr lang="ru-RU" dirty="0">
                <a:latin typeface="Cambria" panose="02040503050406030204" pitchFamily="18" charset="0"/>
                <a:ea typeface="Cambria" panose="02040503050406030204" pitchFamily="18" charset="0"/>
              </a:rPr>
              <a:t>В качестве альтернативы можно выбрать жертвой процесс, не находящийся в цикле, чтобы он высвободил удерживаемые им ресурсы. При этом подходе уничтожаемый процесс выбирается с особой тщательностью, потому что он должен удерживать ресурсы, необходимые некоторым процессам в цикле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842316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523091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вернуться к примеру с лазерным принтером, то, например, один процесс может удерживать принтер и требовать плоттер, а другой, наоборот, удерживать плоттер и запрашивать принтер</a:t>
            </a:r>
          </a:p>
          <a:p>
            <a:pPr marL="0" indent="0">
              <a:buNone/>
            </a:pPr>
            <a:r>
              <a:rPr lang="ru-RU" dirty="0">
                <a:latin typeface="Cambria" panose="02040503050406030204" pitchFamily="18" charset="0"/>
                <a:ea typeface="Cambria" panose="02040503050406030204" pitchFamily="18" charset="0"/>
              </a:rPr>
              <a:t>Оба они находятся в состоянии взаимоблокировки. Третий процесс может удерживать другой такой же принтер и другой такой же плоттер и успешно работать</a:t>
            </a:r>
          </a:p>
          <a:p>
            <a:pPr marL="0" indent="0">
              <a:buNone/>
            </a:pPr>
            <a:r>
              <a:rPr lang="ru-RU" dirty="0">
                <a:latin typeface="Cambria" panose="02040503050406030204" pitchFamily="18" charset="0"/>
                <a:ea typeface="Cambria" panose="02040503050406030204" pitchFamily="18" charset="0"/>
              </a:rPr>
              <a:t>Уничтожение третьего процесса приведет к высвобождению этих ресурсов и разрушит взаимоблокировку первых двух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89105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06971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 возможности лучше убить процесс, который может быть безболезненно перезапущен с самого начала. К примеру, компиляция всегда может быть перезапущена, поскольку все, что она делает, – это читает входной файл и создает объектный файл</a:t>
            </a:r>
          </a:p>
          <a:p>
            <a:pPr marL="0" indent="0">
              <a:buNone/>
            </a:pPr>
            <a:r>
              <a:rPr lang="ru-RU" dirty="0">
                <a:latin typeface="Cambria" panose="02040503050406030204" pitchFamily="18" charset="0"/>
                <a:ea typeface="Cambria" panose="02040503050406030204" pitchFamily="18" charset="0"/>
              </a:rPr>
              <a:t>Если процесс компиляции будет уничтожен на полпути, то первый запуск не повлияет на второй</a:t>
            </a:r>
          </a:p>
          <a:p>
            <a:pPr marL="0" indent="0">
              <a:buNone/>
            </a:pPr>
            <a:r>
              <a:rPr lang="ru-RU" dirty="0">
                <a:latin typeface="Cambria" panose="02040503050406030204" pitchFamily="18" charset="0"/>
                <a:ea typeface="Cambria" panose="02040503050406030204" pitchFamily="18" charset="0"/>
              </a:rPr>
              <a:t>А вот процесс, обновляющий базу данных, не всегда можно будет безопасно запустить во второй раз. Если процесс прибавляет единицу к какой-нибудь записи таблицы базы данных, то его первоначальный запуск, уничтожение, а затем повторный запуск приведут к неверному результату, поскольку к полю будет прибавлена двойка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65157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рассмотрении темы обнаружения взаимоблокировок мы предположили, что когда процесс запрашивает ресурсы, он просит их все сразу (матрица R)</a:t>
            </a:r>
          </a:p>
          <a:p>
            <a:pPr marL="0" indent="0">
              <a:buNone/>
            </a:pPr>
            <a:r>
              <a:rPr lang="ru-RU" dirty="0">
                <a:latin typeface="Cambria" panose="02040503050406030204" pitchFamily="18" charset="0"/>
                <a:ea typeface="Cambria" panose="02040503050406030204" pitchFamily="18" charset="0"/>
              </a:rPr>
              <a:t>Но в большинстве систем ресурсы запрашиваются по одному. Система должна уметь принимать решение, представляет выделение ресурса опасность или нет, и выделять его только в том случае, если это безопасно</a:t>
            </a:r>
          </a:p>
          <a:p>
            <a:pPr marL="0" indent="0">
              <a:buNone/>
            </a:pPr>
            <a:r>
              <a:rPr lang="ru-RU" dirty="0">
                <a:latin typeface="Cambria" panose="02040503050406030204" pitchFamily="18" charset="0"/>
                <a:ea typeface="Cambria" panose="02040503050406030204" pitchFamily="18" charset="0"/>
              </a:rPr>
              <a:t>В связи с этим возникает вопрос: существует ли алгоритм, который помог бы избежать взаимоблокировки, каждый раз делая правильный выбор? </a:t>
            </a:r>
          </a:p>
          <a:p>
            <a:pPr marL="0" indent="0">
              <a:buNone/>
            </a:pPr>
            <a:r>
              <a:rPr lang="ru-RU" dirty="0">
                <a:latin typeface="Cambria" panose="02040503050406030204" pitchFamily="18" charset="0"/>
                <a:ea typeface="Cambria" panose="02040503050406030204" pitchFamily="18" charset="0"/>
              </a:rPr>
              <a:t>Ответом будет да, но при определенных условиях взаимоблокировки можно избежать, но только если заранее будет доступна вполне определенная информация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45262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163990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Основные алгоритмы уклонения от взаимоблокировок основаны на концепции </a:t>
            </a:r>
            <a:r>
              <a:rPr lang="ru-RU" b="1" dirty="0">
                <a:latin typeface="Cambria" panose="02040503050406030204" pitchFamily="18" charset="0"/>
                <a:ea typeface="Cambria" panose="02040503050406030204" pitchFamily="18" charset="0"/>
              </a:rPr>
              <a:t>безопасных состояний</a:t>
            </a:r>
            <a:r>
              <a:rPr lang="ru-RU" dirty="0">
                <a:latin typeface="Cambria" panose="02040503050406030204" pitchFamily="18" charset="0"/>
                <a:ea typeface="Cambria" panose="02040503050406030204" pitchFamily="18" charset="0"/>
              </a:rPr>
              <a:t>. Перед тем как дать описание алгоритмов, нужно сделать небольшое отступление, чтобы рассмотреть концепцию безопасности в графическом, простом для понимания виде</a:t>
            </a:r>
          </a:p>
          <a:p>
            <a:pPr marL="0" indent="0">
              <a:buNone/>
            </a:pPr>
            <a:r>
              <a:rPr lang="ru-RU" dirty="0">
                <a:latin typeface="Cambria" panose="02040503050406030204" pitchFamily="18" charset="0"/>
                <a:ea typeface="Cambria" panose="02040503050406030204" pitchFamily="18" charset="0"/>
              </a:rPr>
              <a:t>Хотя графический подход не переводится непосредственно в пригодный к использованию алгоритм, он дает неплохое интуитивное понимание существа вопроса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3006581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497489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70868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1E2B3F4A-38A2-F46A-5DAE-E3F865224F88}"/>
              </a:ext>
            </a:extLst>
          </p:cNvPr>
          <p:cNvPicPr>
            <a:picLocks noGrp="1" noChangeAspect="1"/>
          </p:cNvPicPr>
          <p:nvPr>
            <p:ph idx="1"/>
          </p:nvPr>
        </p:nvPicPr>
        <p:blipFill>
          <a:blip r:embed="rId2"/>
          <a:stretch>
            <a:fillRect/>
          </a:stretch>
        </p:blipFill>
        <p:spPr>
          <a:xfrm>
            <a:off x="1405128" y="1513154"/>
            <a:ext cx="9381743" cy="5100981"/>
          </a:xfrm>
        </p:spPr>
      </p:pic>
    </p:spTree>
    <p:extLst>
      <p:ext uri="{BB962C8B-B14F-4D97-AF65-F5344CB8AC3E}">
        <p14:creationId xmlns:p14="http://schemas.microsoft.com/office/powerpoint/2010/main" val="17759494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горизонтальной оси отображены номера команд, выполняемых процессом A</a:t>
            </a:r>
          </a:p>
          <a:p>
            <a:pPr marL="0" indent="0">
              <a:buNone/>
            </a:pPr>
            <a:r>
              <a:rPr lang="ru-RU" dirty="0">
                <a:latin typeface="Cambria" panose="02040503050406030204" pitchFamily="18" charset="0"/>
                <a:ea typeface="Cambria" panose="02040503050406030204" pitchFamily="18" charset="0"/>
              </a:rPr>
              <a:t>На вертикальной оси отображены номера команд, выполняемых процессом B</a:t>
            </a:r>
          </a:p>
          <a:p>
            <a:pPr marL="0" indent="0">
              <a:buNone/>
            </a:pPr>
            <a:r>
              <a:rPr lang="ru-RU" dirty="0">
                <a:latin typeface="Cambria" panose="02040503050406030204" pitchFamily="18" charset="0"/>
                <a:ea typeface="Cambria" panose="02040503050406030204" pitchFamily="18" charset="0"/>
              </a:rPr>
              <a:t>В команде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процесс A запрашивает принтер, в команде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он запрашивает плоттер. Принтер и плоттер высвобождаются командами I</a:t>
            </a:r>
            <a:r>
              <a:rPr lang="ru-RU" baseline="-25000" dirty="0">
                <a:latin typeface="Cambria" panose="02040503050406030204" pitchFamily="18" charset="0"/>
                <a:ea typeface="Cambria" panose="02040503050406030204" pitchFamily="18" charset="0"/>
              </a:rPr>
              <a:t>3</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4</a:t>
            </a:r>
            <a:r>
              <a:rPr lang="ru-RU" dirty="0">
                <a:latin typeface="Cambria" panose="02040503050406030204" pitchFamily="18" charset="0"/>
                <a:ea typeface="Cambria" panose="02040503050406030204" pitchFamily="18" charset="0"/>
              </a:rPr>
              <a:t> соответственно</a:t>
            </a:r>
          </a:p>
          <a:p>
            <a:pPr marL="0" indent="0">
              <a:buNone/>
            </a:pPr>
            <a:r>
              <a:rPr lang="ru-RU" dirty="0">
                <a:latin typeface="Cambria" panose="02040503050406030204" pitchFamily="18" charset="0"/>
                <a:ea typeface="Cambria" panose="02040503050406030204" pitchFamily="18" charset="0"/>
              </a:rPr>
              <a:t>Процессу B нужны плоттер с команды I</a:t>
            </a:r>
            <a:r>
              <a:rPr lang="ru-RU" baseline="-25000" dirty="0">
                <a:latin typeface="Cambria" panose="02040503050406030204" pitchFamily="18" charset="0"/>
                <a:ea typeface="Cambria" panose="02040503050406030204" pitchFamily="18" charset="0"/>
              </a:rPr>
              <a:t>5</a:t>
            </a:r>
            <a:r>
              <a:rPr lang="ru-RU" dirty="0">
                <a:latin typeface="Cambria" panose="02040503050406030204" pitchFamily="18" charset="0"/>
                <a:ea typeface="Cambria" panose="02040503050406030204" pitchFamily="18" charset="0"/>
              </a:rPr>
              <a:t> по команду I</a:t>
            </a:r>
            <a:r>
              <a:rPr lang="ru-RU" baseline="-25000" dirty="0">
                <a:latin typeface="Cambria" panose="02040503050406030204" pitchFamily="18" charset="0"/>
                <a:ea typeface="Cambria" panose="02040503050406030204" pitchFamily="18" charset="0"/>
              </a:rPr>
              <a:t>7</a:t>
            </a:r>
            <a:r>
              <a:rPr lang="ru-RU" dirty="0">
                <a:latin typeface="Cambria" panose="02040503050406030204" pitchFamily="18" charset="0"/>
                <a:ea typeface="Cambria" panose="02040503050406030204" pitchFamily="18" charset="0"/>
              </a:rPr>
              <a:t> и принтер с команды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по команду I</a:t>
            </a:r>
            <a:r>
              <a:rPr lang="ru-RU" baseline="-25000" dirty="0">
                <a:latin typeface="Cambria" panose="02040503050406030204" pitchFamily="18" charset="0"/>
                <a:ea typeface="Cambria" panose="02040503050406030204" pitchFamily="18" charset="0"/>
              </a:rPr>
              <a:t>8</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186305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667446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Каждая точка на графике представляет совместное состояние двух процессов. Изначально система находится в точке p, когда ни один процесс еще не выполнил ни одной инструкции</a:t>
            </a:r>
          </a:p>
          <a:p>
            <a:pPr marL="0" indent="0">
              <a:buNone/>
            </a:pPr>
            <a:r>
              <a:rPr lang="ru-RU" dirty="0">
                <a:latin typeface="Cambria" panose="02040503050406030204" pitchFamily="18" charset="0"/>
                <a:ea typeface="Cambria" panose="02040503050406030204" pitchFamily="18" charset="0"/>
              </a:rPr>
              <a:t>Если планировщик запустит процесс A первым, мы попадем в точку q, в которой процесс A выполнил какое-то количество команд, а процесс B еще ничего не сделал. В точке q траектория становится вертикальной, показывая, что планировщик решил запустить в работу процесс B</a:t>
            </a:r>
          </a:p>
          <a:p>
            <a:pPr marL="0" indent="0">
              <a:buNone/>
            </a:pPr>
            <a:r>
              <a:rPr lang="ru-RU" dirty="0">
                <a:latin typeface="Cambria" panose="02040503050406030204" pitchFamily="18" charset="0"/>
                <a:ea typeface="Cambria" panose="02040503050406030204" pitchFamily="18" charset="0"/>
              </a:rPr>
              <a:t>При наличии одного процессора все отрезки траектории могут быть только вертикальными или горизонтальными, но не диагональными. Кроме того, движение всегда происходит в северном или восточном направлении (вверх и вправо) и никогда не происходит в южном или западном (вниз и влево), поскольку процессы не могут работать, возвращаясь в прошлое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659544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473384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процесс A пересекает прямую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на пути из r в s, он запрашивает, а затем получает в свое распоряжение принтер. Когда процесс B достигает точки t, он запрашивает плоттер</a:t>
            </a:r>
          </a:p>
          <a:p>
            <a:pPr marL="0" indent="0">
              <a:buNone/>
            </a:pPr>
            <a:r>
              <a:rPr lang="ru-RU" dirty="0">
                <a:latin typeface="Cambria" panose="02040503050406030204" pitchFamily="18" charset="0"/>
                <a:ea typeface="Cambria" panose="02040503050406030204" pitchFamily="18" charset="0"/>
              </a:rPr>
              <a:t>Особый интерес представляют заштрихованные области. Область со штриховкой из верхнего левого угла в правый нижний представляет промежуток времени, когда оба процесса удерживают принтер. Правило взаимного исключения делает попадание в эту область невозможным </a:t>
            </a:r>
          </a:p>
          <a:p>
            <a:pPr marL="0" indent="0">
              <a:buNone/>
            </a:pPr>
            <a:r>
              <a:rPr lang="ru-RU" dirty="0">
                <a:latin typeface="Cambria" panose="02040503050406030204" pitchFamily="18" charset="0"/>
                <a:ea typeface="Cambria" panose="02040503050406030204" pitchFamily="18" charset="0"/>
              </a:rPr>
              <a:t>Аналогично этому область, имеющая другую штриховку, представляет промежуток времени, когда оба процесса удерживают плоттер, и попадание в эту область также невозможно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9370614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43983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система войдет в прямоугольник, ограниченный по бокам прямыми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а сверху и снизу прямыми I</a:t>
            </a:r>
            <a:r>
              <a:rPr lang="ru-RU" baseline="-25000" dirty="0">
                <a:latin typeface="Cambria" panose="02040503050406030204" pitchFamily="18" charset="0"/>
                <a:ea typeface="Cambria" panose="02040503050406030204" pitchFamily="18" charset="0"/>
              </a:rPr>
              <a:t>5</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то она в конце концов доберется до пересечения линий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и возникнет взаимоблокировка</a:t>
            </a:r>
          </a:p>
          <a:p>
            <a:pPr marL="0" indent="0">
              <a:buNone/>
            </a:pPr>
            <a:r>
              <a:rPr lang="ru-RU" dirty="0">
                <a:latin typeface="Cambria" panose="02040503050406030204" pitchFamily="18" charset="0"/>
                <a:ea typeface="Cambria" panose="02040503050406030204" pitchFamily="18" charset="0"/>
              </a:rPr>
              <a:t>В этот момент процесс A запрашивает плоттер, а процесс B запрашивает принтер, но оба ресурса будут уже выделены. Получается, что небезопасным является весь прямоугольник и в него входить нельзя</a:t>
            </a:r>
          </a:p>
          <a:p>
            <a:pPr marL="0" indent="0">
              <a:buNone/>
            </a:pPr>
            <a:r>
              <a:rPr lang="ru-RU" dirty="0">
                <a:latin typeface="Cambria" panose="02040503050406030204" pitchFamily="18" charset="0"/>
                <a:ea typeface="Cambria" panose="02040503050406030204" pitchFamily="18" charset="0"/>
              </a:rPr>
              <a:t>В точке t единственным безопасным действием будет работа процесса до тех пор, пока он не дойдет до команды I</a:t>
            </a:r>
            <a:r>
              <a:rPr lang="ru-RU" baseline="-25000" dirty="0">
                <a:latin typeface="Cambria" panose="02040503050406030204" pitchFamily="18" charset="0"/>
                <a:ea typeface="Cambria" panose="02040503050406030204" pitchFamily="18" charset="0"/>
              </a:rPr>
              <a:t>4</a:t>
            </a:r>
            <a:r>
              <a:rPr lang="ru-RU" dirty="0">
                <a:latin typeface="Cambria" panose="02040503050406030204" pitchFamily="18" charset="0"/>
                <a:ea typeface="Cambria" panose="02040503050406030204" pitchFamily="18" charset="0"/>
              </a:rPr>
              <a:t>. После нее для того, чтобы добраться до точки u, подойдет любая траектория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9464852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35272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Важный для понимания момент заключается в том, что в точке t процесс B запрашивает ресурс. Система должна принять решение, предоставлять его или нет</a:t>
            </a:r>
          </a:p>
          <a:p>
            <a:pPr marL="0" indent="0">
              <a:buNone/>
            </a:pPr>
            <a:r>
              <a:rPr lang="ru-RU" dirty="0">
                <a:latin typeface="Cambria" panose="02040503050406030204" pitchFamily="18" charset="0"/>
                <a:ea typeface="Cambria" panose="02040503050406030204" pitchFamily="18" charset="0"/>
              </a:rPr>
              <a:t>Если ресурс предоставляется, система попадает в небезопасную область и со временем входит в состояние взаимоблокировки</a:t>
            </a:r>
          </a:p>
          <a:p>
            <a:pPr marL="0" indent="0">
              <a:buNone/>
            </a:pPr>
            <a:r>
              <a:rPr lang="ru-RU" dirty="0">
                <a:latin typeface="Cambria" panose="02040503050406030204" pitchFamily="18" charset="0"/>
                <a:ea typeface="Cambria" panose="02040503050406030204" pitchFamily="18" charset="0"/>
              </a:rPr>
              <a:t>Чтобы предупредить взаимоблокировку, нужно приостановить процесс B до тех пор, пока процесс A не запросит и не высвободит плоттер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77564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70646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дальнейшем рассмотрении алгоритмов уклонения от взаимоблокировок используется информация, представленная ранее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слайде 51</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любой заданный момент времени существует текущее состояние, содержащее E, A, C и R. Состояние считается </a:t>
            </a:r>
            <a:r>
              <a:rPr lang="ru-RU" b="1" dirty="0">
                <a:latin typeface="Cambria" panose="02040503050406030204" pitchFamily="18" charset="0"/>
                <a:ea typeface="Cambria" panose="02040503050406030204" pitchFamily="18" charset="0"/>
              </a:rPr>
              <a:t>безопасным</a:t>
            </a:r>
            <a:r>
              <a:rPr lang="ru-RU" dirty="0">
                <a:latin typeface="Cambria" panose="02040503050406030204" pitchFamily="18" charset="0"/>
                <a:ea typeface="Cambria" panose="02040503050406030204" pitchFamily="18" charset="0"/>
              </a:rPr>
              <a:t>, если существует какой-то порядок планирования, при котором каждый процесс может доработать до конца, даже если все процессы внезапно и срочно запросят максимальное количество ресурсов</a:t>
            </a:r>
          </a:p>
          <a:p>
            <a:pPr marL="0" indent="0">
              <a:buNone/>
            </a:pPr>
            <a:r>
              <a:rPr lang="ru-RU" dirty="0">
                <a:latin typeface="Cambria" panose="02040503050406030204" pitchFamily="18" charset="0"/>
                <a:ea typeface="Cambria" panose="02040503050406030204" pitchFamily="18" charset="0"/>
              </a:rPr>
              <a:t>Это положение проще всего проиллюстрировать с помощью примера, в котором используется один ресурс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6939592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687324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543050B-1163-AA6C-EB6E-774EAD157543}"/>
              </a:ext>
            </a:extLst>
          </p:cNvPr>
          <p:cNvPicPr>
            <a:picLocks noGrp="1" noChangeAspect="1"/>
          </p:cNvPicPr>
          <p:nvPr>
            <p:ph idx="1"/>
          </p:nvPr>
        </p:nvPicPr>
        <p:blipFill>
          <a:blip r:embed="rId2"/>
          <a:stretch>
            <a:fillRect/>
          </a:stretch>
        </p:blipFill>
        <p:spPr>
          <a:xfrm>
            <a:off x="858837" y="2305147"/>
            <a:ext cx="10474325" cy="3213414"/>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703976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986333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таблице (а) показано состояние, в котором процесс A удерживает 3 экземпляра ресурса, но в конечном счете может затребовать 9 экземпляров</a:t>
            </a:r>
          </a:p>
          <a:p>
            <a:pPr marL="0" indent="0">
              <a:buNone/>
            </a:pPr>
            <a:r>
              <a:rPr lang="ru-RU" dirty="0">
                <a:latin typeface="Cambria" panose="02040503050406030204" pitchFamily="18" charset="0"/>
                <a:ea typeface="Cambria" panose="02040503050406030204" pitchFamily="18" charset="0"/>
              </a:rPr>
              <a:t>Процесс B в этот момент удерживает 2 экземпляра, но позже может затребовать в общей сложности еще 4</a:t>
            </a:r>
          </a:p>
          <a:p>
            <a:pPr marL="0" indent="0">
              <a:buNone/>
            </a:pPr>
            <a:r>
              <a:rPr lang="ru-RU" dirty="0">
                <a:latin typeface="Cambria" panose="02040503050406030204" pitchFamily="18" charset="0"/>
                <a:ea typeface="Cambria" panose="02040503050406030204" pitchFamily="18" charset="0"/>
              </a:rPr>
              <a:t>Процесс C также удерживает 2 экземпляра, но может затребовать еще 5</a:t>
            </a:r>
          </a:p>
          <a:p>
            <a:pPr marL="0" indent="0">
              <a:buNone/>
            </a:pPr>
            <a:r>
              <a:rPr lang="ru-RU" dirty="0">
                <a:latin typeface="Cambria" panose="02040503050406030204" pitchFamily="18" charset="0"/>
                <a:ea typeface="Cambria" panose="02040503050406030204" pitchFamily="18" charset="0"/>
              </a:rPr>
              <a:t>В системе есть всего 10 экземпляров данного ресурса, 7 из которых уже распределены, а 3 пока свободны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052010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Состояние (а) является безопасным, потому что существует такая последовательность предоставления ресурсов, которая позволяет завершиться всем процессам</a:t>
            </a:r>
          </a:p>
          <a:p>
            <a:pPr marL="0" indent="0">
              <a:buNone/>
            </a:pPr>
            <a:r>
              <a:rPr lang="ru-RU" dirty="0">
                <a:latin typeface="Cambria" panose="02040503050406030204" pitchFamily="18" charset="0"/>
                <a:ea typeface="Cambria" panose="02040503050406030204" pitchFamily="18" charset="0"/>
              </a:rPr>
              <a:t>А именно – планировщик может просто запустить в работу только процесс B на то время, пока он запросит и получит 2 дополнительных экземпляра ресурса, что приведет к состоянию (б). Когда процесс B завершит свою работу, мы получим состояние (в). Затем планировщик может запустить процесс C, что со временем приведет нас к ситуации (г). По завершении работы процесса C мы получим ситуацию (д)</a:t>
            </a:r>
          </a:p>
          <a:p>
            <a:pPr marL="0" indent="0">
              <a:buNone/>
            </a:pPr>
            <a:r>
              <a:rPr lang="ru-RU" dirty="0">
                <a:latin typeface="Cambria" panose="02040503050406030204" pitchFamily="18" charset="0"/>
                <a:ea typeface="Cambria" panose="02040503050406030204" pitchFamily="18" charset="0"/>
              </a:rPr>
              <a:t>Теперь процесс A наконец-то может получить необходимые ему 6 экземпляров ресурса и также успешно завершить свою работу. </a:t>
            </a:r>
          </a:p>
          <a:p>
            <a:pPr marL="0" indent="0">
              <a:buNone/>
            </a:pPr>
            <a:r>
              <a:rPr lang="ru-RU" dirty="0">
                <a:latin typeface="Cambria" panose="02040503050406030204" pitchFamily="18" charset="0"/>
                <a:ea typeface="Cambria" panose="02040503050406030204" pitchFamily="18" charset="0"/>
              </a:rPr>
              <a:t>Таким образом, состояние (а) является безопасным, поскольку система может избежать взаимоблокировки с помощью тщательного планирования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037023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предположим, что исходное состояние системы (а) остаётся таким же, но в данный момент процесс A запрашивает и получает еще один ресурс и система переходит в состояние (б). Сможем ли мы найти последовательность, которая гарантирует безопасную работу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530122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784829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190989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DA9668E-9989-C493-AAD8-F7682435A110}"/>
              </a:ext>
            </a:extLst>
          </p:cNvPr>
          <p:cNvPicPr>
            <a:picLocks noChangeAspect="1"/>
          </p:cNvPicPr>
          <p:nvPr/>
        </p:nvPicPr>
        <p:blipFill>
          <a:blip r:embed="rId2"/>
          <a:stretch>
            <a:fillRect/>
          </a:stretch>
        </p:blipFill>
        <p:spPr>
          <a:xfrm>
            <a:off x="1385230" y="2238923"/>
            <a:ext cx="9421540" cy="3524742"/>
          </a:xfrm>
          <a:prstGeom prst="rect">
            <a:avLst/>
          </a:prstGeom>
        </p:spPr>
      </p:pic>
    </p:spTree>
    <p:extLst>
      <p:ext uri="{BB962C8B-B14F-4D97-AF65-F5344CB8AC3E}">
        <p14:creationId xmlns:p14="http://schemas.microsoft.com/office/powerpoint/2010/main" val="18474686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Планировщик может дать поработать процессу B до того момента, пока он не запросит все свои ресурсы (в)</a:t>
            </a:r>
          </a:p>
          <a:p>
            <a:pPr marL="0" indent="0">
              <a:buNone/>
            </a:pPr>
            <a:r>
              <a:rPr lang="ru-RU" dirty="0">
                <a:latin typeface="Cambria" panose="02040503050406030204" pitchFamily="18" charset="0"/>
                <a:ea typeface="Cambria" panose="02040503050406030204" pitchFamily="18" charset="0"/>
              </a:rPr>
              <a:t>В итоге процесс B успешно завершается, и мы получаем ситуацию (г). В этом месте мы застряли: в системе осталось только 4 свободных экземпляра ресурса, а каждому из активных процессов необходимо по 5 экземпляров</a:t>
            </a:r>
          </a:p>
          <a:p>
            <a:pPr marL="0" indent="0">
              <a:buNone/>
            </a:pPr>
            <a:r>
              <a:rPr lang="ru-RU" dirty="0">
                <a:latin typeface="Cambria" panose="02040503050406030204" pitchFamily="18" charset="0"/>
                <a:ea typeface="Cambria" panose="02040503050406030204" pitchFamily="18" charset="0"/>
              </a:rPr>
              <a:t>И не существует последовательности действий, гарантирующей успешное завершение всех процессов. Следовательно, решение о предоставлении ресурса, которое перевело систему из состояния (а) в состояние (б), перевело систему из </a:t>
            </a:r>
            <a:r>
              <a:rPr lang="ru-RU" b="1" dirty="0">
                <a:latin typeface="Cambria" panose="02040503050406030204" pitchFamily="18" charset="0"/>
                <a:ea typeface="Cambria" panose="02040503050406030204" pitchFamily="18" charset="0"/>
              </a:rPr>
              <a:t>безопасного</a:t>
            </a:r>
            <a:r>
              <a:rPr lang="ru-RU" dirty="0">
                <a:latin typeface="Cambria" panose="02040503050406030204" pitchFamily="18" charset="0"/>
                <a:ea typeface="Cambria" panose="02040503050406030204" pitchFamily="18" charset="0"/>
              </a:rPr>
              <a:t> в </a:t>
            </a:r>
            <a:r>
              <a:rPr lang="ru-RU" b="1" dirty="0">
                <a:latin typeface="Cambria" panose="02040503050406030204" pitchFamily="18" charset="0"/>
                <a:ea typeface="Cambria" panose="02040503050406030204" pitchFamily="18" charset="0"/>
              </a:rPr>
              <a:t>небезопасное</a:t>
            </a:r>
            <a:r>
              <a:rPr lang="ru-RU" dirty="0">
                <a:latin typeface="Cambria" panose="02040503050406030204" pitchFamily="18" charset="0"/>
                <a:ea typeface="Cambria" panose="02040503050406030204" pitchFamily="18" charset="0"/>
              </a:rPr>
              <a:t> состояние</a:t>
            </a:r>
          </a:p>
          <a:p>
            <a:pPr marL="0" indent="0">
              <a:buNone/>
            </a:pPr>
            <a:r>
              <a:rPr lang="ru-RU" dirty="0">
                <a:latin typeface="Cambria" panose="02040503050406030204" pitchFamily="18" charset="0"/>
                <a:ea typeface="Cambria" panose="02040503050406030204" pitchFamily="18" charset="0"/>
              </a:rPr>
              <a:t>Если из состояния (б), запустить процесс A или C, то ни один из них не заработает. Возвращаясь назад, нужно сказать, что запрос процесса A не должен был удовлетворяться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8422148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099635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Следует отметить, что небезопасное состояние само по себе не является состоянием взаимоблокировки. Начиная с состояния (б), система может поработать некоторое время</a:t>
            </a:r>
          </a:p>
          <a:p>
            <a:pPr marL="0" indent="0">
              <a:buNone/>
            </a:pPr>
            <a:r>
              <a:rPr lang="ru-RU" dirty="0">
                <a:latin typeface="Cambria" panose="02040503050406030204" pitchFamily="18" charset="0"/>
                <a:ea typeface="Cambria" panose="02040503050406030204" pitchFamily="18" charset="0"/>
              </a:rPr>
              <a:t>Фактически может даже успешно завершиться работа одного из процессов. Кроме того, процесс A может высвободить один ресурс еще до запроса дополнительного ресурса, позволяя успешно завершить работу процессу C, а системе в целом избежать взаимоблокировки</a:t>
            </a:r>
          </a:p>
          <a:p>
            <a:pPr marL="0" indent="0">
              <a:buNone/>
            </a:pPr>
            <a:r>
              <a:rPr lang="ru-RU" dirty="0">
                <a:latin typeface="Cambria" panose="02040503050406030204" pitchFamily="18" charset="0"/>
                <a:ea typeface="Cambria" panose="02040503050406030204" pitchFamily="18" charset="0"/>
              </a:rPr>
              <a:t>Таким образом, разница между безопасным и небезопасным состоянием заключается в том, что в безопасном состоянии система может гарантировать, что все процессы закончат свою работу, а в небезопасном состоянии такой гарантии дать нельзя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013742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34483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Алгоритм планирования, позволяющий избегать взаимоблокировок, был разработан </a:t>
            </a:r>
            <a:r>
              <a:rPr lang="ru-RU" dirty="0" err="1">
                <a:latin typeface="Cambria" panose="02040503050406030204" pitchFamily="18" charset="0"/>
                <a:ea typeface="Cambria" panose="02040503050406030204" pitchFamily="18" charset="0"/>
              </a:rPr>
              <a:t>Дейкстрой</a:t>
            </a:r>
            <a:r>
              <a:rPr lang="ru-RU" dirty="0">
                <a:latin typeface="Cambria" panose="02040503050406030204" pitchFamily="18" charset="0"/>
                <a:ea typeface="Cambria" panose="02040503050406030204" pitchFamily="18" charset="0"/>
              </a:rPr>
              <a:t> и известен как </a:t>
            </a:r>
            <a:r>
              <a:rPr lang="ru-RU" b="1" dirty="0">
                <a:latin typeface="Cambria" panose="02040503050406030204" pitchFamily="18" charset="0"/>
                <a:ea typeface="Cambria" panose="02040503050406030204" pitchFamily="18" charset="0"/>
              </a:rPr>
              <a:t>алгоритм банкира</a:t>
            </a:r>
          </a:p>
          <a:p>
            <a:pPr marL="0" indent="0">
              <a:buNone/>
            </a:pPr>
            <a:r>
              <a:rPr lang="ru-RU" dirty="0">
                <a:latin typeface="Cambria" panose="02040503050406030204" pitchFamily="18" charset="0"/>
                <a:ea typeface="Cambria" panose="02040503050406030204" pitchFamily="18" charset="0"/>
              </a:rPr>
              <a:t>Он представляет собой расширение алгоритма который мы рассматривали для обнаружения  взаимоблокировки при использовании одного ресурса каждого типа</a:t>
            </a:r>
          </a:p>
          <a:p>
            <a:pPr marL="0" indent="0">
              <a:buNone/>
            </a:pPr>
            <a:r>
              <a:rPr lang="ru-RU" dirty="0">
                <a:latin typeface="Cambria" panose="02040503050406030204" pitchFamily="18" charset="0"/>
                <a:ea typeface="Cambria" panose="02040503050406030204" pitchFamily="18" charset="0"/>
              </a:rPr>
              <a:t>Модель алгоритма основана на примере банкира маленького городка, имеющего дело с группой клиентов, которым он выдал ряд кредитов. (Много лет назад банки не давали кредиты, пока не убеждались в том, что они могут быть возвращены)</a:t>
            </a:r>
          </a:p>
          <a:p>
            <a:pPr marL="0" indent="0">
              <a:buNone/>
            </a:pPr>
            <a:r>
              <a:rPr lang="ru-RU" dirty="0">
                <a:latin typeface="Cambria" panose="02040503050406030204" pitchFamily="18" charset="0"/>
                <a:ea typeface="Cambria" panose="02040503050406030204" pitchFamily="18" charset="0"/>
              </a:rPr>
              <a:t>Алгоритм проверяет, ведет ли выполнение каждого запроса к небезопасному состоянию. Если да, то запрос отклоняется. Если удовлетворение запроса к ресурсу приводит к безопасному состоянию, ресурс предоставляется процессу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060109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645001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Допустим есть четыре клиента: A, B, C и D, каждый из которых получил определенное количество единиц кредита (например, 1 единица равна 1000 долларов)</a:t>
            </a:r>
          </a:p>
          <a:p>
            <a:pPr marL="0" indent="0">
              <a:buNone/>
            </a:pPr>
            <a:r>
              <a:rPr lang="ru-RU" dirty="0">
                <a:latin typeface="Cambria" panose="02040503050406030204" pitchFamily="18" charset="0"/>
                <a:ea typeface="Cambria" panose="02040503050406030204" pitchFamily="18" charset="0"/>
              </a:rPr>
              <a:t>Банкир знает, что не всем клиентам тотчас же понадобится максимальная сумма их кредита, поэтому для обслуживания их потребностей он зарезервировал только 10 единиц, а не все 22, которые нужны клиентам</a:t>
            </a:r>
          </a:p>
          <a:p>
            <a:pPr marL="0" indent="0">
              <a:buNone/>
            </a:pPr>
            <a:r>
              <a:rPr lang="ru-RU" dirty="0">
                <a:latin typeface="Cambria" panose="02040503050406030204" pitchFamily="18" charset="0"/>
                <a:ea typeface="Cambria" panose="02040503050406030204" pitchFamily="18" charset="0"/>
              </a:rPr>
              <a:t>Чтобы провести аналогию с компьютерной системой, будем считать, что клиенты – это процессы, единицы – накопители на магнитной ленте, а банкир – операционная система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909432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519833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07988A-8E7A-E220-5233-D664568C7E95}"/>
              </a:ext>
            </a:extLst>
          </p:cNvPr>
          <p:cNvPicPr>
            <a:picLocks noGrp="1" noChangeAspect="1"/>
          </p:cNvPicPr>
          <p:nvPr>
            <p:ph idx="1"/>
          </p:nvPr>
        </p:nvPicPr>
        <p:blipFill>
          <a:blip r:embed="rId2"/>
          <a:stretch>
            <a:fillRect/>
          </a:stretch>
        </p:blipFill>
        <p:spPr>
          <a:xfrm>
            <a:off x="1585283" y="1913029"/>
            <a:ext cx="9021434" cy="4143953"/>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306158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795998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Клиенты занимаются своими делами, время от времени запрашивая ссуды (то есть запрашивая ресурсы). В какой-то определенный момент возникает ситуация (б)</a:t>
            </a:r>
          </a:p>
          <a:p>
            <a:pPr marL="0" indent="0">
              <a:buNone/>
            </a:pPr>
            <a:r>
              <a:rPr lang="ru-RU" dirty="0">
                <a:latin typeface="Cambria" panose="02040503050406030204" pitchFamily="18" charset="0"/>
                <a:ea typeface="Cambria" panose="02040503050406030204" pitchFamily="18" charset="0"/>
              </a:rPr>
              <a:t>Это состояние не представляет опасности, поскольку при оставшихся двух единицах банкир может отложить выполнение любых запросов, за исключением запроса клиента C, позволяя C завершить свои дела и высвободить все четыре своих ресурса</a:t>
            </a:r>
          </a:p>
          <a:p>
            <a:pPr marL="0" indent="0">
              <a:buNone/>
            </a:pPr>
            <a:r>
              <a:rPr lang="ru-RU" dirty="0">
                <a:latin typeface="Cambria" panose="02040503050406030204" pitchFamily="18" charset="0"/>
                <a:ea typeface="Cambria" panose="02040503050406030204" pitchFamily="18" charset="0"/>
              </a:rPr>
              <a:t>Имея в своем распоряжении четыре единицы ресурса, банкир может позволить получить необходимые единицы либо D, либо B и т. 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908487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105633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что получится, если запрос от B одной дополнительной единицы будет удовлетворен в ситуации (б):</a:t>
            </a:r>
          </a:p>
          <a:p>
            <a:pPr marL="0" indent="0">
              <a:buNone/>
            </a:pPr>
            <a:r>
              <a:rPr lang="ru-RU" dirty="0">
                <a:latin typeface="Cambria" panose="02040503050406030204" pitchFamily="18" charset="0"/>
                <a:ea typeface="Cambria" panose="02040503050406030204" pitchFamily="18" charset="0"/>
              </a:rPr>
              <a:t>Мы получим небезопасную ситуацию (в)</a:t>
            </a:r>
          </a:p>
          <a:p>
            <a:pPr marL="0" indent="0">
              <a:buNone/>
            </a:pPr>
            <a:r>
              <a:rPr lang="ru-RU" dirty="0">
                <a:latin typeface="Cambria" panose="02040503050406030204" pitchFamily="18" charset="0"/>
                <a:ea typeface="Cambria" panose="02040503050406030204" pitchFamily="18" charset="0"/>
              </a:rPr>
              <a:t>Если все клиенты внезапно запросят максимальные ссуды, банкир не сможет удовлетворить никого из них и мы получим взаимоблокировку</a:t>
            </a:r>
          </a:p>
          <a:p>
            <a:pPr marL="0" indent="0">
              <a:buNone/>
            </a:pPr>
            <a:r>
              <a:rPr lang="ru-RU" dirty="0">
                <a:latin typeface="Cambria" panose="02040503050406030204" pitchFamily="18" charset="0"/>
                <a:ea typeface="Cambria" panose="02040503050406030204" pitchFamily="18" charset="0"/>
              </a:rPr>
              <a:t>Небезопасное состояние необязательно приводит к взаимоблокировке, поскольку клиенту может и не понадобиться максимальная сумма кредита, но банкир не может рассчитывать на это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9012044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852830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 банкира рассматривает каждый запрос по мере поступления и проверяет, приведет ли его удовлетворение к безопасному состоянию: если да, то запрос удовлетворяется, в противном случае запрос откладывается до лучших времен</a:t>
            </a:r>
          </a:p>
          <a:p>
            <a:pPr marL="0" indent="0">
              <a:buNone/>
            </a:pPr>
            <a:r>
              <a:rPr lang="ru-RU" dirty="0">
                <a:latin typeface="Cambria" panose="02040503050406030204" pitchFamily="18" charset="0"/>
                <a:ea typeface="Cambria" panose="02040503050406030204" pitchFamily="18" charset="0"/>
              </a:rPr>
              <a:t>Чтобы понять, является ли состояние безопасным, банкир проверяет, может ли он предоставить достаточно ресурсов для удовлетворения запросов какого-нибудь клиента</a:t>
            </a:r>
          </a:p>
          <a:p>
            <a:pPr marL="0" indent="0">
              <a:buNone/>
            </a:pPr>
            <a:r>
              <a:rPr lang="ru-RU" dirty="0">
                <a:latin typeface="Cambria" panose="02040503050406030204" pitchFamily="18" charset="0"/>
                <a:ea typeface="Cambria" panose="02040503050406030204" pitchFamily="18" charset="0"/>
              </a:rPr>
              <a:t>Если да, то эти ссуды считаются возвращенными, после чего проверяется следующий ближайший к пределу займа клиент и т. д. Если в конечном счете все ссуды могут быть погашены, состояние является безопасным и исходный запрос можно удовлетворить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3580069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356024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все-таки можно избежать взаимоблокировок в реальных системах? </a:t>
            </a:r>
          </a:p>
          <a:p>
            <a:pPr marL="0" indent="0">
              <a:buNone/>
            </a:pPr>
            <a:r>
              <a:rPr lang="ru-RU" dirty="0">
                <a:latin typeface="Cambria" panose="02040503050406030204" pitchFamily="18" charset="0"/>
                <a:ea typeface="Cambria" panose="02040503050406030204" pitchFamily="18" charset="0"/>
              </a:rPr>
              <a:t>Ведь мы уже убедились в том, что уклониться от них по сути невозможно, поскольку для этого требуется информация о будущих запросах, о которых ничего не известно</a:t>
            </a:r>
          </a:p>
          <a:p>
            <a:pPr marL="0" indent="0">
              <a:buNone/>
            </a:pPr>
            <a:r>
              <a:rPr lang="ru-RU" dirty="0">
                <a:latin typeface="Cambria" panose="02040503050406030204" pitchFamily="18" charset="0"/>
                <a:ea typeface="Cambria" panose="02040503050406030204" pitchFamily="18" charset="0"/>
              </a:rPr>
              <a:t>Чтобы ответить на этот вопрос, вернемся назад к четырем условиям, сформулированным </a:t>
            </a:r>
            <a:r>
              <a:rPr lang="ru-RU" dirty="0" err="1">
                <a:latin typeface="Cambria" panose="02040503050406030204" pitchFamily="18" charset="0"/>
                <a:ea typeface="Cambria" panose="02040503050406030204" pitchFamily="18" charset="0"/>
              </a:rPr>
              <a:t>Коффманом</a:t>
            </a:r>
            <a:r>
              <a:rPr lang="ru-RU" dirty="0">
                <a:latin typeface="Cambria" panose="02040503050406030204" pitchFamily="18" charset="0"/>
                <a:ea typeface="Cambria" panose="02040503050406030204" pitchFamily="18" charset="0"/>
              </a:rPr>
              <a:t> и посмотрим, смогут ли они дать нам ключ к решению проблемы</a:t>
            </a:r>
          </a:p>
          <a:p>
            <a:pPr marL="0" indent="0">
              <a:buNone/>
            </a:pPr>
            <a:r>
              <a:rPr lang="ru-RU" dirty="0">
                <a:latin typeface="Cambria" panose="02040503050406030204" pitchFamily="18" charset="0"/>
                <a:ea typeface="Cambria" panose="02040503050406030204" pitchFamily="18" charset="0"/>
              </a:rPr>
              <a:t>Если мы сможем гарантировать, что хотя бы одно из этих условий никогда не будет выполнено, то взаимоблокировки станут структурно невозможными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312893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Сначала предпримем атаку на условие взаимного исключения. Если в системе нет ресурсов, отданных в единоличное пользование одному процессу, мы никогда не попадем в ситуацию взаимоблокировки</a:t>
            </a:r>
          </a:p>
          <a:p>
            <a:pPr marL="0" indent="0">
              <a:buNone/>
            </a:pPr>
            <a:r>
              <a:rPr lang="ru-RU" dirty="0">
                <a:latin typeface="Cambria" panose="02040503050406030204" pitchFamily="18" charset="0"/>
                <a:ea typeface="Cambria" panose="02040503050406030204" pitchFamily="18" charset="0"/>
              </a:rPr>
              <a:t>Данные проще всего сделать доступными только для чтения, чтобы процессы могли их использовать одновременно. Но также понятно, что если позволить двум процессам одновременно печатать данные на принтере, то это приведет к хаосу. За счет использования очереди на печать (спулинга) выдавать свои выходные данные могут сразу несколько процессов</a:t>
            </a:r>
          </a:p>
          <a:p>
            <a:pPr marL="0" indent="0">
              <a:buNone/>
            </a:pPr>
            <a:r>
              <a:rPr lang="ru-RU" dirty="0">
                <a:latin typeface="Cambria" panose="02040503050406030204" pitchFamily="18" charset="0"/>
                <a:ea typeface="Cambria" panose="02040503050406030204" pitchFamily="18" charset="0"/>
              </a:rPr>
              <a:t>В этой модели единственным процессом, который фактически запрашивает физический принтер, является демон принтера. Так как демон не запрашивает никакие другие ресурсы, взаимоблокировки, связанные с принтером, можно исключить</a:t>
            </a:r>
          </a:p>
          <a:p>
            <a:pPr marL="0" indent="0">
              <a:buNone/>
            </a:pPr>
            <a:r>
              <a:rPr lang="ru-RU" dirty="0">
                <a:latin typeface="Cambria" panose="02040503050406030204" pitchFamily="18" charset="0"/>
                <a:ea typeface="Cambria" panose="02040503050406030204" pitchFamily="18" charset="0"/>
              </a:rPr>
              <a:t>Если демон запрограммирован на начало печати еще до того, как все выходные данные попали в очередь на печать, принтер может простоять впустую, если выводящий данные процесс решит подождать несколько часов после первого пакета выходных данных</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1165500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взаимного исключения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977510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Поэтому демоны обычно программируются так, чтобы начинать печать, только если доступен полный файл выходных данных. Но само по себе это решение может привести к взаимоблокировке</a:t>
            </a:r>
          </a:p>
          <a:p>
            <a:pPr marL="0" indent="0">
              <a:buNone/>
            </a:pPr>
            <a:r>
              <a:rPr lang="ru-RU" dirty="0">
                <a:latin typeface="Cambria" panose="02040503050406030204" pitchFamily="18" charset="0"/>
                <a:ea typeface="Cambria" panose="02040503050406030204" pitchFamily="18" charset="0"/>
              </a:rPr>
              <a:t>Что получится, если каждый из двух процессов заполнит по половине доступного пространства, выделенного на диске под очередь на печать своими выходными данными, и ни один из них не сформирует свои полные выходные данные?</a:t>
            </a:r>
          </a:p>
          <a:p>
            <a:pPr marL="0" indent="0">
              <a:buNone/>
            </a:pPr>
            <a:r>
              <a:rPr lang="ru-RU" dirty="0">
                <a:latin typeface="Cambria" panose="02040503050406030204" pitchFamily="18" charset="0"/>
                <a:ea typeface="Cambria" panose="02040503050406030204" pitchFamily="18" charset="0"/>
              </a:rPr>
              <a:t>В таком случае мы получим два процесса, завершивших формирование только части, но не всего объема своих выходных данных, и не имеющих возможности продолжить свою работу. Ни один из процессов не сможет когда-либо завершиться, и мы получим взаимоблокировку, связанную с выводом данных на диск</a:t>
            </a:r>
          </a:p>
          <a:p>
            <a:pPr marL="0" indent="0">
              <a:buNone/>
            </a:pPr>
            <a:r>
              <a:rPr lang="ru-RU" dirty="0">
                <a:latin typeface="Cambria" panose="02040503050406030204" pitchFamily="18" charset="0"/>
                <a:ea typeface="Cambria" panose="02040503050406030204" pitchFamily="18" charset="0"/>
              </a:rPr>
              <a:t>И все же здесь проглядывается намек на идею, которая довольно часто применяется на практике. Следует избегать выделения ресурса, если в нем нет насущной потребности, и постараться, чтобы как можно меньше процессов могло фактически требовать получения этого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взаимного исключения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770156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Второе из условий, сформулированных </a:t>
            </a:r>
            <a:r>
              <a:rPr lang="ru-RU" dirty="0" err="1">
                <a:latin typeface="Cambria" panose="02040503050406030204" pitchFamily="18" charset="0"/>
                <a:ea typeface="Cambria" panose="02040503050406030204" pitchFamily="18" charset="0"/>
              </a:rPr>
              <a:t>Коффманом</a:t>
            </a:r>
            <a:r>
              <a:rPr lang="ru-RU" dirty="0">
                <a:latin typeface="Cambria" panose="02040503050406030204" pitchFamily="18" charset="0"/>
                <a:ea typeface="Cambria" panose="02040503050406030204" pitchFamily="18" charset="0"/>
              </a:rPr>
              <a:t>, выглядит несколько более обещающим</a:t>
            </a:r>
          </a:p>
          <a:p>
            <a:pPr marL="0" indent="0">
              <a:buNone/>
            </a:pPr>
            <a:r>
              <a:rPr lang="ru-RU" dirty="0">
                <a:latin typeface="Cambria" panose="02040503050406030204" pitchFamily="18" charset="0"/>
                <a:ea typeface="Cambria" panose="02040503050406030204" pitchFamily="18" charset="0"/>
              </a:rPr>
              <a:t>Если можно будет помешать процессам, удерживающим ресурсы, войти в фазу ожидания дополнительных ресурсов, то можно будет исключить и взаимоблокировку</a:t>
            </a:r>
          </a:p>
          <a:p>
            <a:pPr marL="0" indent="0">
              <a:buNone/>
            </a:pPr>
            <a:r>
              <a:rPr lang="ru-RU" dirty="0">
                <a:latin typeface="Cambria" panose="02040503050406030204" pitchFamily="18" charset="0"/>
                <a:ea typeface="Cambria" panose="02040503050406030204" pitchFamily="18" charset="0"/>
              </a:rPr>
              <a:t>Один из способов достижения этой цели заключается в том, чтобы заставить все процессы запрашивать все свои ресурсы до начала выполнения своей работы</a:t>
            </a:r>
          </a:p>
          <a:p>
            <a:pPr marL="0" indent="0">
              <a:buNone/>
            </a:pPr>
            <a:r>
              <a:rPr lang="ru-RU" dirty="0">
                <a:latin typeface="Cambria" panose="02040503050406030204" pitchFamily="18" charset="0"/>
                <a:ea typeface="Cambria" panose="02040503050406030204" pitchFamily="18" charset="0"/>
              </a:rPr>
              <a:t>Если все доступно, то процессу будет выделено все, что ему требуется, и он сможет доработать до завершения. Если один или несколько ресурсов заняты, ничего не будет выделяться и процесс будет просто ждать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345855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60779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Проблема, непосредственно связанная с этим подходом, состоит в том, что многие процессы не знают, сколько ресурсов им понадобится, пока не начнут работу. Фактически если бы они об этом знали, то можно было бы использовать и алгоритм банкира</a:t>
            </a:r>
          </a:p>
          <a:p>
            <a:pPr marL="0" indent="0">
              <a:buNone/>
            </a:pPr>
            <a:r>
              <a:rPr lang="ru-RU" dirty="0">
                <a:latin typeface="Cambria" panose="02040503050406030204" pitchFamily="18" charset="0"/>
                <a:ea typeface="Cambria" panose="02040503050406030204" pitchFamily="18" charset="0"/>
              </a:rPr>
              <a:t>Вторая проблема состоит в том, что при таком подходе ресурсы не будут использоваться оптимально</a:t>
            </a:r>
          </a:p>
          <a:p>
            <a:pPr marL="0" indent="0">
              <a:buNone/>
            </a:pPr>
            <a:r>
              <a:rPr lang="ru-RU" dirty="0">
                <a:latin typeface="Cambria" panose="02040503050406030204" pitchFamily="18" charset="0"/>
                <a:ea typeface="Cambria" panose="02040503050406030204" pitchFamily="18" charset="0"/>
              </a:rPr>
              <a:t>Возьмем, к примеру, процесс, считывающий данные с входной ленты, анализирующий их в течение часа, а затем записывающий выходную ленту, да еще и выводящий результаты на плоттер. Если все ресурсы должны быть запрошены заранее, то процессор на целый час займет выходной накопитель на магнитной ленте и плоттер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758145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И все-таки некоторые пакетные системы на универсальных машинах требуют, чтобы пользователи перечисляли все ресурсы в первой строке каждого задания. Затем система немедленно заранее распределяет все ресурсы и удерживает их до тех пор, пока они станут не нужны заданию (или в простейшем случае, пока выполнение задания не будет завершено)</a:t>
            </a:r>
          </a:p>
          <a:p>
            <a:pPr marL="0" indent="0">
              <a:buNone/>
            </a:pPr>
            <a:r>
              <a:rPr lang="ru-RU" dirty="0">
                <a:latin typeface="Cambria" panose="02040503050406030204" pitchFamily="18" charset="0"/>
                <a:ea typeface="Cambria" panose="02040503050406030204" pitchFamily="18" charset="0"/>
              </a:rPr>
              <a:t>Несмотря на то что этот метод обременяет программиста и расточительно расходует ресурсы, он предотвращает возникновение взаимоблокировок</a:t>
            </a:r>
          </a:p>
          <a:p>
            <a:pPr marL="0" indent="0">
              <a:buNone/>
            </a:pPr>
            <a:r>
              <a:rPr lang="ru-RU" dirty="0">
                <a:latin typeface="Cambria" panose="02040503050406030204" pitchFamily="18" charset="0"/>
                <a:ea typeface="Cambria" panose="02040503050406030204" pitchFamily="18" charset="0"/>
              </a:rPr>
              <a:t>Слегка отличающийся метод нарушения условия удержания и ожидания заключается в требовании от процесса, запрашивающего ресурс, вначале временно высвободить все ресурсы, удерживаемые им на данный момент. Затем этот процесс пытается заполучить сразу все, что ему требуется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867209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Возможна также атака и третьего условия (невыгружаемости).</a:t>
            </a:r>
          </a:p>
          <a:p>
            <a:pPr marL="0" indent="0">
              <a:buNone/>
            </a:pPr>
            <a:r>
              <a:rPr lang="ru-RU" dirty="0">
                <a:latin typeface="Cambria" panose="02040503050406030204" pitchFamily="18" charset="0"/>
                <a:ea typeface="Cambria" panose="02040503050406030204" pitchFamily="18" charset="0"/>
              </a:rPr>
              <a:t>Если процессу выделен принтер и он распечатал лишь половину своих выходных данных, то принудительно отобрать у него принтер по причине недоступности запрошенного плоттера в лучшем случае будет слишком затруднительно, а в худшем – просто невозможно</a:t>
            </a:r>
          </a:p>
          <a:p>
            <a:pPr marL="0" indent="0">
              <a:buNone/>
            </a:pPr>
            <a:r>
              <a:rPr lang="ru-RU" dirty="0">
                <a:latin typeface="Cambria" panose="02040503050406030204" pitchFamily="18" charset="0"/>
                <a:ea typeface="Cambria" panose="02040503050406030204" pitchFamily="18" charset="0"/>
              </a:rPr>
              <a:t>Тем не менее, чтобы избежать подобной ситуации, некоторые ресурсы могут быть виртуализированы. Сохранение очереди на печать на диске и предоставление возможности доступа к реальному принтеру только демону принтера исключает возникновение взаимоблокировок с участием принтера, хотя и создает одну из таких потенциальных возможностей в отношении дискового пространства. Но при наличии дисков большой емкости исчерпание дискового пространства становится маловероятным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7021497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невыгружаемости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34794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не все ресурсы могут быть виртуализированы подобным образом. К примеру, чтобы записи в базах данных или в таблицах внутри операционной системы могли использоваться, они должны быть заблокированы, и здесь закладывается потенциальная вероятность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невыгружаемости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638499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Осталось только одно условие. Циклическое ожидание можно устранить несколькими способами</a:t>
            </a:r>
          </a:p>
          <a:p>
            <a:pPr marL="0" indent="0">
              <a:buNone/>
            </a:pPr>
            <a:r>
              <a:rPr lang="ru-RU" dirty="0">
                <a:latin typeface="Cambria" panose="02040503050406030204" pitchFamily="18" charset="0"/>
                <a:ea typeface="Cambria" panose="02040503050406030204" pitchFamily="18" charset="0"/>
              </a:rPr>
              <a:t>Один из них заключается в простом выполнении правила, которое гласит, что процессу в любой момент времени дано право только на один ресурс. Если нужен второй ресурс, процесс обязан освободить первый. Но подобное ограничение неприемлемо для процесса, копирующего огромный файл с магнитной ленты на принтер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709578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030468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Другой способ, позволяющий избежать циклического ожидания, заключается в поддержке общей нумерации всех ресурсов</a:t>
            </a:r>
          </a:p>
          <a:p>
            <a:pPr marL="0" indent="0">
              <a:buNone/>
            </a:pPr>
            <a:r>
              <a:rPr lang="ru-RU" dirty="0">
                <a:latin typeface="Cambria" panose="02040503050406030204" pitchFamily="18" charset="0"/>
                <a:ea typeface="Cambria" panose="02040503050406030204" pitchFamily="18" charset="0"/>
              </a:rPr>
              <a:t>Теперь действует следующее правило: процессы могут запрашивать ресурс, когда только пожелают, но все запросы должны быть сделаны в порядке нумерации ресурсов. Процесс может запросить сначала принтер, затем накопитель на магнитной ленте, но не может сначала потребовать плоттер, а затем принтер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919F893-0BB3-3501-099D-32A533BDC09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23369" y="4854653"/>
            <a:ext cx="5949399" cy="1939115"/>
          </a:xfrm>
          <a:prstGeom prst="rect">
            <a:avLst/>
          </a:prstGeom>
        </p:spPr>
      </p:pic>
    </p:spTree>
    <p:extLst>
      <p:ext uri="{BB962C8B-B14F-4D97-AF65-F5344CB8AC3E}">
        <p14:creationId xmlns:p14="http://schemas.microsoft.com/office/powerpoint/2010/main" val="791421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Если придерживаться этого правила, то у графа распределения ресурсов никогда не будет циклов</a:t>
            </a:r>
          </a:p>
          <a:p>
            <a:pPr marL="0" indent="0">
              <a:buNone/>
            </a:pPr>
            <a:r>
              <a:rPr lang="ru-RU" dirty="0">
                <a:latin typeface="Cambria" panose="02040503050406030204" pitchFamily="18" charset="0"/>
                <a:ea typeface="Cambria" panose="02040503050406030204" pitchFamily="18" charset="0"/>
              </a:rPr>
              <a:t>Посмотрим, почему это имеет место в случае двух процессов, показанных ранее (б)</a:t>
            </a:r>
          </a:p>
          <a:p>
            <a:pPr marL="0" indent="0">
              <a:buNone/>
            </a:pPr>
            <a:r>
              <a:rPr lang="ru-RU" dirty="0">
                <a:latin typeface="Cambria" panose="02040503050406030204" pitchFamily="18" charset="0"/>
                <a:ea typeface="Cambria" panose="02040503050406030204" pitchFamily="18" charset="0"/>
              </a:rPr>
              <a:t>Взаимоблокировка может произойти, только если процесс A запросит ресурс j, а процесс B запросит ресурс i</a:t>
            </a:r>
          </a:p>
          <a:p>
            <a:pPr marL="0" indent="0">
              <a:buNone/>
            </a:pPr>
            <a:r>
              <a:rPr lang="ru-RU" dirty="0">
                <a:latin typeface="Cambria" panose="02040503050406030204" pitchFamily="18" charset="0"/>
                <a:ea typeface="Cambria" panose="02040503050406030204" pitchFamily="18" charset="0"/>
              </a:rPr>
              <a:t>Предположим, что ресурсы i и j относятся к разным типам, тогда они будут иметь и разные номера. Если i &gt; j, то процессу A не разрешается запрашивать ресурс j, потому что его номер меньше, чем номер уже имеющегося у него ресурса. Если же i &lt; j, то процесс B не может запрашивать ресурс i, потому что его номер меньше номера уже удерживаемого этим процессом ресурса</a:t>
            </a:r>
          </a:p>
          <a:p>
            <a:pPr marL="0" indent="0">
              <a:buNone/>
            </a:pPr>
            <a:r>
              <a:rPr lang="ru-RU" dirty="0">
                <a:latin typeface="Cambria" panose="02040503050406030204" pitchFamily="18" charset="0"/>
                <a:ea typeface="Cambria" panose="02040503050406030204" pitchFamily="18" charset="0"/>
              </a:rPr>
              <a:t>Так или иначе, взаимоблокировка невозможна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33084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работе более чем с двумя процессами сохраняется та же самая логика. В любой момент времени один из предоставленных ресурсов будет иметь наивысший номер</a:t>
            </a:r>
          </a:p>
          <a:p>
            <a:pPr marL="0" indent="0">
              <a:buNone/>
            </a:pPr>
            <a:r>
              <a:rPr lang="ru-RU" dirty="0">
                <a:latin typeface="Cambria" panose="02040503050406030204" pitchFamily="18" charset="0"/>
                <a:ea typeface="Cambria" panose="02040503050406030204" pitchFamily="18" charset="0"/>
              </a:rPr>
              <a:t>Процесс, использующий этот ресурс, никогда не запросит тот ресурс, который уже распределен. Он или закончит свою работу, или, в худшем случае, запросит ресурс с еще большим номером, а все такие ресурсы доступны. В итоге процесс завершит работу и высвободит свои ресурсы</a:t>
            </a:r>
          </a:p>
          <a:p>
            <a:pPr marL="0" indent="0">
              <a:buNone/>
            </a:pPr>
            <a:r>
              <a:rPr lang="ru-RU" dirty="0">
                <a:latin typeface="Cambria" panose="02040503050406030204" pitchFamily="18" charset="0"/>
                <a:ea typeface="Cambria" panose="02040503050406030204" pitchFamily="18" charset="0"/>
              </a:rPr>
              <a:t>К этому времени какой-нибудь другой процесс будет удерживать ресурс с самым большим номером и тоже сможет завершить свою работу. Короче говоря, существует сценарий, по которому все процессы завершают свою работу, поэтому никаких взаимоблокировок и не возникает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74356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При незначительном изменении этого алгоритма исключается требование приобретения ресурсов в строго возрастающем порядке и просто требуется, чтобы ни один процесс не запрашивал ресурс с меньшим номером, чем номер того ресурса, который он уже удерживает</a:t>
            </a:r>
          </a:p>
          <a:p>
            <a:pPr marL="0" indent="0">
              <a:buNone/>
            </a:pPr>
            <a:r>
              <a:rPr lang="ru-RU" dirty="0">
                <a:latin typeface="Cambria" panose="02040503050406030204" pitchFamily="18" charset="0"/>
                <a:ea typeface="Cambria" panose="02040503050406030204" pitchFamily="18" charset="0"/>
              </a:rPr>
              <a:t>Если процесс сначала запрашивает ресурсы 9 и 10, а затем высвобождает их обоих, то это во всех отношениях равнозначно новому началу работы, поэтому теперь уже незачем запрещать ему запрос ресурса 1</a:t>
            </a:r>
          </a:p>
          <a:p>
            <a:pPr marL="0" indent="0">
              <a:buNone/>
            </a:pPr>
            <a:r>
              <a:rPr lang="ru-RU" dirty="0">
                <a:latin typeface="Cambria" panose="02040503050406030204" pitchFamily="18" charset="0"/>
                <a:ea typeface="Cambria" panose="02040503050406030204" pitchFamily="18" charset="0"/>
              </a:rPr>
              <a:t>Хотя порядковая нумерация ресурсов исключает проблему взаимоблокировок, может не представиться возможности подобрать порядок, удовлетворяющий абсолютно всех. Когда ресурсы включают в себя элементы таблицы процессов, дисковое пространство очереди печати, заблокированные записи базы данных и другие абстрактные ресурсы, количество потенциальных ресурсов и различных применений может быть настолько большим, что не сможет работать никакое упорядочение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748286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Различные методы предупреждения взаимоблокировок сведены в табличку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2D4A1FA-1D77-B7E6-E9C6-377668130318}"/>
              </a:ext>
            </a:extLst>
          </p:cNvPr>
          <p:cNvPicPr>
            <a:picLocks noChangeAspect="1"/>
          </p:cNvPicPr>
          <p:nvPr/>
        </p:nvPicPr>
        <p:blipFill>
          <a:blip r:embed="rId2"/>
          <a:stretch>
            <a:fillRect/>
          </a:stretch>
        </p:blipFill>
        <p:spPr>
          <a:xfrm>
            <a:off x="1197944" y="2821927"/>
            <a:ext cx="9754961" cy="2000529"/>
          </a:xfrm>
          <a:prstGeom prst="rect">
            <a:avLst/>
          </a:prstGeom>
        </p:spPr>
      </p:pic>
    </p:spTree>
    <p:extLst>
      <p:ext uri="{BB962C8B-B14F-4D97-AF65-F5344CB8AC3E}">
        <p14:creationId xmlns:p14="http://schemas.microsoft.com/office/powerpoint/2010/main" val="256953842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5218440" y="3635620"/>
            <a:ext cx="1755121"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Тупики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9</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141659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26958</TotalTime>
  <Words>8415</Words>
  <Application>Microsoft Office PowerPoint</Application>
  <PresentationFormat>Widescreen</PresentationFormat>
  <Paragraphs>448</Paragraphs>
  <Slides>110</Slides>
  <Notes>1</Notes>
  <HiddenSlides>10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110</vt:i4>
      </vt:variant>
    </vt:vector>
  </HeadingPairs>
  <TitlesOfParts>
    <vt:vector size="117"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1156</cp:revision>
  <cp:lastPrinted>2025-11-01T06:17:20Z</cp:lastPrinted>
  <dcterms:created xsi:type="dcterms:W3CDTF">2024-09-04T11:03:42Z</dcterms:created>
  <dcterms:modified xsi:type="dcterms:W3CDTF">2025-12-28T20:51:10Z</dcterms:modified>
</cp:coreProperties>
</file>